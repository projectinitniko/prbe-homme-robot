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4"/>
    <p:sldMasterId id="2147483668" r:id="rId5"/>
    <p:sldMasterId id="2147483657" r:id="rId6"/>
  </p:sldMasterIdLst>
  <p:notesMasterIdLst>
    <p:notesMasterId r:id="rId12"/>
  </p:notesMasterIdLst>
  <p:handoutMasterIdLst>
    <p:handoutMasterId r:id="rId13"/>
  </p:handoutMasterIdLst>
  <p:sldIdLst>
    <p:sldId id="256" r:id="rId7"/>
    <p:sldId id="258" r:id="rId8"/>
    <p:sldId id="303" r:id="rId9"/>
    <p:sldId id="276" r:id="rId10"/>
    <p:sldId id="304" r:id="rId11"/>
  </p:sldIdLst>
  <p:sldSz cx="9144000" cy="5143500" type="screen16x9"/>
  <p:notesSz cx="6858000" cy="9144000"/>
  <p:embeddedFontLst>
    <p:embeddedFont>
      <p:font typeface="Source Sans Pro" panose="020B0604020202020204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Source Sans Pro Black" panose="020B0604020202020204" charset="0"/>
      <p:bold r:id="rId22"/>
      <p:boldItalic r:id="rId23"/>
    </p:embeddedFont>
    <p:embeddedFont>
      <p:font typeface="Myriad Pro Black" panose="020B0803030403020204" pitchFamily="34" charset="0"/>
      <p:bold r:id="rId24"/>
      <p:boldItalic r:id="rId2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F6"/>
    <a:srgbClr val="FFFFFF"/>
    <a:srgbClr val="132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38" autoAdjust="0"/>
    <p:restoredTop sz="97266" autoAdjust="0"/>
  </p:normalViewPr>
  <p:slideViewPr>
    <p:cSldViewPr>
      <p:cViewPr varScale="1">
        <p:scale>
          <a:sx n="211" d="100"/>
          <a:sy n="211" d="100"/>
        </p:scale>
        <p:origin x="324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324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11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Feuil1!$A$2:$A$8</c:f>
              <c:strCache>
                <c:ptCount val="7"/>
                <c:pt idx="0">
                  <c:v>aéronautique</c:v>
                </c:pt>
                <c:pt idx="1">
                  <c:v>automobile</c:v>
                </c:pt>
                <c:pt idx="2">
                  <c:v>énergie</c:v>
                </c:pt>
                <c:pt idx="3">
                  <c:v>métallurgie, fabrication de produits</c:v>
                </c:pt>
                <c:pt idx="4">
                  <c:v>ferroviaire, naval</c:v>
                </c:pt>
                <c:pt idx="5">
                  <c:v>technologie de l'information</c:v>
                </c:pt>
                <c:pt idx="6">
                  <c:v>autres industries (luxe…)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53</c:v>
                </c:pt>
                <c:pt idx="1">
                  <c:v>24</c:v>
                </c:pt>
                <c:pt idx="2">
                  <c:v>6</c:v>
                </c:pt>
                <c:pt idx="3">
                  <c:v>5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3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140290404101109"/>
          <c:y val="9.0180593147411892E-2"/>
          <c:w val="0.32016753995724129"/>
          <c:h val="0.8993898701498492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A1FE7B-5799-4BD5-9478-C6864C9BEFBE}" type="datetimeFigureOut">
              <a:rPr lang="fr-FR" smtClean="0"/>
              <a:t>26/09/2022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38A01-DFAF-4609-8054-47B931FEECF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28044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EB028-7FD4-47D5-98C7-4B192024BFF7}" type="datetimeFigureOut">
              <a:rPr lang="fr-FR" smtClean="0"/>
              <a:t>26/09/2022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FFF74-3CCB-462C-8F95-639BB2BF66D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10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2869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174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DFFF74-3CCB-462C-8F95-639BB2BF66DC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286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8613"/>
            <a:ext cx="8208912" cy="1045145"/>
          </a:xfrm>
        </p:spPr>
        <p:txBody>
          <a:bodyPr/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Modifiez le style des sous-titres du masque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dirty="0" smtClean="0"/>
              <a:t>|          </a:t>
            </a:r>
            <a:r>
              <a:rPr lang="fr-FR" b="1" dirty="0" smtClean="0"/>
              <a:t>ISAE-</a:t>
            </a:r>
            <a:r>
              <a:rPr lang="fr-FR" b="1" dirty="0" err="1" smtClean="0"/>
              <a:t>Supméca</a:t>
            </a:r>
            <a:r>
              <a:rPr lang="fr-FR" dirty="0" smtClean="0"/>
              <a:t> – Institut supérieur de mécanique de Paris          |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840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dirty="0" smtClean="0">
                <a:solidFill>
                  <a:srgbClr val="F45F0C"/>
                </a:solidFill>
              </a:rPr>
              <a:t>|</a:t>
            </a:r>
            <a:r>
              <a:rPr lang="fr-FR" dirty="0" smtClean="0">
                <a:solidFill>
                  <a:srgbClr val="F2F2F2"/>
                </a:solidFill>
              </a:rPr>
              <a:t>          </a:t>
            </a:r>
            <a:r>
              <a:rPr lang="fr-FR" b="1" dirty="0" smtClean="0">
                <a:solidFill>
                  <a:schemeClr val="tx1">
                    <a:lumMod val="50000"/>
                  </a:schemeClr>
                </a:solidFill>
              </a:rPr>
              <a:t>ISAE-</a:t>
            </a:r>
            <a:r>
              <a:rPr lang="fr-FR" b="1" dirty="0" err="1" smtClean="0">
                <a:solidFill>
                  <a:schemeClr val="tx1">
                    <a:lumMod val="50000"/>
                  </a:schemeClr>
                </a:solidFill>
              </a:rPr>
              <a:t>Supméca</a:t>
            </a:r>
            <a:r>
              <a:rPr lang="fr-FR" dirty="0" smtClean="0">
                <a:solidFill>
                  <a:schemeClr val="tx1">
                    <a:lumMod val="50000"/>
                  </a:schemeClr>
                </a:solidFill>
              </a:rPr>
              <a:t> – Institut supérieur de mécanique de Paris          </a:t>
            </a:r>
            <a:r>
              <a:rPr lang="fr-FR" dirty="0" smtClean="0">
                <a:solidFill>
                  <a:srgbClr val="F45F0C"/>
                </a:solidFill>
              </a:rPr>
              <a:t>|</a:t>
            </a:r>
            <a:endParaRPr lang="fr-FR" dirty="0">
              <a:solidFill>
                <a:srgbClr val="F2F2F2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77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1597819"/>
            <a:ext cx="8208912" cy="10459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6" name="Sous-titre 2"/>
          <p:cNvSpPr>
            <a:spLocks noGrp="1"/>
          </p:cNvSpPr>
          <p:nvPr>
            <p:ph type="subTitle" idx="1"/>
          </p:nvPr>
        </p:nvSpPr>
        <p:spPr>
          <a:xfrm>
            <a:off x="467544" y="2643758"/>
            <a:ext cx="8208912" cy="12241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Modifiez le style des sous-titres du masque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dirty="0" smtClean="0"/>
              <a:t>|          </a:t>
            </a:r>
            <a:r>
              <a:rPr lang="fr-FR" b="1" dirty="0" smtClean="0"/>
              <a:t>ISAE-</a:t>
            </a:r>
            <a:r>
              <a:rPr lang="fr-FR" b="1" dirty="0" err="1" smtClean="0"/>
              <a:t>Supméca</a:t>
            </a:r>
            <a:r>
              <a:rPr lang="fr-FR" dirty="0" smtClean="0"/>
              <a:t> – Institut supérieur de mécanique de Paris          |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77917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dirty="0" smtClean="0"/>
              <a:t>|          </a:t>
            </a:r>
            <a:r>
              <a:rPr lang="fr-FR" b="1" dirty="0" smtClean="0"/>
              <a:t>ISAE-</a:t>
            </a:r>
            <a:r>
              <a:rPr lang="fr-FR" b="1" dirty="0" err="1" smtClean="0"/>
              <a:t>Supméca</a:t>
            </a:r>
            <a:r>
              <a:rPr lang="fr-FR" dirty="0" smtClean="0"/>
              <a:t> – Institut supérieur de mécanique de Paris          |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650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2"/>
                </a:solidFill>
              </a:rPr>
              <a:t>|</a:t>
            </a:r>
            <a:r>
              <a:rPr lang="fr-FR" dirty="0" smtClean="0">
                <a:solidFill>
                  <a:srgbClr val="222A35"/>
                </a:solidFill>
              </a:rPr>
              <a:t>          </a:t>
            </a:r>
            <a:r>
              <a:rPr lang="fr-FR" b="1" dirty="0" smtClean="0">
                <a:solidFill>
                  <a:srgbClr val="222A35"/>
                </a:solidFill>
              </a:rPr>
              <a:t>ISAE-</a:t>
            </a:r>
            <a:r>
              <a:rPr lang="fr-FR" b="1" dirty="0" err="1" smtClean="0">
                <a:solidFill>
                  <a:srgbClr val="222A35"/>
                </a:solidFill>
              </a:rPr>
              <a:t>Supméca</a:t>
            </a:r>
            <a:r>
              <a:rPr lang="fr-FR" dirty="0" smtClean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 smtClean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33079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9582"/>
            <a:ext cx="8229600" cy="3534643"/>
          </a:xfrm>
        </p:spPr>
        <p:txBody>
          <a:bodyPr/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2"/>
                </a:solidFill>
              </a:rPr>
              <a:t>|</a:t>
            </a:r>
            <a:r>
              <a:rPr lang="fr-FR" dirty="0" smtClean="0">
                <a:solidFill>
                  <a:srgbClr val="222A35"/>
                </a:solidFill>
              </a:rPr>
              <a:t>         </a:t>
            </a:r>
            <a:r>
              <a:rPr lang="fr-FR" b="1" dirty="0" smtClean="0">
                <a:solidFill>
                  <a:srgbClr val="222A35"/>
                </a:solidFill>
              </a:rPr>
              <a:t> ISAE-</a:t>
            </a:r>
            <a:r>
              <a:rPr lang="fr-FR" b="1" dirty="0" err="1" smtClean="0">
                <a:solidFill>
                  <a:srgbClr val="222A35"/>
                </a:solidFill>
              </a:rPr>
              <a:t>Supméca</a:t>
            </a:r>
            <a:r>
              <a:rPr lang="fr-FR" b="1" dirty="0" smtClean="0">
                <a:solidFill>
                  <a:srgbClr val="222A35"/>
                </a:solidFill>
              </a:rPr>
              <a:t> </a:t>
            </a:r>
            <a:r>
              <a:rPr lang="fr-FR" dirty="0" smtClean="0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 dirty="0" smtClean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589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2"/>
                </a:solidFill>
              </a:rPr>
              <a:t>|</a:t>
            </a:r>
            <a:r>
              <a:rPr lang="fr-FR" dirty="0" smtClean="0">
                <a:solidFill>
                  <a:srgbClr val="222A35"/>
                </a:solidFill>
              </a:rPr>
              <a:t>         </a:t>
            </a:r>
            <a:r>
              <a:rPr lang="fr-FR" b="1" dirty="0" smtClean="0">
                <a:solidFill>
                  <a:srgbClr val="222A35"/>
                </a:solidFill>
              </a:rPr>
              <a:t> ISAE-</a:t>
            </a:r>
            <a:r>
              <a:rPr lang="fr-FR" b="1" dirty="0" err="1" smtClean="0">
                <a:solidFill>
                  <a:srgbClr val="222A35"/>
                </a:solidFill>
              </a:rPr>
              <a:t>Supméca</a:t>
            </a:r>
            <a:r>
              <a:rPr lang="fr-FR" b="1" dirty="0" smtClean="0">
                <a:solidFill>
                  <a:srgbClr val="222A35"/>
                </a:solidFill>
              </a:rPr>
              <a:t> </a:t>
            </a:r>
            <a:r>
              <a:rPr lang="fr-FR" dirty="0" smtClean="0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 dirty="0" smtClean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2962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2"/>
                </a:solidFill>
              </a:rPr>
              <a:t>|</a:t>
            </a:r>
            <a:r>
              <a:rPr lang="fr-FR" dirty="0" smtClean="0">
                <a:solidFill>
                  <a:srgbClr val="222A35"/>
                </a:solidFill>
              </a:rPr>
              <a:t>          </a:t>
            </a:r>
            <a:r>
              <a:rPr lang="fr-FR" b="1" dirty="0" smtClean="0">
                <a:solidFill>
                  <a:srgbClr val="222A35"/>
                </a:solidFill>
              </a:rPr>
              <a:t>ISAE-</a:t>
            </a:r>
            <a:r>
              <a:rPr lang="fr-FR" b="1" dirty="0" err="1" smtClean="0">
                <a:solidFill>
                  <a:srgbClr val="222A35"/>
                </a:solidFill>
              </a:rPr>
              <a:t>Supméca</a:t>
            </a:r>
            <a:r>
              <a:rPr lang="fr-FR" dirty="0" smtClean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 smtClean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135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2"/>
                </a:solidFill>
              </a:rPr>
              <a:t>|</a:t>
            </a:r>
            <a:r>
              <a:rPr lang="fr-FR" dirty="0" smtClean="0">
                <a:solidFill>
                  <a:srgbClr val="222A35"/>
                </a:solidFill>
              </a:rPr>
              <a:t>         </a:t>
            </a:r>
            <a:r>
              <a:rPr lang="fr-FR" b="1" dirty="0" smtClean="0">
                <a:solidFill>
                  <a:srgbClr val="222A35"/>
                </a:solidFill>
              </a:rPr>
              <a:t> ISAE-</a:t>
            </a:r>
            <a:r>
              <a:rPr lang="fr-FR" b="1" dirty="0" err="1" smtClean="0">
                <a:solidFill>
                  <a:srgbClr val="222A35"/>
                </a:solidFill>
              </a:rPr>
              <a:t>Supméca</a:t>
            </a:r>
            <a:r>
              <a:rPr lang="fr-FR" b="1" dirty="0" smtClean="0">
                <a:solidFill>
                  <a:srgbClr val="222A35"/>
                </a:solidFill>
              </a:rPr>
              <a:t> </a:t>
            </a:r>
            <a:r>
              <a:rPr lang="fr-FR" dirty="0" smtClean="0">
                <a:solidFill>
                  <a:srgbClr val="222A35"/>
                </a:solidFill>
              </a:rPr>
              <a:t>– Institut supérieur de mécanique de Paris          </a:t>
            </a:r>
            <a:r>
              <a:rPr lang="fr-FR" dirty="0" smtClean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42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8224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457200" y="4699906"/>
            <a:ext cx="8229600" cy="0"/>
          </a:xfrm>
          <a:prstGeom prst="line">
            <a:avLst/>
          </a:prstGeom>
          <a:ln w="127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907704" y="4717133"/>
            <a:ext cx="5328592" cy="374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 dirty="0" smtClean="0"/>
              <a:t>|          </a:t>
            </a:r>
            <a:r>
              <a:rPr lang="fr-FR" b="1" dirty="0" smtClean="0"/>
              <a:t>ISAE-</a:t>
            </a:r>
            <a:r>
              <a:rPr lang="fr-FR" b="1" dirty="0" err="1" smtClean="0"/>
              <a:t>Supméca</a:t>
            </a:r>
            <a:r>
              <a:rPr lang="fr-FR" dirty="0" smtClean="0"/>
              <a:t> – Institut supérieur de mécanique de Paris          |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6239910A-A7F2-4E32-AD7E-D217E3F3092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5662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65" r:id="rId2"/>
    <p:sldLayoutId id="2147483667" r:id="rId3"/>
    <p:sldLayoutId id="2147483680" r:id="rId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7534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691680" y="4767263"/>
            <a:ext cx="5760640" cy="274637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dirty="0" smtClean="0">
                <a:solidFill>
                  <a:schemeClr val="tx2"/>
                </a:solidFill>
              </a:rPr>
              <a:t>|</a:t>
            </a:r>
            <a:r>
              <a:rPr lang="fr-FR" dirty="0" smtClean="0">
                <a:solidFill>
                  <a:srgbClr val="222A35"/>
                </a:solidFill>
              </a:rPr>
              <a:t>          </a:t>
            </a:r>
            <a:r>
              <a:rPr lang="fr-FR" b="1" dirty="0" smtClean="0">
                <a:solidFill>
                  <a:srgbClr val="222A35"/>
                </a:solidFill>
              </a:rPr>
              <a:t>ISAE-</a:t>
            </a:r>
            <a:r>
              <a:rPr lang="fr-FR" b="1" dirty="0" err="1" smtClean="0">
                <a:solidFill>
                  <a:srgbClr val="222A35"/>
                </a:solidFill>
              </a:rPr>
              <a:t>Supméca</a:t>
            </a:r>
            <a:r>
              <a:rPr lang="fr-FR" dirty="0" smtClean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 smtClean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452320" y="4767263"/>
            <a:ext cx="1234480" cy="27463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rgbClr val="132133"/>
                </a:solidFill>
              </a:defRPr>
            </a:lvl1pPr>
          </a:lstStyle>
          <a:p>
            <a:fld id="{6189AD21-9F8B-47CF-9B2C-59971C9A1C69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457200" y="4659982"/>
            <a:ext cx="8229600" cy="0"/>
          </a:xfrm>
          <a:prstGeom prst="line">
            <a:avLst/>
          </a:prstGeom>
          <a:ln w="127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e la date 3"/>
          <p:cNvSpPr txBox="1">
            <a:spLocks/>
          </p:cNvSpPr>
          <p:nvPr userDrawn="1"/>
        </p:nvSpPr>
        <p:spPr>
          <a:xfrm>
            <a:off x="457200" y="4746178"/>
            <a:ext cx="1378496" cy="273844"/>
          </a:xfrm>
          <a:prstGeom prst="rect">
            <a:avLst/>
          </a:prstGeom>
        </p:spPr>
        <p:txBody>
          <a:bodyPr lIns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Groupe ISAE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4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0" r:id="rId2"/>
    <p:sldLayoutId id="2147483672" r:id="rId3"/>
    <p:sldLayoutId id="2147483673" r:id="rId4"/>
    <p:sldLayoutId id="214748367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51520" y="195487"/>
            <a:ext cx="8640960" cy="460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 smtClean="0"/>
              <a:t>Modifiez le style du 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13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effectLst>
            <a:outerShdw blurRad="114300" algn="ctr" rotWithShape="0">
              <a:prstClr val="black">
                <a:alpha val="54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1</a:t>
            </a:fld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481111" y="2787774"/>
            <a:ext cx="2866753" cy="830997"/>
          </a:xfrm>
          <a:prstGeom prst="rect">
            <a:avLst/>
          </a:prstGeom>
          <a:noFill/>
        </p:spPr>
        <p:txBody>
          <a:bodyPr wrap="square" lIns="0" rIns="0" rtlCol="0" anchor="ctr" anchorCtr="0">
            <a:spAutoFit/>
          </a:bodyPr>
          <a:lstStyle/>
          <a:p>
            <a:r>
              <a:rPr lang="fr-FR" sz="2400" cap="all" dirty="0" smtClean="0">
                <a:solidFill>
                  <a:schemeClr val="bg2"/>
                </a:solidFill>
                <a:latin typeface="+mj-lt"/>
              </a:rPr>
              <a:t>TITRE DE LA PRÉSENTATION</a:t>
            </a:r>
            <a:endParaRPr lang="fr-FR" sz="2400" cap="all" dirty="0">
              <a:solidFill>
                <a:schemeClr val="bg2"/>
              </a:solidFill>
              <a:latin typeface="+mj-lt"/>
            </a:endParaRPr>
          </a:p>
        </p:txBody>
      </p:sp>
      <p:cxnSp>
        <p:nvCxnSpPr>
          <p:cNvPr id="17" name="Connecteur droit 16"/>
          <p:cNvCxnSpPr/>
          <p:nvPr/>
        </p:nvCxnSpPr>
        <p:spPr>
          <a:xfrm>
            <a:off x="481111" y="2714328"/>
            <a:ext cx="2861990" cy="1438"/>
          </a:xfrm>
          <a:prstGeom prst="line">
            <a:avLst/>
          </a:prstGeom>
          <a:ln w="190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896876" y="444306"/>
            <a:ext cx="4779580" cy="423437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3175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3896876" y="2160026"/>
            <a:ext cx="4779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emplacement</a:t>
            </a:r>
            <a:br>
              <a:rPr lang="fr-FR" dirty="0" smtClean="0"/>
            </a:br>
            <a:r>
              <a:rPr lang="fr-FR" dirty="0" smtClean="0"/>
              <a:t>pour un visuel</a:t>
            </a:r>
            <a:br>
              <a:rPr lang="fr-FR" dirty="0" smtClean="0"/>
            </a:br>
            <a:r>
              <a:rPr lang="fr-FR" dirty="0" smtClean="0"/>
              <a:t>de couverture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11" y="100842"/>
            <a:ext cx="2924944" cy="219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0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fr-FR" dirty="0" smtClean="0"/>
              <a:t>Titre de diapo</a:t>
            </a:r>
            <a:endParaRPr lang="fr-FR" dirty="0"/>
          </a:p>
        </p:txBody>
      </p:sp>
      <p:cxnSp>
        <p:nvCxnSpPr>
          <p:cNvPr id="24" name="Connecteur droit 23"/>
          <p:cNvCxnSpPr/>
          <p:nvPr/>
        </p:nvCxnSpPr>
        <p:spPr>
          <a:xfrm>
            <a:off x="457200" y="627534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67544" y="874330"/>
            <a:ext cx="8219256" cy="2400657"/>
          </a:xfrm>
          <a:prstGeom prst="rect">
            <a:avLst/>
          </a:prstGeom>
          <a:noFill/>
        </p:spPr>
        <p:txBody>
          <a:bodyPr wrap="square" lIns="0" numCol="1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sz="2000" b="1" dirty="0" smtClean="0"/>
              <a:t>Pour créer une diapositive vous pouvez 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 smtClean="0"/>
              <a:t>Le plus simple : </a:t>
            </a:r>
            <a:br>
              <a:rPr lang="fr-FR" sz="2000" dirty="0" smtClean="0"/>
            </a:br>
            <a:r>
              <a:rPr lang="fr-FR" sz="2000" dirty="0" smtClean="0"/>
              <a:t>Dupliquer celle qui ressemble le plus à ce que vous souhaitez faire.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 smtClean="0"/>
              <a:t>Ou : </a:t>
            </a:r>
            <a:br>
              <a:rPr lang="fr-FR" sz="2000" dirty="0" smtClean="0"/>
            </a:br>
            <a:r>
              <a:rPr lang="fr-FR" sz="2000" dirty="0" smtClean="0"/>
              <a:t>Dans le menu du haut cliquer sur « nouvelle diapositive » et choisir le masque qui vous convient, puis copier-coller la ligne de séparation du titre à partir d’ici (si nécessaire).</a:t>
            </a:r>
            <a:endParaRPr lang="fr-FR" sz="2000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2"/>
                </a:solidFill>
              </a:rPr>
              <a:t>|</a:t>
            </a:r>
            <a:r>
              <a:rPr lang="fr-FR" dirty="0" smtClean="0">
                <a:solidFill>
                  <a:srgbClr val="222A35"/>
                </a:solidFill>
              </a:rPr>
              <a:t>          </a:t>
            </a:r>
            <a:r>
              <a:rPr lang="fr-FR" b="1" dirty="0" smtClean="0">
                <a:solidFill>
                  <a:srgbClr val="222A35"/>
                </a:solidFill>
              </a:rPr>
              <a:t>ISAE-</a:t>
            </a:r>
            <a:r>
              <a:rPr lang="fr-FR" b="1" dirty="0" err="1" smtClean="0">
                <a:solidFill>
                  <a:srgbClr val="222A35"/>
                </a:solidFill>
              </a:rPr>
              <a:t>Supméca</a:t>
            </a:r>
            <a:r>
              <a:rPr lang="fr-FR" dirty="0" smtClean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 smtClean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9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Titre chapitre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Sous-titre chapitre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39910A-A7F2-4E32-AD7E-D217E3F3092B}" type="slidenum">
              <a:rPr lang="fr-FR" smtClean="0"/>
              <a:t>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fr-FR" dirty="0" smtClean="0"/>
              <a:t>|          </a:t>
            </a:r>
            <a:r>
              <a:rPr lang="fr-FR" b="1" dirty="0" smtClean="0"/>
              <a:t>ISAE-</a:t>
            </a:r>
            <a:r>
              <a:rPr lang="fr-FR" b="1" dirty="0" err="1" smtClean="0"/>
              <a:t>Supméca</a:t>
            </a:r>
            <a:r>
              <a:rPr lang="fr-FR" dirty="0" smtClean="0"/>
              <a:t> – Institut supérieur de mécanique de Paris          |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419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re 20"/>
          <p:cNvSpPr>
            <a:spLocks noGrp="1"/>
          </p:cNvSpPr>
          <p:nvPr>
            <p:ph type="title"/>
          </p:nvPr>
        </p:nvSpPr>
        <p:spPr>
          <a:xfrm>
            <a:off x="467544" y="0"/>
            <a:ext cx="7416824" cy="1131590"/>
          </a:xfrm>
        </p:spPr>
        <p:txBody>
          <a:bodyPr>
            <a:normAutofit/>
          </a:bodyPr>
          <a:lstStyle/>
          <a:p>
            <a:pPr>
              <a:lnSpc>
                <a:spcPts val="3500"/>
              </a:lnSpc>
            </a:pPr>
            <a:r>
              <a:rPr lang="fr-FR" b="0" dirty="0" smtClean="0">
                <a:cs typeface="Myriad Pro Black"/>
              </a:rPr>
              <a:t>Titre de diapositive</a:t>
            </a:r>
            <a:br>
              <a:rPr lang="fr-FR" b="0" dirty="0" smtClean="0">
                <a:cs typeface="Myriad Pro Black"/>
              </a:rPr>
            </a:br>
            <a:r>
              <a:rPr lang="fr-FR" dirty="0" smtClean="0">
                <a:cs typeface="Myriad Pro Black"/>
              </a:rPr>
              <a:t>sur deux lignes</a:t>
            </a:r>
            <a:endParaRPr lang="fr-FR" dirty="0"/>
          </a:p>
        </p:txBody>
      </p:sp>
      <p:cxnSp>
        <p:nvCxnSpPr>
          <p:cNvPr id="7" name="Connecteur droit 6"/>
          <p:cNvCxnSpPr/>
          <p:nvPr/>
        </p:nvCxnSpPr>
        <p:spPr>
          <a:xfrm>
            <a:off x="457200" y="1131590"/>
            <a:ext cx="8229600" cy="0"/>
          </a:xfrm>
          <a:prstGeom prst="line">
            <a:avLst/>
          </a:prstGeom>
          <a:ln w="63500">
            <a:solidFill>
              <a:srgbClr val="1321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2"/>
                </a:solidFill>
              </a:rPr>
              <a:t>|</a:t>
            </a:r>
            <a:r>
              <a:rPr lang="fr-FR" dirty="0" smtClean="0">
                <a:solidFill>
                  <a:srgbClr val="222A35"/>
                </a:solidFill>
              </a:rPr>
              <a:t>          </a:t>
            </a:r>
            <a:r>
              <a:rPr lang="fr-FR" b="1" dirty="0" smtClean="0">
                <a:solidFill>
                  <a:srgbClr val="222A35"/>
                </a:solidFill>
              </a:rPr>
              <a:t>ISAE-</a:t>
            </a:r>
            <a:r>
              <a:rPr lang="fr-FR" b="1" dirty="0" err="1" smtClean="0">
                <a:solidFill>
                  <a:srgbClr val="222A35"/>
                </a:solidFill>
              </a:rPr>
              <a:t>Supméca</a:t>
            </a:r>
            <a:r>
              <a:rPr lang="fr-FR" dirty="0" smtClean="0">
                <a:solidFill>
                  <a:srgbClr val="222A35"/>
                </a:solidFill>
              </a:rPr>
              <a:t> – Institut supérieur de mécanique de Paris          </a:t>
            </a:r>
            <a:r>
              <a:rPr lang="fr-FR" dirty="0" smtClean="0">
                <a:solidFill>
                  <a:schemeClr val="tx2"/>
                </a:solidFill>
              </a:rPr>
              <a:t>|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9AD21-9F8B-47CF-9B2C-59971C9A1C69}" type="slidenum">
              <a:rPr lang="fr-FR" smtClean="0"/>
              <a:pPr/>
              <a:t>4</a:t>
            </a:fld>
            <a:endParaRPr lang="fr-FR" dirty="0"/>
          </a:p>
        </p:txBody>
      </p:sp>
      <p:graphicFrame>
        <p:nvGraphicFramePr>
          <p:cNvPr id="10" name="Graphique 9"/>
          <p:cNvGraphicFramePr/>
          <p:nvPr>
            <p:extLst>
              <p:ext uri="{D42A27DB-BD31-4B8C-83A1-F6EECF244321}">
                <p14:modId xmlns:p14="http://schemas.microsoft.com/office/powerpoint/2010/main" val="1987416530"/>
              </p:ext>
            </p:extLst>
          </p:nvPr>
        </p:nvGraphicFramePr>
        <p:xfrm>
          <a:off x="827584" y="1203598"/>
          <a:ext cx="6432376" cy="3328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9935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droit 16"/>
          <p:cNvCxnSpPr/>
          <p:nvPr/>
        </p:nvCxnSpPr>
        <p:spPr>
          <a:xfrm flipV="1">
            <a:off x="2699792" y="2913433"/>
            <a:ext cx="0" cy="151216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/>
          <p:cNvSpPr txBox="1"/>
          <p:nvPr/>
        </p:nvSpPr>
        <p:spPr>
          <a:xfrm>
            <a:off x="2932657" y="2945725"/>
            <a:ext cx="322351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 smtClean="0"/>
              <a:t>ISAE-</a:t>
            </a:r>
            <a:r>
              <a:rPr lang="fr-FR" sz="1200" b="1" dirty="0" err="1" smtClean="0"/>
              <a:t>Supméca</a:t>
            </a:r>
            <a:r>
              <a:rPr lang="fr-FR" sz="1200" b="1" dirty="0" smtClean="0"/>
              <a:t> </a:t>
            </a:r>
          </a:p>
          <a:p>
            <a:pPr algn="ctr"/>
            <a:r>
              <a:rPr lang="fr-FR" sz="1200" dirty="0" smtClean="0"/>
              <a:t>Institut supérieur de mécanique de Paris</a:t>
            </a:r>
          </a:p>
          <a:p>
            <a:pPr algn="ctr"/>
            <a:r>
              <a:rPr lang="fr-FR" sz="1200" dirty="0" smtClean="0"/>
              <a:t>3 rue Fernand Hainaut 93407 Saint-Ouen Cedex  </a:t>
            </a:r>
          </a:p>
          <a:p>
            <a:pPr algn="ctr">
              <a:spcAft>
                <a:spcPts val="1200"/>
              </a:spcAft>
            </a:pPr>
            <a:r>
              <a:rPr lang="fr-FR" sz="1200" dirty="0" smtClean="0"/>
              <a:t>Tél</a:t>
            </a:r>
            <a:r>
              <a:rPr lang="fr-FR" sz="1200" dirty="0"/>
              <a:t>. 01 49 45 29 00  </a:t>
            </a:r>
            <a:r>
              <a:rPr lang="fr-FR" sz="1200" dirty="0" smtClean="0"/>
              <a:t>–  </a:t>
            </a:r>
            <a:r>
              <a:rPr lang="fr-FR" sz="1200" b="1" dirty="0" smtClean="0"/>
              <a:t>www.isae-supmeca.fr</a:t>
            </a:r>
          </a:p>
          <a:p>
            <a:pPr algn="ctr"/>
            <a:r>
              <a:rPr lang="fr-FR" sz="12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Ministère de l'Enseignement </a:t>
            </a:r>
            <a:r>
              <a:rPr lang="fr-FR" sz="12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supérieur</a:t>
            </a:r>
            <a:r>
              <a:rPr lang="fr-FR" sz="12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/>
            </a:r>
            <a:br>
              <a:rPr lang="fr-FR" sz="12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</a:br>
            <a:r>
              <a:rPr lang="fr-FR" sz="12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et de </a:t>
            </a:r>
            <a:r>
              <a:rPr lang="fr-FR" sz="12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la </a:t>
            </a:r>
            <a:r>
              <a:rPr lang="fr-FR" sz="1200" dirty="0" smtClean="0">
                <a:solidFill>
                  <a:schemeClr val="bg1">
                    <a:lumMod val="50000"/>
                    <a:lumOff val="50000"/>
                  </a:schemeClr>
                </a:solidFill>
              </a:rPr>
              <a:t>Recherche</a:t>
            </a:r>
            <a:endParaRPr lang="fr-FR" sz="1200" dirty="0" smtClean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7" y="3003798"/>
            <a:ext cx="1656183" cy="124213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3344115"/>
            <a:ext cx="1728192" cy="641096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 flipV="1">
            <a:off x="6372200" y="2913433"/>
            <a:ext cx="0" cy="151216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12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Supméca">
      <a:dk1>
        <a:srgbClr val="222A35"/>
      </a:dk1>
      <a:lt1>
        <a:srgbClr val="F2F2F2"/>
      </a:lt1>
      <a:dk2>
        <a:srgbClr val="F45F0C"/>
      </a:dk2>
      <a:lt2>
        <a:srgbClr val="F2F2F2"/>
      </a:lt2>
      <a:accent1>
        <a:srgbClr val="F45F0C"/>
      </a:accent1>
      <a:accent2>
        <a:srgbClr val="F68140"/>
      </a:accent2>
      <a:accent3>
        <a:srgbClr val="F8A170"/>
      </a:accent3>
      <a:accent4>
        <a:srgbClr val="FABB98"/>
      </a:accent4>
      <a:accent5>
        <a:srgbClr val="FCDDCC"/>
      </a:accent5>
      <a:accent6>
        <a:srgbClr val="FEEFE6"/>
      </a:accent6>
      <a:hlink>
        <a:srgbClr val="F45F0C"/>
      </a:hlink>
      <a:folHlink>
        <a:srgbClr val="B74708"/>
      </a:folHlink>
    </a:clrScheme>
    <a:fontScheme name="Supméca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27CB75B1AB454C82BE1D96A54BA687" ma:contentTypeVersion="0" ma:contentTypeDescription="Crée un document." ma:contentTypeScope="" ma:versionID="3f788c1826e4564daa0199459ca8fc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A54269-AC35-4CB2-A61C-EFA2C60BFFBC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14393404-06F0-4FBF-9945-5C8B82874D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B439AAA-E8AF-4024-9FFF-D94C9BF6511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20370</TotalTime>
  <Words>90</Words>
  <Application>Microsoft Office PowerPoint</Application>
  <PresentationFormat>Affichage à l'écran (16:9)</PresentationFormat>
  <Paragraphs>24</Paragraphs>
  <Slides>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5</vt:i4>
      </vt:variant>
    </vt:vector>
  </HeadingPairs>
  <TitlesOfParts>
    <vt:vector size="13" baseType="lpstr">
      <vt:lpstr>Source Sans Pro</vt:lpstr>
      <vt:lpstr>Calibri</vt:lpstr>
      <vt:lpstr>Source Sans Pro Black</vt:lpstr>
      <vt:lpstr>Arial</vt:lpstr>
      <vt:lpstr>Myriad Pro Black</vt:lpstr>
      <vt:lpstr>2_Conception personnalisée</vt:lpstr>
      <vt:lpstr>3_Conception personnalisée</vt:lpstr>
      <vt:lpstr>1_Conception personnalisée</vt:lpstr>
      <vt:lpstr>Présentation PowerPoint</vt:lpstr>
      <vt:lpstr>Titre de diapo</vt:lpstr>
      <vt:lpstr>Titre chapitre</vt:lpstr>
      <vt:lpstr>Titre de diapositive sur deux lignes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LECHARTIER Antoine</dc:creator>
  <cp:lastModifiedBy>LECHARTIER Antoine</cp:lastModifiedBy>
  <cp:revision>202</cp:revision>
  <dcterms:created xsi:type="dcterms:W3CDTF">2018-06-29T13:21:24Z</dcterms:created>
  <dcterms:modified xsi:type="dcterms:W3CDTF">2022-09-26T09:09:34Z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0x010100D827CB75B1AB454C82BE1D96A54BA687</vt:lpwstr>
  </property>
</Properties>
</file>