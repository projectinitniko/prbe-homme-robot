
<file path=[Content_Types].xml><?xml version="1.0" encoding="utf-8"?>
<Types xmlns="http://schemas.openxmlformats.org/package/2006/content-types">
  <Default Extension="fntdata" ContentType="application/x-fontdata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58" r:id="rId4"/>
    <p:sldMasterId id="2147483668" r:id="rId5"/>
    <p:sldMasterId id="2147483657" r:id="rId6"/>
  </p:sldMasterIdLst>
  <p:notesMasterIdLst>
    <p:notesMasterId r:id="rId32"/>
  </p:notesMasterIdLst>
  <p:handoutMasterIdLst>
    <p:handoutMasterId r:id="rId33"/>
  </p:handout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81" r:id="rId48"/>
    <p:sldId id="282" r:id="rId49"/>
    <p:sldId id="283" r:id="rId50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34"/>
      <p:bold r:id="rId35"/>
      <p:italic r:id="rId36"/>
      <p:boldItalic r:id="rId37"/>
    </p:embeddedFont>
    <p:embeddedFont>
      <p:font typeface="Source Sans Pro" panose="020B0503030403020204" pitchFamily="34" charset="0"/>
      <p:regular r:id="rId38"/>
      <p:bold r:id="rId39"/>
      <p:italic r:id="rId40"/>
      <p:boldItalic r:id="rId41"/>
    </p:embeddedFont>
    <p:embeddedFont>
      <p:font typeface="Source Sans Pro Black" panose="020B0803030403020204" pitchFamily="34" charset="0"/>
      <p:bold r:id="rId42"/>
      <p:boldItalic r:id="rId43"/>
    </p:embeddedFont>
  </p:embeddedFontLst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AAF6"/>
    <a:srgbClr val="FFFFFF"/>
    <a:srgbClr val="1321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Style moyen 2 - Accentuatio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9CF1AB2-1976-4502-BF36-3FF5EA218861}" styleName="Style moyen 4 - Accentuation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38" autoAdjust="0"/>
    <p:restoredTop sz="97266" autoAdjust="0"/>
  </p:normalViewPr>
  <p:slideViewPr>
    <p:cSldViewPr>
      <p:cViewPr varScale="1">
        <p:scale>
          <a:sx n="90" d="100"/>
          <a:sy n="90" d="100"/>
        </p:scale>
        <p:origin x="798" y="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70" d="100"/>
          <a:sy n="70" d="100"/>
        </p:scale>
        <p:origin x="-3246" y="-9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notesMaster" Target="notesMasters/notesMaster1.xml"/><Relationship Id="rId33" Type="http://schemas.openxmlformats.org/officeDocument/2006/relationships/handoutMaster" Target="handoutMasters/handoutMaster1.xml"/><Relationship Id="rId34" Type="http://schemas.openxmlformats.org/officeDocument/2006/relationships/font" Target="fonts/font1.fntdata"/><Relationship Id="rId35" Type="http://schemas.openxmlformats.org/officeDocument/2006/relationships/font" Target="fonts/font2.fntdata"/><Relationship Id="rId36" Type="http://schemas.openxmlformats.org/officeDocument/2006/relationships/font" Target="fonts/font3.fntdata"/><Relationship Id="rId37" Type="http://schemas.openxmlformats.org/officeDocument/2006/relationships/font" Target="fonts/font4.fntdata"/><Relationship Id="rId38" Type="http://schemas.openxmlformats.org/officeDocument/2006/relationships/font" Target="fonts/font5.fntdata"/><Relationship Id="rId39" Type="http://schemas.openxmlformats.org/officeDocument/2006/relationships/font" Target="fonts/font6.fntdata"/><Relationship Id="rId40" Type="http://schemas.openxmlformats.org/officeDocument/2006/relationships/font" Target="fonts/font7.fntdata"/><Relationship Id="rId41" Type="http://schemas.openxmlformats.org/officeDocument/2006/relationships/font" Target="fonts/font8.fntdata"/><Relationship Id="rId42" Type="http://schemas.openxmlformats.org/officeDocument/2006/relationships/font" Target="fonts/font9.fntdata"/><Relationship Id="rId43" Type="http://schemas.openxmlformats.org/officeDocument/2006/relationships/font" Target="fonts/font10.fntdata"/><Relationship Id="rId44" Type="http://schemas.openxmlformats.org/officeDocument/2006/relationships/presProps" Target="presProps.xml"/><Relationship Id="rId45" Type="http://schemas.openxmlformats.org/officeDocument/2006/relationships/viewProps" Target="viewProps.xml"/><Relationship Id="rId46" Type="http://schemas.openxmlformats.org/officeDocument/2006/relationships/theme" Target="theme/theme1.xml"/><Relationship Id="rId47" Type="http://schemas.openxmlformats.org/officeDocument/2006/relationships/tableStyles" Target="tableStyles.xml"/><Relationship Id="rId48" Type="http://schemas.openxmlformats.org/officeDocument/2006/relationships/slide" Target="slides/slide8.xml"/><Relationship Id="rId49" Type="http://schemas.openxmlformats.org/officeDocument/2006/relationships/slide" Target="slides/slide9.xml"/><Relationship Id="rId50" Type="http://schemas.openxmlformats.org/officeDocument/2006/relationships/slide" Target="slides/slide10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A1FE7B-5799-4BD5-9478-C6864C9BEFBE}" type="datetimeFigureOut">
              <a:rPr lang="fr-FR" smtClean="0"/>
              <a:t>22/06/2026</a:t>
            </a:fld>
            <a:endParaRPr lang="fr-FR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B38A01-DFAF-4609-8054-47B931FEECF1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0280440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FEB028-7FD4-47D5-98C7-4B192024BFF7}" type="datetimeFigureOut">
              <a:rPr lang="fr-FR" smtClean="0"/>
              <a:t>22/06/2026</a:t>
            </a:fld>
            <a:endParaRPr lang="fr-FR" dirty="0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 dirty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DFFF74-3CCB-462C-8F95-639BB2BF66DC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691087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467544" y="1598613"/>
            <a:ext cx="8208912" cy="1045145"/>
          </a:xfrm>
        </p:spPr>
        <p:txBody>
          <a:bodyPr/>
          <a:lstStyle/>
          <a:p>
            <a:r>
              <a:rPr lang="fr-FR" dirty="0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467544" y="2643758"/>
            <a:ext cx="8208912" cy="1224136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dirty="0"/>
              <a:t>Modifiez le style des sous-titres du masque</a:t>
            </a: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pPr>
              <a:defRPr/>
            </a:pPr>
            <a:r>
              <a:rPr lang="fr-FR" dirty="0"/>
              <a:t>|          </a:t>
            </a:r>
            <a:r>
              <a:rPr lang="fr-FR" b="1" dirty="0"/>
              <a:t>ISAE-</a:t>
            </a:r>
            <a:r>
              <a:rPr lang="fr-FR" b="1" dirty="0" err="1"/>
              <a:t>Supméca</a:t>
            </a:r>
            <a:r>
              <a:rPr lang="fr-FR" dirty="0"/>
              <a:t> – Institut supérieur de mécanique de Paris          |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239910A-A7F2-4E32-AD7E-D217E3F3092B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6684080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pied de page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fr-FR" dirty="0">
                <a:solidFill>
                  <a:srgbClr val="F45F0C"/>
                </a:solidFill>
              </a:rPr>
              <a:t>|</a:t>
            </a:r>
            <a:r>
              <a:rPr lang="fr-FR" dirty="0">
                <a:solidFill>
                  <a:srgbClr val="F2F2F2"/>
                </a:solidFill>
              </a:rPr>
              <a:t>          </a:t>
            </a:r>
            <a:r>
              <a:rPr lang="fr-FR" b="1" dirty="0">
                <a:solidFill>
                  <a:schemeClr val="tx1">
                    <a:lumMod val="50000"/>
                  </a:schemeClr>
                </a:solidFill>
              </a:rPr>
              <a:t>ISAE-</a:t>
            </a:r>
            <a:r>
              <a:rPr lang="fr-FR" b="1" dirty="0" err="1">
                <a:solidFill>
                  <a:schemeClr val="tx1">
                    <a:lumMod val="50000"/>
                  </a:schemeClr>
                </a:solidFill>
              </a:rPr>
              <a:t>Supméca</a:t>
            </a:r>
            <a:r>
              <a:rPr lang="fr-FR" dirty="0">
                <a:solidFill>
                  <a:schemeClr val="tx1">
                    <a:lumMod val="50000"/>
                  </a:schemeClr>
                </a:solidFill>
              </a:rPr>
              <a:t> – Institut supérieur de mécanique de Paris          </a:t>
            </a:r>
            <a:r>
              <a:rPr lang="fr-FR" dirty="0">
                <a:solidFill>
                  <a:srgbClr val="F45F0C"/>
                </a:solidFill>
              </a:rPr>
              <a:t>|</a:t>
            </a:r>
            <a:endParaRPr lang="fr-FR" dirty="0">
              <a:solidFill>
                <a:srgbClr val="F2F2F2"/>
              </a:solidFill>
            </a:endParaRP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239910A-A7F2-4E32-AD7E-D217E3F3092B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67754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467544" y="1597819"/>
            <a:ext cx="8208912" cy="104593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fr-FR" dirty="0"/>
              <a:t>Modifiez le style du titre</a:t>
            </a:r>
          </a:p>
        </p:txBody>
      </p:sp>
      <p:sp>
        <p:nvSpPr>
          <p:cNvPr id="6" name="Sous-titre 2"/>
          <p:cNvSpPr>
            <a:spLocks noGrp="1"/>
          </p:cNvSpPr>
          <p:nvPr>
            <p:ph type="subTitle" idx="1"/>
          </p:nvPr>
        </p:nvSpPr>
        <p:spPr>
          <a:xfrm>
            <a:off x="467544" y="2643758"/>
            <a:ext cx="8208912" cy="1224136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dirty="0"/>
              <a:t>Modifiez le style des sous-titres du masque</a:t>
            </a: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pPr>
              <a:defRPr/>
            </a:pPr>
            <a:r>
              <a:rPr lang="fr-FR" dirty="0"/>
              <a:t>|          </a:t>
            </a:r>
            <a:r>
              <a:rPr lang="fr-FR" b="1" dirty="0"/>
              <a:t>ISAE-</a:t>
            </a:r>
            <a:r>
              <a:rPr lang="fr-FR" b="1" dirty="0" err="1"/>
              <a:t>Supméca</a:t>
            </a:r>
            <a:r>
              <a:rPr lang="fr-FR" dirty="0"/>
              <a:t> – Institut supérieur de mécanique de Paris          |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239910A-A7F2-4E32-AD7E-D217E3F3092B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777917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pPr>
              <a:defRPr/>
            </a:pPr>
            <a:r>
              <a:rPr lang="fr-FR" dirty="0"/>
              <a:t>|          </a:t>
            </a:r>
            <a:r>
              <a:rPr lang="fr-FR" b="1" dirty="0"/>
              <a:t>ISAE-</a:t>
            </a:r>
            <a:r>
              <a:rPr lang="fr-FR" b="1" dirty="0" err="1"/>
              <a:t>Supméca</a:t>
            </a:r>
            <a:r>
              <a:rPr lang="fr-FR" dirty="0"/>
              <a:t> – Institut supérieur de mécanique de Paris          |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239910A-A7F2-4E32-AD7E-D217E3F3092B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06508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Modifiez le style du titre</a:t>
            </a:r>
          </a:p>
        </p:txBody>
      </p:sp>
      <p:sp>
        <p:nvSpPr>
          <p:cNvPr id="9" name="Espace réservé du pied de page 8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fr-FR" dirty="0">
                <a:solidFill>
                  <a:schemeClr val="tx2"/>
                </a:solidFill>
              </a:rPr>
              <a:t>|</a:t>
            </a:r>
            <a:r>
              <a:rPr lang="fr-FR" dirty="0">
                <a:solidFill>
                  <a:srgbClr val="222A35"/>
                </a:solidFill>
              </a:rPr>
              <a:t>          </a:t>
            </a:r>
            <a:r>
              <a:rPr lang="fr-FR" b="1" dirty="0">
                <a:solidFill>
                  <a:srgbClr val="222A35"/>
                </a:solidFill>
              </a:rPr>
              <a:t>ISAE-</a:t>
            </a:r>
            <a:r>
              <a:rPr lang="fr-FR" b="1" dirty="0" err="1">
                <a:solidFill>
                  <a:srgbClr val="222A35"/>
                </a:solidFill>
              </a:rPr>
              <a:t>Supméca</a:t>
            </a:r>
            <a:r>
              <a:rPr lang="fr-FR" dirty="0">
                <a:solidFill>
                  <a:srgbClr val="222A35"/>
                </a:solidFill>
              </a:rPr>
              <a:t> – Institut supérieur de mécanique de Paris          </a:t>
            </a:r>
            <a:r>
              <a:rPr lang="fr-FR" dirty="0">
                <a:solidFill>
                  <a:schemeClr val="tx2"/>
                </a:solidFill>
              </a:rPr>
              <a:t>|</a:t>
            </a:r>
          </a:p>
        </p:txBody>
      </p:sp>
      <p:sp>
        <p:nvSpPr>
          <p:cNvPr id="10" name="Espace réservé du numéro de diapositive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189AD21-9F8B-47CF-9B2C-59971C9A1C69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9833079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059582"/>
            <a:ext cx="8229600" cy="3534643"/>
          </a:xfrm>
        </p:spPr>
        <p:txBody>
          <a:bodyPr/>
          <a:lstStyle/>
          <a:p>
            <a:pPr lvl="0"/>
            <a:r>
              <a:rPr lang="fr-FR" dirty="0"/>
              <a:t>Modifiez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fr-FR" dirty="0">
                <a:solidFill>
                  <a:schemeClr val="tx2"/>
                </a:solidFill>
              </a:rPr>
              <a:t>|</a:t>
            </a:r>
            <a:r>
              <a:rPr lang="fr-FR" dirty="0">
                <a:solidFill>
                  <a:srgbClr val="222A35"/>
                </a:solidFill>
              </a:rPr>
              <a:t>         </a:t>
            </a:r>
            <a:r>
              <a:rPr lang="fr-FR" b="1" dirty="0">
                <a:solidFill>
                  <a:srgbClr val="222A35"/>
                </a:solidFill>
              </a:rPr>
              <a:t> ISAE-</a:t>
            </a:r>
            <a:r>
              <a:rPr lang="fr-FR" b="1" dirty="0" err="1">
                <a:solidFill>
                  <a:srgbClr val="222A35"/>
                </a:solidFill>
              </a:rPr>
              <a:t>Supméca</a:t>
            </a:r>
            <a:r>
              <a:rPr lang="fr-FR" b="1" dirty="0">
                <a:solidFill>
                  <a:srgbClr val="222A35"/>
                </a:solidFill>
              </a:rPr>
              <a:t> </a:t>
            </a:r>
            <a:r>
              <a:rPr lang="fr-FR" dirty="0">
                <a:solidFill>
                  <a:srgbClr val="222A35"/>
                </a:solidFill>
              </a:rPr>
              <a:t>– Institut supérieur de mécanique de Paris          </a:t>
            </a:r>
            <a:r>
              <a:rPr lang="fr-FR" dirty="0">
                <a:solidFill>
                  <a:schemeClr val="tx2"/>
                </a:solidFill>
              </a:rPr>
              <a:t>|</a:t>
            </a:r>
          </a:p>
        </p:txBody>
      </p:sp>
      <p:sp>
        <p:nvSpPr>
          <p:cNvPr id="8" name="Espace réservé du numéro de diapositive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189AD21-9F8B-47CF-9B2C-59971C9A1C69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2758910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200150"/>
            <a:ext cx="4038600" cy="33940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200150"/>
            <a:ext cx="4038600" cy="33940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fr-FR" dirty="0">
                <a:solidFill>
                  <a:schemeClr val="tx2"/>
                </a:solidFill>
              </a:rPr>
              <a:t>|</a:t>
            </a:r>
            <a:r>
              <a:rPr lang="fr-FR" dirty="0">
                <a:solidFill>
                  <a:srgbClr val="222A35"/>
                </a:solidFill>
              </a:rPr>
              <a:t>         </a:t>
            </a:r>
            <a:r>
              <a:rPr lang="fr-FR" b="1" dirty="0">
                <a:solidFill>
                  <a:srgbClr val="222A35"/>
                </a:solidFill>
              </a:rPr>
              <a:t> ISAE-</a:t>
            </a:r>
            <a:r>
              <a:rPr lang="fr-FR" b="1" dirty="0" err="1">
                <a:solidFill>
                  <a:srgbClr val="222A35"/>
                </a:solidFill>
              </a:rPr>
              <a:t>Supméca</a:t>
            </a:r>
            <a:r>
              <a:rPr lang="fr-FR" b="1" dirty="0">
                <a:solidFill>
                  <a:srgbClr val="222A35"/>
                </a:solidFill>
              </a:rPr>
              <a:t> </a:t>
            </a:r>
            <a:r>
              <a:rPr lang="fr-FR" dirty="0">
                <a:solidFill>
                  <a:srgbClr val="222A35"/>
                </a:solidFill>
              </a:rPr>
              <a:t>– Institut supérieur de mécanique de Paris          </a:t>
            </a:r>
            <a:r>
              <a:rPr lang="fr-FR" dirty="0">
                <a:solidFill>
                  <a:schemeClr val="tx2"/>
                </a:solidFill>
              </a:rPr>
              <a:t>|</a:t>
            </a:r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189AD21-9F8B-47CF-9B2C-59971C9A1C69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296248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150938"/>
            <a:ext cx="4040188" cy="4810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1631950"/>
            <a:ext cx="4040188" cy="296227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150938"/>
            <a:ext cx="4041775" cy="4810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1631950"/>
            <a:ext cx="4041775" cy="296227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0" name="Espace réservé du pied de page 9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fr-FR" dirty="0">
                <a:solidFill>
                  <a:schemeClr val="tx2"/>
                </a:solidFill>
              </a:rPr>
              <a:t>|</a:t>
            </a:r>
            <a:r>
              <a:rPr lang="fr-FR" dirty="0">
                <a:solidFill>
                  <a:srgbClr val="222A35"/>
                </a:solidFill>
              </a:rPr>
              <a:t>          </a:t>
            </a:r>
            <a:r>
              <a:rPr lang="fr-FR" b="1" dirty="0">
                <a:solidFill>
                  <a:srgbClr val="222A35"/>
                </a:solidFill>
              </a:rPr>
              <a:t>ISAE-</a:t>
            </a:r>
            <a:r>
              <a:rPr lang="fr-FR" b="1" dirty="0" err="1">
                <a:solidFill>
                  <a:srgbClr val="222A35"/>
                </a:solidFill>
              </a:rPr>
              <a:t>Supméca</a:t>
            </a:r>
            <a:r>
              <a:rPr lang="fr-FR" dirty="0">
                <a:solidFill>
                  <a:srgbClr val="222A35"/>
                </a:solidFill>
              </a:rPr>
              <a:t> – Institut supérieur de mécanique de Paris          </a:t>
            </a:r>
            <a:r>
              <a:rPr lang="fr-FR" dirty="0">
                <a:solidFill>
                  <a:schemeClr val="tx2"/>
                </a:solidFill>
              </a:rPr>
              <a:t>|</a:t>
            </a:r>
          </a:p>
        </p:txBody>
      </p:sp>
      <p:sp>
        <p:nvSpPr>
          <p:cNvPr id="11" name="Espace réservé du numéro de diapositive 10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189AD21-9F8B-47CF-9B2C-59971C9A1C69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1113516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pied de page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fr-FR" dirty="0">
                <a:solidFill>
                  <a:schemeClr val="tx2"/>
                </a:solidFill>
              </a:rPr>
              <a:t>|</a:t>
            </a:r>
            <a:r>
              <a:rPr lang="fr-FR" dirty="0">
                <a:solidFill>
                  <a:srgbClr val="222A35"/>
                </a:solidFill>
              </a:rPr>
              <a:t>         </a:t>
            </a:r>
            <a:r>
              <a:rPr lang="fr-FR" b="1" dirty="0">
                <a:solidFill>
                  <a:srgbClr val="222A35"/>
                </a:solidFill>
              </a:rPr>
              <a:t> ISAE-</a:t>
            </a:r>
            <a:r>
              <a:rPr lang="fr-FR" b="1" dirty="0" err="1">
                <a:solidFill>
                  <a:srgbClr val="222A35"/>
                </a:solidFill>
              </a:rPr>
              <a:t>Supméca</a:t>
            </a:r>
            <a:r>
              <a:rPr lang="fr-FR" b="1" dirty="0">
                <a:solidFill>
                  <a:srgbClr val="222A35"/>
                </a:solidFill>
              </a:rPr>
              <a:t> </a:t>
            </a:r>
            <a:r>
              <a:rPr lang="fr-FR" dirty="0">
                <a:solidFill>
                  <a:srgbClr val="222A35"/>
                </a:solidFill>
              </a:rPr>
              <a:t>– Institut supérieur de mécanique de Paris          </a:t>
            </a:r>
            <a:r>
              <a:rPr lang="fr-FR" dirty="0">
                <a:solidFill>
                  <a:schemeClr val="tx2"/>
                </a:solidFill>
              </a:rPr>
              <a:t>|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189AD21-9F8B-47CF-9B2C-59971C9A1C69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64239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143000" y="841375"/>
            <a:ext cx="6858000" cy="17907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143000" y="2701925"/>
            <a:ext cx="6858000" cy="12414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218224453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Layout" Target="../slideLayouts/slideLayout6.xml"/><Relationship Id="rId3" Type="http://schemas.openxmlformats.org/officeDocument/2006/relationships/slideLayout" Target="../slideLayouts/slideLayout7.xml"/><Relationship Id="rId4" Type="http://schemas.openxmlformats.org/officeDocument/2006/relationships/slideLayout" Target="../slideLayouts/slideLayout8.xml"/><Relationship Id="rId5" Type="http://schemas.openxmlformats.org/officeDocument/2006/relationships/slideLayout" Target="../slideLayouts/slideLayout9.xml"/><Relationship Id="rId6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dirty="0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dirty="0"/>
              <a:t>Modifiez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cxnSp>
        <p:nvCxnSpPr>
          <p:cNvPr id="7" name="Connecteur droit 6"/>
          <p:cNvCxnSpPr/>
          <p:nvPr userDrawn="1"/>
        </p:nvCxnSpPr>
        <p:spPr>
          <a:xfrm>
            <a:off x="457200" y="4699906"/>
            <a:ext cx="8229600" cy="0"/>
          </a:xfrm>
          <a:prstGeom prst="line">
            <a:avLst/>
          </a:prstGeom>
          <a:ln w="1270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space réservé de la date 3"/>
          <p:cNvSpPr txBox="1">
            <a:spLocks/>
          </p:cNvSpPr>
          <p:nvPr userDrawn="1"/>
        </p:nvSpPr>
        <p:spPr>
          <a:xfrm>
            <a:off x="457200" y="4746178"/>
            <a:ext cx="1378496" cy="273844"/>
          </a:xfrm>
          <a:prstGeom prst="rect">
            <a:avLst/>
          </a:prstGeom>
        </p:spPr>
        <p:txBody>
          <a:bodyPr lIns="0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bg2"/>
                </a:solidFill>
                <a:latin typeface="Source Sans Pro" panose="020B0503030403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0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uLnTx/>
                <a:uFillTx/>
                <a:latin typeface="Source Sans Pro" panose="020B0503030403020204" pitchFamily="34" charset="0"/>
                <a:ea typeface="+mn-ea"/>
                <a:cs typeface="+mn-cs"/>
              </a:rPr>
              <a:t>Groupe ISAE</a:t>
            </a: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1907704" y="4717133"/>
            <a:ext cx="5328592" cy="3748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pPr>
              <a:defRPr/>
            </a:pPr>
            <a:r>
              <a:rPr lang="fr-FR" dirty="0"/>
              <a:t>|          </a:t>
            </a:r>
            <a:r>
              <a:rPr lang="fr-FR" b="1" dirty="0"/>
              <a:t>ISAE-</a:t>
            </a:r>
            <a:r>
              <a:rPr lang="fr-FR" b="1" dirty="0" err="1"/>
              <a:t>Supméca</a:t>
            </a:r>
            <a:r>
              <a:rPr lang="fr-FR" dirty="0"/>
              <a:t> – Institut supérieur de mécanique de Paris          |</a:t>
            </a:r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fld id="{6239910A-A7F2-4E32-AD7E-D217E3F3092B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7566265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59" r:id="rId1"/>
    <p:sldLayoutId id="2147483665" r:id="rId2"/>
    <p:sldLayoutId id="2147483667" r:id="rId3"/>
    <p:sldLayoutId id="2147483680" r:id="rId4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67544" y="0"/>
            <a:ext cx="8229600" cy="627534"/>
          </a:xfrm>
          <a:prstGeom prst="rect">
            <a:avLst/>
          </a:prstGeom>
        </p:spPr>
        <p:txBody>
          <a:bodyPr vert="horz" lIns="0" tIns="45720" rIns="0" bIns="45720" rtlCol="0" anchor="ctr">
            <a:normAutofit/>
          </a:bodyPr>
          <a:lstStyle/>
          <a:p>
            <a:r>
              <a:rPr lang="fr-FR" dirty="0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dirty="0"/>
              <a:t>Modifiez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1691680" y="4767263"/>
            <a:ext cx="5760640" cy="274637"/>
          </a:xfrm>
          <a:prstGeom prst="rect">
            <a:avLst/>
          </a:prstGeom>
          <a:ln>
            <a:noFill/>
          </a:ln>
        </p:spPr>
        <p:txBody>
          <a:bodyPr vert="horz" lIns="0" tIns="45720" rIns="0" bIns="45720" rtlCol="0" anchor="ctr"/>
          <a:lstStyle>
            <a:lvl1pPr algn="ct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fr-FR" dirty="0">
                <a:solidFill>
                  <a:schemeClr val="tx2"/>
                </a:solidFill>
              </a:rPr>
              <a:t>|</a:t>
            </a:r>
            <a:r>
              <a:rPr lang="fr-FR" dirty="0">
                <a:solidFill>
                  <a:srgbClr val="222A35"/>
                </a:solidFill>
              </a:rPr>
              <a:t>          </a:t>
            </a:r>
            <a:r>
              <a:rPr lang="fr-FR" b="1" dirty="0">
                <a:solidFill>
                  <a:srgbClr val="222A35"/>
                </a:solidFill>
              </a:rPr>
              <a:t>ISAE-</a:t>
            </a:r>
            <a:r>
              <a:rPr lang="fr-FR" b="1" dirty="0" err="1">
                <a:solidFill>
                  <a:srgbClr val="222A35"/>
                </a:solidFill>
              </a:rPr>
              <a:t>Supméca</a:t>
            </a:r>
            <a:r>
              <a:rPr lang="fr-FR" dirty="0">
                <a:solidFill>
                  <a:srgbClr val="222A35"/>
                </a:solidFill>
              </a:rPr>
              <a:t> – Institut supérieur de mécanique de Paris          </a:t>
            </a:r>
            <a:r>
              <a:rPr lang="fr-FR" dirty="0">
                <a:solidFill>
                  <a:schemeClr val="tx2"/>
                </a:solidFill>
              </a:rPr>
              <a:t>|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7452320" y="4767263"/>
            <a:ext cx="1234480" cy="274637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400">
                <a:solidFill>
                  <a:srgbClr val="132133"/>
                </a:solidFill>
              </a:defRPr>
            </a:lvl1pPr>
          </a:lstStyle>
          <a:p>
            <a:fld id="{6189AD21-9F8B-47CF-9B2C-59971C9A1C69}" type="slidenum">
              <a:rPr lang="fr-FR" smtClean="0"/>
              <a:pPr/>
              <a:t>‹N°›</a:t>
            </a:fld>
            <a:endParaRPr lang="fr-FR" dirty="0"/>
          </a:p>
        </p:txBody>
      </p:sp>
      <p:cxnSp>
        <p:nvCxnSpPr>
          <p:cNvPr id="8" name="Connecteur droit 7"/>
          <p:cNvCxnSpPr/>
          <p:nvPr userDrawn="1"/>
        </p:nvCxnSpPr>
        <p:spPr>
          <a:xfrm>
            <a:off x="457200" y="4659982"/>
            <a:ext cx="8229600" cy="0"/>
          </a:xfrm>
          <a:prstGeom prst="line">
            <a:avLst/>
          </a:prstGeom>
          <a:ln w="12700">
            <a:solidFill>
              <a:srgbClr val="1321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Espace réservé de la date 3"/>
          <p:cNvSpPr txBox="1">
            <a:spLocks/>
          </p:cNvSpPr>
          <p:nvPr userDrawn="1"/>
        </p:nvSpPr>
        <p:spPr>
          <a:xfrm>
            <a:off x="457200" y="4746178"/>
            <a:ext cx="1378496" cy="273844"/>
          </a:xfrm>
          <a:prstGeom prst="rect">
            <a:avLst/>
          </a:prstGeom>
        </p:spPr>
        <p:txBody>
          <a:bodyPr lIns="0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bg2"/>
                </a:solidFill>
                <a:latin typeface="Source Sans Pro" panose="020B0503030403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ource Sans Pro" panose="020B0503030403020204" pitchFamily="34" charset="0"/>
                <a:ea typeface="+mn-ea"/>
                <a:cs typeface="+mn-cs"/>
              </a:rPr>
              <a:t>Groupe ISAE</a:t>
            </a:r>
          </a:p>
        </p:txBody>
      </p:sp>
    </p:spTree>
    <p:extLst>
      <p:ext uri="{BB962C8B-B14F-4D97-AF65-F5344CB8AC3E}">
        <p14:creationId xmlns:p14="http://schemas.microsoft.com/office/powerpoint/2010/main" val="767441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0" r:id="rId2"/>
    <p:sldLayoutId id="2147483672" r:id="rId3"/>
    <p:sldLayoutId id="2147483673" r:id="rId4"/>
    <p:sldLayoutId id="2147483675" r:id="rId5"/>
  </p:sldLayoutIdLst>
  <p:hf hdr="0" dt="0"/>
  <p:txStyles>
    <p:titleStyle>
      <a:lvl1pPr algn="l" defTabSz="914400" rtl="0" eaLnBrk="1" latinLnBrk="0" hangingPunct="1"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251520" y="195487"/>
            <a:ext cx="8640960" cy="46085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dirty="0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255132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bg1"/>
          </a:solidFill>
          <a:effectLst>
            <a:outerShdw blurRad="114300" algn="ctr" rotWithShape="0">
              <a:prstClr val="black">
                <a:alpha val="54000"/>
              </a:prstClr>
            </a:outerShdw>
          </a:effectLst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'1.0' encoding='UTF-8' standalone='yes'?>
<Relationships xmlns="http://schemas.openxmlformats.org/package/2006/relationships"><Relationship Id="rId1" Type="http://schemas.microsoft.com/office/2007/relationships/media" Target="../media/media1.mp4"/><Relationship Id="rId2" Type="http://schemas.openxmlformats.org/officeDocument/2006/relationships/video" Target="../media/media1.mp4"/><Relationship Id="rId3" Type="http://schemas.openxmlformats.org/officeDocument/2006/relationships/slideLayout" Target="../slideLayouts/slideLayout5.xml"/><Relationship Id="rId4" Type="http://schemas.openxmlformats.org/officeDocument/2006/relationships/image" Target="../media/image8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A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767840" cy="1325880"/>
          </a:xfrm>
          <a:prstGeom prst="rect">
            <a:avLst/>
          </a:prstGeom>
        </p:spPr>
      </p:pic>
      <p:pic>
        <p:nvPicPr>
          <p:cNvPr id="3" name="Picture 2" descr="station_f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4920" y="2075366"/>
            <a:ext cx="3611880" cy="1609987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02920" y="2176272"/>
            <a:ext cx="1463040" cy="50800"/>
          </a:xfrm>
          <a:prstGeom prst="rect">
            <a:avLst/>
          </a:prstGeom>
          <a:solidFill>
            <a:srgbClr val="F45F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2331720"/>
            <a:ext cx="484632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Source Sans Pro"/>
              </a:rPr>
              <a:t>Simulation du mouvement humain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Source Sans Pro"/>
              </a:rPr>
              <a:t>&amp; interaction homme-robot </a:t>
            </a:r>
            <a:r>
              <a:rPr sz="2200" b="1">
                <a:solidFill>
                  <a:srgbClr val="F45F0C"/>
                </a:solidFill>
                <a:latin typeface="Source Sans Pro"/>
              </a:rPr>
              <a:t>dans RoboDK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023360"/>
            <a:ext cx="603504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F68140"/>
                </a:solidFill>
                <a:latin typeface="Source Sans Pro"/>
              </a:rPr>
              <a:t>Projet PRBE Homme-Robot   ·   ISAE-Supméca</a:t>
            </a:r>
          </a:p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1200" b="0">
                <a:solidFill>
                  <a:srgbClr val="F2F2F2"/>
                </a:solidFill>
                <a:latin typeface="Source Sans Pro"/>
              </a:rPr>
              <a:t>Nikoloz Khachidze   ·   Alexandre Nowak   ·   Luc Fantasia</a:t>
            </a:r>
          </a:p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100" b="0">
                <a:solidFill>
                  <a:srgbClr val="ADB4BD"/>
                </a:solidFill>
                <a:latin typeface="Source Sans Pro"/>
              </a:rPr>
              <a:t>Encadrants : Francesco Ciampi · Thierno Diallo      —      Avril–Juin 2026</a:t>
            </a:r>
          </a:p>
        </p:txBody>
      </p:sp>
      <p:sp>
        <p:nvSpPr>
          <p:cNvPr id="7" name="Espace réservé du numéro de diapositive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189AD21-9F8B-47CF-9B2C-59971C9A1C69}" type="slidenum">
              <a:rPr lang="fr-FR" smtClean="0">
                <a:solidFill>
                  <a:srgbClr val="F2F2F2"/>
                </a:solidFill>
              </a:rPr>
              <a:pPr/>
              <a:t>1</a:t>
            </a:fld>
            <a:endParaRPr lang="fr-FR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700" b="1">
                <a:solidFill>
                  <a:srgbClr val="222A35"/>
                </a:solidFill>
                <a:latin typeface="Source Sans Pro"/>
              </a:rPr>
              <a:t>Sommaire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84632" y="786384"/>
            <a:ext cx="8174736" cy="38100"/>
          </a:xfrm>
          <a:prstGeom prst="rect">
            <a:avLst/>
          </a:prstGeom>
          <a:solidFill>
            <a:srgbClr val="222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84632" y="1143000"/>
            <a:ext cx="8183879" cy="4754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394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197864"/>
            <a:ext cx="5486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45F0C"/>
                </a:solidFill>
                <a:latin typeface="Source Sans Pro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79576"/>
            <a:ext cx="402336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222A35"/>
                </a:solidFill>
                <a:latin typeface="Source Sans Pro"/>
              </a:rPr>
              <a:t>Contexte &amp; objectifs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1179576"/>
            <a:ext cx="352044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5B6675"/>
                </a:solidFill>
                <a:latin typeface="Source Sans Pro"/>
              </a:rPr>
              <a:t>La limite : pas de modèle humain dans RoboDK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4632" y="1709928"/>
            <a:ext cx="8183879" cy="4754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394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1764792"/>
            <a:ext cx="5486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45F0C"/>
                </a:solidFill>
                <a:latin typeface="Source Sans Pro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1746504"/>
            <a:ext cx="402336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222A35"/>
                </a:solidFill>
                <a:latin typeface="Source Sans Pro"/>
              </a:rPr>
              <a:t>Cahier des charges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1746504"/>
            <a:ext cx="352044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5B6675"/>
                </a:solidFill>
                <a:latin typeface="Source Sans Pro"/>
              </a:rPr>
              <a:t>Scénarios, exigences, périmètre (22 DDL)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4632" y="2276856"/>
            <a:ext cx="8183879" cy="4754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394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2331720"/>
            <a:ext cx="5486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45F0C"/>
                </a:solidFill>
                <a:latin typeface="Source Sans Pro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2313432"/>
            <a:ext cx="402336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222A35"/>
                </a:solidFill>
                <a:latin typeface="Source Sans Pro"/>
              </a:rPr>
              <a:t>Modèle conceptuel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2313432"/>
            <a:ext cx="352044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5B6675"/>
                </a:solidFill>
                <a:latin typeface="Source Sans Pro"/>
              </a:rPr>
              <a:t>Du mannequin figé à l'opérateur articulé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4632" y="2843784"/>
            <a:ext cx="8183879" cy="4754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394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2898648"/>
            <a:ext cx="5486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45F0C"/>
                </a:solidFill>
                <a:latin typeface="Source Sans Pro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2880360"/>
            <a:ext cx="402336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222A35"/>
                </a:solidFill>
                <a:latin typeface="Source Sans Pro"/>
              </a:rPr>
              <a:t>Développement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2880360"/>
            <a:ext cx="352044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5B6675"/>
                </a:solidFill>
                <a:latin typeface="Source Sans Pro"/>
              </a:rPr>
              <a:t>Locomotion &amp; manipulation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84632" y="3410712"/>
            <a:ext cx="8183879" cy="4754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394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" y="3465576"/>
            <a:ext cx="5486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45F0C"/>
                </a:solidFill>
                <a:latin typeface="Source Sans Pro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3447288"/>
            <a:ext cx="402336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222A35"/>
                </a:solidFill>
                <a:latin typeface="Source Sans Pro"/>
              </a:rPr>
              <a:t>Tests &amp; résultats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3447288"/>
            <a:ext cx="352044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5B6675"/>
                </a:solidFill>
                <a:latin typeface="Source Sans Pro"/>
              </a:rPr>
              <a:t>Mesurer plutôt que juger à l'œil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84632" y="3977640"/>
            <a:ext cx="8183879" cy="4754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394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0080" y="4032504"/>
            <a:ext cx="5486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45F0C"/>
                </a:solidFill>
                <a:latin typeface="Source Sans Pro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" y="4014216"/>
            <a:ext cx="402336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222A35"/>
                </a:solidFill>
                <a:latin typeface="Source Sans Pro"/>
              </a:rPr>
              <a:t>Conclusion &amp; perspectives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0" y="4014216"/>
            <a:ext cx="352044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5B6675"/>
                </a:solidFill>
                <a:latin typeface="Source Sans Pro"/>
              </a:rPr>
              <a:t>Un pont construit, des pistes ouvertes</a:t>
            </a:r>
          </a:p>
        </p:txBody>
      </p:sp>
      <p:sp>
        <p:nvSpPr>
          <p:cNvPr id="28" name="Espace réservé du pied de page 8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fr-FR" dirty="0">
                <a:solidFill>
                  <a:schemeClr val="tx2"/>
                </a:solidFill>
              </a:rPr>
              <a:t>|</a:t>
            </a:r>
            <a:r>
              <a:rPr lang="fr-FR" dirty="0">
                <a:solidFill>
                  <a:srgbClr val="222A35"/>
                </a:solidFill>
              </a:rPr>
              <a:t>          </a:t>
            </a:r>
            <a:r>
              <a:rPr lang="fr-FR" b="1" dirty="0">
                <a:solidFill>
                  <a:srgbClr val="222A35"/>
                </a:solidFill>
              </a:rPr>
              <a:t>ISAE-</a:t>
            </a:r>
            <a:r>
              <a:rPr lang="fr-FR" b="1" dirty="0" err="1">
                <a:solidFill>
                  <a:srgbClr val="222A35"/>
                </a:solidFill>
              </a:rPr>
              <a:t>Supméca</a:t>
            </a:r>
            <a:r>
              <a:rPr lang="fr-FR" dirty="0">
                <a:solidFill>
                  <a:srgbClr val="222A35"/>
                </a:solidFill>
              </a:rPr>
              <a:t> – Institut supérieur de mécanique de Paris          </a:t>
            </a:r>
            <a:r>
              <a:rPr lang="fr-FR" dirty="0">
                <a:solidFill>
                  <a:schemeClr val="tx2"/>
                </a:solidFill>
              </a:rPr>
              <a:t>|</a:t>
            </a:r>
          </a:p>
        </p:txBody>
      </p:sp>
      <p:sp>
        <p:nvSpPr>
          <p:cNvPr id="29" name="Espace réservé du numéro de diapositive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189AD21-9F8B-47CF-9B2C-59971C9A1C69}" type="slidenum">
              <a:rPr lang="fr-FR" smtClean="0"/>
              <a:pPr/>
              <a:t>2</a:t>
            </a:fld>
            <a:endParaRPr lang="fr-FR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A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502920"/>
            <a:ext cx="365760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0" b="1">
                <a:solidFill>
                  <a:srgbClr val="394555"/>
                </a:solidFill>
                <a:latin typeface="Source Sans Pro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148840"/>
            <a:ext cx="7772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45F0C"/>
                </a:solidFill>
                <a:latin typeface="Source Sans Pro"/>
              </a:rPr>
              <a:t>PARTIE 1 / 6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2606040"/>
            <a:ext cx="50800" cy="1280160"/>
          </a:xfrm>
          <a:prstGeom prst="rect">
            <a:avLst/>
          </a:prstGeom>
          <a:solidFill>
            <a:srgbClr val="F45F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2560320"/>
            <a:ext cx="76809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Source Sans Pro"/>
              </a:rPr>
              <a:t>Contexte &amp; objectifs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>
                <a:solidFill>
                  <a:srgbClr val="ADB4BD"/>
                </a:solidFill>
                <a:latin typeface="Source Sans Pro"/>
              </a:rPr>
              <a:t>Pourquoi faire vivre un opérateur humain dans RoboDK ?</a:t>
            </a:r>
          </a:p>
        </p:txBody>
      </p:sp>
      <p:sp>
        <p:nvSpPr>
          <p:cNvPr id="7" name="Espace réservé du pied de page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fr-FR" dirty="0">
                <a:solidFill>
                  <a:schemeClr val="tx2"/>
                </a:solidFill>
              </a:rPr>
              <a:t>|</a:t>
            </a:r>
            <a:r>
              <a:rPr lang="fr-FR" dirty="0">
                <a:solidFill>
                  <a:srgbClr val="F2F2F2"/>
                </a:solidFill>
              </a:rPr>
              <a:t>         </a:t>
            </a:r>
            <a:r>
              <a:rPr lang="fr-FR" b="1" dirty="0">
                <a:solidFill>
                  <a:srgbClr val="F2F2F2"/>
                </a:solidFill>
              </a:rPr>
              <a:t> ISAE-</a:t>
            </a:r>
            <a:r>
              <a:rPr lang="fr-FR" b="1" dirty="0" err="1">
                <a:solidFill>
                  <a:srgbClr val="F2F2F2"/>
                </a:solidFill>
              </a:rPr>
              <a:t>Supméca</a:t>
            </a:r>
            <a:r>
              <a:rPr lang="fr-FR" b="1" dirty="0">
                <a:solidFill>
                  <a:srgbClr val="F2F2F2"/>
                </a:solidFill>
              </a:rPr>
              <a:t> </a:t>
            </a:r>
            <a:r>
              <a:rPr lang="fr-FR" dirty="0">
                <a:solidFill>
                  <a:srgbClr val="F2F2F2"/>
                </a:solidFill>
              </a:rPr>
              <a:t>– Institut supérieur de mécanique de Paris          </a:t>
            </a:r>
            <a:r>
              <a:rPr lang="fr-FR" dirty="0">
                <a:solidFill>
                  <a:schemeClr val="tx2"/>
                </a:solidFill>
              </a:rPr>
              <a:t>|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189AD21-9F8B-47CF-9B2C-59971C9A1C69}" type="slidenum">
              <a:rPr lang="fr-FR" smtClean="0">
                <a:solidFill>
                  <a:srgbClr val="F2F2F2"/>
                </a:solidFill>
              </a:rPr>
              <a:pPr/>
              <a:t>3</a:t>
            </a:fld>
            <a:endParaRPr lang="fr-FR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700" b="1">
                <a:solidFill>
                  <a:srgbClr val="222A35"/>
                </a:solidFill>
                <a:latin typeface="Source Sans Pro"/>
              </a:rPr>
              <a:t>Contexte du projet</a:t>
            </a:r>
          </a:p>
        </p:txBody>
      </p:sp>
      <p:sp>
        <p:nvSpPr>
          <p:cNvPr id="3" name="Rectangle 2"/>
          <p:cNvSpPr/>
          <p:nvPr/>
        </p:nvSpPr>
        <p:spPr>
          <a:xfrm>
            <a:off x="484632" y="786384"/>
            <a:ext cx="8174736" cy="38100"/>
          </a:xfrm>
          <a:prstGeom prst="rect">
            <a:avLst/>
          </a:prstGeom>
          <a:solidFill>
            <a:srgbClr val="222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84632" y="1051560"/>
            <a:ext cx="8183879" cy="3520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46888" indent="-246888" algn="l">
              <a:lnSpc>
                <a:spcPct val="105000"/>
              </a:lnSpc>
              <a:spcAft>
                <a:spcPts val="700"/>
              </a:spcAft>
              <a:buNone/>
            </a:pPr>
            <a:r>
              <a:rPr sz="1650" b="1">
                <a:solidFill>
                  <a:srgbClr val="F45F0C"/>
                </a:solidFill>
                <a:latin typeface="Source Sans Pro"/>
              </a:rPr>
              <a:t>▸  </a:t>
            </a:r>
            <a:r>
              <a:rPr sz="1650" b="1">
                <a:solidFill>
                  <a:srgbClr val="222A35"/>
                </a:solidFill>
                <a:latin typeface="Source Sans Pro"/>
              </a:rPr>
              <a:t>Ligne ALIX</a:t>
            </a:r>
            <a:r>
              <a:rPr sz="1650" b="0">
                <a:solidFill>
                  <a:srgbClr val="222A35"/>
                </a:solidFill>
                <a:latin typeface="Source Sans Pro"/>
              </a:rPr>
              <a:t> (ISAE-Supméca) : ligne de production où un bras robotisé récupère des pièces qu'un opérateur humain manipule.</a:t>
            </a:r>
          </a:p>
          <a:p>
            <a:pPr marL="246888" indent="-246888" algn="l">
              <a:lnSpc>
                <a:spcPct val="105000"/>
              </a:lnSpc>
              <a:spcAft>
                <a:spcPts val="700"/>
              </a:spcAft>
              <a:buNone/>
            </a:pPr>
            <a:r>
              <a:rPr sz="1650" b="1">
                <a:solidFill>
                  <a:srgbClr val="F45F0C"/>
                </a:solidFill>
                <a:latin typeface="Source Sans Pro"/>
              </a:rPr>
              <a:t>▸  </a:t>
            </a:r>
            <a:r>
              <a:rPr sz="1650" b="1">
                <a:solidFill>
                  <a:srgbClr val="222A35"/>
                </a:solidFill>
                <a:latin typeface="Source Sans Pro"/>
              </a:rPr>
              <a:t>Robotique collaborative</a:t>
            </a:r>
            <a:r>
              <a:rPr sz="1650" b="0">
                <a:solidFill>
                  <a:srgbClr val="222A35"/>
                </a:solidFill>
                <a:latin typeface="Source Sans Pro"/>
              </a:rPr>
              <a:t> : robot et opérateur partagent le même espace de travail.</a:t>
            </a:r>
          </a:p>
          <a:p>
            <a:pPr marL="521208" indent="-201168" algn="l">
              <a:lnSpc>
                <a:spcPct val="105000"/>
              </a:lnSpc>
              <a:spcAft>
                <a:spcPts val="700"/>
              </a:spcAft>
              <a:buNone/>
            </a:pPr>
            <a:r>
              <a:rPr sz="1650" b="1">
                <a:solidFill>
                  <a:srgbClr val="F68140"/>
                </a:solidFill>
                <a:latin typeface="Source Sans Pro"/>
              </a:rPr>
              <a:t>•  </a:t>
            </a:r>
            <a:r>
              <a:rPr sz="1650" b="0">
                <a:solidFill>
                  <a:srgbClr val="222A35"/>
                </a:solidFill>
                <a:latin typeface="Source Sans Pro"/>
              </a:rPr>
              <a:t>→ enjeux de </a:t>
            </a:r>
            <a:r>
              <a:rPr sz="1650" b="1">
                <a:solidFill>
                  <a:srgbClr val="222A35"/>
                </a:solidFill>
                <a:latin typeface="Source Sans Pro"/>
              </a:rPr>
              <a:t>sécurité</a:t>
            </a:r>
            <a:r>
              <a:rPr sz="1650" b="0">
                <a:solidFill>
                  <a:srgbClr val="222A35"/>
                </a:solidFill>
                <a:latin typeface="Source Sans Pro"/>
              </a:rPr>
              <a:t>, d'</a:t>
            </a:r>
            <a:r>
              <a:rPr sz="1650" b="1">
                <a:solidFill>
                  <a:srgbClr val="222A35"/>
                </a:solidFill>
                <a:latin typeface="Source Sans Pro"/>
              </a:rPr>
              <a:t>ergonomie</a:t>
            </a:r>
            <a:r>
              <a:rPr sz="1650" b="0">
                <a:solidFill>
                  <a:srgbClr val="222A35"/>
                </a:solidFill>
                <a:latin typeface="Source Sans Pro"/>
              </a:rPr>
              <a:t> et d'</a:t>
            </a:r>
            <a:r>
              <a:rPr sz="1650" b="1">
                <a:solidFill>
                  <a:srgbClr val="222A35"/>
                </a:solidFill>
                <a:latin typeface="Source Sans Pro"/>
              </a:rPr>
              <a:t>efficacité</a:t>
            </a:r>
            <a:r>
              <a:rPr sz="1650" b="0">
                <a:solidFill>
                  <a:srgbClr val="222A35"/>
                </a:solidFill>
                <a:latin typeface="Source Sans Pro"/>
              </a:rPr>
              <a:t>.</a:t>
            </a:r>
          </a:p>
          <a:p>
            <a:pPr marL="246888" indent="-246888" algn="l">
              <a:lnSpc>
                <a:spcPct val="105000"/>
              </a:lnSpc>
              <a:spcAft>
                <a:spcPts val="700"/>
              </a:spcAft>
              <a:buNone/>
            </a:pPr>
            <a:r>
              <a:rPr sz="1650" b="1">
                <a:solidFill>
                  <a:srgbClr val="F45F0C"/>
                </a:solidFill>
                <a:latin typeface="Source Sans Pro"/>
              </a:rPr>
              <a:t>▸  </a:t>
            </a:r>
            <a:r>
              <a:rPr sz="1650" b="1">
                <a:solidFill>
                  <a:srgbClr val="222A35"/>
                </a:solidFill>
                <a:latin typeface="Source Sans Pro"/>
              </a:rPr>
              <a:t>La limite</a:t>
            </a:r>
            <a:r>
              <a:rPr sz="1650" b="0">
                <a:solidFill>
                  <a:srgbClr val="222A35"/>
                </a:solidFill>
                <a:latin typeface="Source Sans Pro"/>
              </a:rPr>
              <a:t> : RoboDK modélise finement les robots, mais n'offre </a:t>
            </a:r>
            <a:r>
              <a:rPr sz="1650" b="1">
                <a:solidFill>
                  <a:srgbClr val="222A35"/>
                </a:solidFill>
                <a:latin typeface="Source Sans Pro"/>
              </a:rPr>
              <a:t>aucun modèle humain cinématique pilotable</a:t>
            </a:r>
            <a:r>
              <a:rPr sz="1650" b="0">
                <a:solidFill>
                  <a:srgbClr val="222A35"/>
                </a:solidFill>
                <a:latin typeface="Source Sans Pro"/>
              </a:rPr>
              <a:t>.</a:t>
            </a:r>
          </a:p>
          <a:p>
            <a:pPr marL="246888" indent="-246888" algn="l">
              <a:lnSpc>
                <a:spcPct val="105000"/>
              </a:lnSpc>
              <a:spcAft>
                <a:spcPts val="700"/>
              </a:spcAft>
              <a:buNone/>
            </a:pPr>
            <a:r>
              <a:rPr sz="1650" b="1">
                <a:solidFill>
                  <a:srgbClr val="F45F0C"/>
                </a:solidFill>
                <a:latin typeface="Source Sans Pro"/>
              </a:rPr>
              <a:t>▸  </a:t>
            </a:r>
            <a:r>
              <a:rPr sz="1650" b="1">
                <a:solidFill>
                  <a:srgbClr val="222A35"/>
                </a:solidFill>
                <a:latin typeface="Source Sans Pro"/>
              </a:rPr>
              <a:t>Problématique</a:t>
            </a:r>
            <a:r>
              <a:rPr sz="1650" b="0">
                <a:solidFill>
                  <a:srgbClr val="222A35"/>
                </a:solidFill>
                <a:latin typeface="Source Sans Pro"/>
              </a:rPr>
              <a:t> : comment doter RoboDK d'un opérateur humain articulé et pilotable pour simuler des scénarios d'interaction homme-robot ?</a:t>
            </a:r>
            <a:r>
              <a:rPr sz="1650" b="1">
                <a:solidFill>
                  <a:srgbClr val="222A35"/>
                </a:solidFill>
                <a:latin typeface="Source Sans Pro"/>
              </a:rPr>
              <a:t/>
            </a:r>
            <a:r>
              <a:rPr sz="1650" b="0">
                <a:solidFill>
                  <a:srgbClr val="222A35"/>
                </a:solidFill>
                <a:latin typeface="Source Sans Pro"/>
              </a:rPr>
              <a:t/>
            </a:r>
          </a:p>
        </p:txBody>
      </p:sp>
      <p:sp>
        <p:nvSpPr>
          <p:cNvPr id="9" name="Espace réservé du pied de page 8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fr-FR" dirty="0">
                <a:solidFill>
                  <a:schemeClr val="tx2"/>
                </a:solidFill>
              </a:rPr>
              <a:t>|</a:t>
            </a:r>
            <a:r>
              <a:rPr lang="fr-FR" dirty="0">
                <a:solidFill>
                  <a:srgbClr val="222A35"/>
                </a:solidFill>
              </a:rPr>
              <a:t>          </a:t>
            </a:r>
            <a:r>
              <a:rPr lang="fr-FR" b="1" dirty="0">
                <a:solidFill>
                  <a:srgbClr val="222A35"/>
                </a:solidFill>
              </a:rPr>
              <a:t>ISAE-</a:t>
            </a:r>
            <a:r>
              <a:rPr lang="fr-FR" b="1" dirty="0" err="1">
                <a:solidFill>
                  <a:srgbClr val="222A35"/>
                </a:solidFill>
              </a:rPr>
              <a:t>Supméca</a:t>
            </a:r>
            <a:r>
              <a:rPr lang="fr-FR" dirty="0">
                <a:solidFill>
                  <a:srgbClr val="222A35"/>
                </a:solidFill>
              </a:rPr>
              <a:t> – Institut supérieur de mécanique de Paris          </a:t>
            </a:r>
            <a:r>
              <a:rPr lang="fr-FR" dirty="0">
                <a:solidFill>
                  <a:schemeClr val="tx2"/>
                </a:solidFill>
              </a:rPr>
              <a:t>|</a:t>
            </a:r>
          </a:p>
        </p:txBody>
      </p:sp>
      <p:sp>
        <p:nvSpPr>
          <p:cNvPr id="10" name="Espace réservé du numéro de diapositive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189AD21-9F8B-47CF-9B2C-59971C9A1C69}" type="slidenum">
              <a:rPr lang="fr-FR" smtClean="0"/>
              <a:pPr/>
              <a:t>4</a:t>
            </a:fld>
            <a:endParaRPr lang="fr-FR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700" b="1">
                <a:solidFill>
                  <a:srgbClr val="222A35"/>
                </a:solidFill>
                <a:latin typeface="Source Sans Pro"/>
              </a:rPr>
              <a:t>Objectifs</a:t>
            </a:r>
          </a:p>
        </p:txBody>
      </p:sp>
      <p:sp>
        <p:nvSpPr>
          <p:cNvPr id="3" name="Rectangle 2"/>
          <p:cNvSpPr/>
          <p:nvPr/>
        </p:nvSpPr>
        <p:spPr>
          <a:xfrm>
            <a:off x="484632" y="786384"/>
            <a:ext cx="8174736" cy="38100"/>
          </a:xfrm>
          <a:prstGeom prst="rect">
            <a:avLst/>
          </a:prstGeom>
          <a:solidFill>
            <a:srgbClr val="222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84632" y="1024128"/>
            <a:ext cx="8183879" cy="3520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46888" indent="-246888" algn="l">
              <a:lnSpc>
                <a:spcPct val="105000"/>
              </a:lnSpc>
              <a:spcAft>
                <a:spcPts val="700"/>
              </a:spcAft>
              <a:buNone/>
            </a:pPr>
            <a:r>
              <a:rPr sz="1600" b="1">
                <a:solidFill>
                  <a:srgbClr val="F45F0C"/>
                </a:solidFill>
                <a:latin typeface="Source Sans Pro"/>
              </a:rPr>
              <a:t>▸  </a:t>
            </a:r>
            <a:r>
              <a:rPr sz="1600" b="1">
                <a:solidFill>
                  <a:srgbClr val="222A35"/>
                </a:solidFill>
                <a:latin typeface="Source Sans Pro"/>
              </a:rPr>
              <a:t>Objectif principal</a:t>
            </a:r>
            <a:r>
              <a:rPr sz="1600" b="0">
                <a:solidFill>
                  <a:srgbClr val="222A35"/>
                </a:solidFill>
                <a:latin typeface="Source Sans Pro"/>
              </a:rPr>
              <a:t> : représenter dans RoboDK un opérateur articulé, le faire se déplacer et manipuler des pièces, puis simuler des scénarios d'interaction homme-robot.</a:t>
            </a:r>
          </a:p>
          <a:p>
            <a:pPr marL="246888" indent="-246888" algn="l">
              <a:lnSpc>
                <a:spcPct val="105000"/>
              </a:lnSpc>
              <a:spcAft>
                <a:spcPts val="700"/>
              </a:spcAft>
              <a:buNone/>
            </a:pPr>
            <a:r>
              <a:rPr sz="1600" b="1">
                <a:solidFill>
                  <a:srgbClr val="F45F0C"/>
                </a:solidFill>
                <a:latin typeface="Source Sans Pro"/>
              </a:rPr>
              <a:t>▸  </a:t>
            </a:r>
            <a:r>
              <a:rPr sz="1600" b="1">
                <a:solidFill>
                  <a:srgbClr val="222A35"/>
                </a:solidFill>
                <a:latin typeface="Source Sans Pro"/>
              </a:rPr>
              <a:t>Objectifs détaillés :</a:t>
            </a:r>
          </a:p>
          <a:p>
            <a:pPr marL="521208" indent="-201168" algn="l">
              <a:lnSpc>
                <a:spcPct val="105000"/>
              </a:lnSpc>
              <a:spcAft>
                <a:spcPts val="700"/>
              </a:spcAft>
              <a:buNone/>
            </a:pPr>
            <a:r>
              <a:rPr sz="1600" b="1">
                <a:solidFill>
                  <a:srgbClr val="F68140"/>
                </a:solidFill>
                <a:latin typeface="Source Sans Pro"/>
              </a:rPr>
              <a:t>•  </a:t>
            </a:r>
            <a:r>
              <a:rPr sz="1600" b="0">
                <a:solidFill>
                  <a:srgbClr val="222A35"/>
                </a:solidFill>
                <a:latin typeface="Source Sans Pro"/>
              </a:rPr>
              <a:t>développer un modèle cinématique simplifié du mannequin</a:t>
            </a:r>
          </a:p>
          <a:p>
            <a:pPr marL="521208" indent="-201168" algn="l">
              <a:lnSpc>
                <a:spcPct val="105000"/>
              </a:lnSpc>
              <a:spcAft>
                <a:spcPts val="700"/>
              </a:spcAft>
              <a:buNone/>
            </a:pPr>
            <a:r>
              <a:rPr sz="1600" b="1">
                <a:solidFill>
                  <a:srgbClr val="F68140"/>
                </a:solidFill>
                <a:latin typeface="Source Sans Pro"/>
              </a:rPr>
              <a:t>•  </a:t>
            </a:r>
            <a:r>
              <a:rPr sz="1600" b="0">
                <a:solidFill>
                  <a:srgbClr val="222A35"/>
                </a:solidFill>
                <a:latin typeface="Source Sans Pro"/>
              </a:rPr>
              <a:t>générer les mouvements des membres inférieurs (locomotion)</a:t>
            </a:r>
          </a:p>
          <a:p>
            <a:pPr marL="521208" indent="-201168" algn="l">
              <a:lnSpc>
                <a:spcPct val="105000"/>
              </a:lnSpc>
              <a:spcAft>
                <a:spcPts val="700"/>
              </a:spcAft>
              <a:buNone/>
            </a:pPr>
            <a:r>
              <a:rPr sz="1600" b="1">
                <a:solidFill>
                  <a:srgbClr val="F68140"/>
                </a:solidFill>
                <a:latin typeface="Source Sans Pro"/>
              </a:rPr>
              <a:t>•  </a:t>
            </a:r>
            <a:r>
              <a:rPr sz="1600" b="0">
                <a:solidFill>
                  <a:srgbClr val="222A35"/>
                </a:solidFill>
                <a:latin typeface="Source Sans Pro"/>
              </a:rPr>
              <a:t>générer les mouvements des membres supérieurs (manipulation)</a:t>
            </a:r>
          </a:p>
          <a:p>
            <a:pPr marL="521208" indent="-201168" algn="l">
              <a:lnSpc>
                <a:spcPct val="105000"/>
              </a:lnSpc>
              <a:spcAft>
                <a:spcPts val="700"/>
              </a:spcAft>
              <a:buNone/>
            </a:pPr>
            <a:r>
              <a:rPr sz="1600" b="1">
                <a:solidFill>
                  <a:srgbClr val="F68140"/>
                </a:solidFill>
                <a:latin typeface="Source Sans Pro"/>
              </a:rPr>
              <a:t>•  </a:t>
            </a:r>
            <a:r>
              <a:rPr sz="1600" b="0">
                <a:solidFill>
                  <a:srgbClr val="222A35"/>
                </a:solidFill>
                <a:latin typeface="Source Sans Pro"/>
              </a:rPr>
              <a:t>simuler des scénarios d'interaction homme-robot</a:t>
            </a:r>
          </a:p>
          <a:p>
            <a:pPr marL="521208" indent="-201168" algn="l">
              <a:lnSpc>
                <a:spcPct val="105000"/>
              </a:lnSpc>
              <a:spcAft>
                <a:spcPts val="700"/>
              </a:spcAft>
              <a:buNone/>
            </a:pPr>
            <a:r>
              <a:rPr sz="1600" b="1">
                <a:solidFill>
                  <a:srgbClr val="F68140"/>
                </a:solidFill>
                <a:latin typeface="Source Sans Pro"/>
              </a:rPr>
              <a:t>•  </a:t>
            </a:r>
            <a:r>
              <a:rPr sz="1600" b="0">
                <a:solidFill>
                  <a:srgbClr val="222A35"/>
                </a:solidFill>
                <a:latin typeface="Source Sans Pro"/>
              </a:rPr>
              <a:t>analyser sécurité et ergonomie de ces interactions</a:t>
            </a:r>
          </a:p>
        </p:txBody>
      </p:sp>
      <p:sp>
        <p:nvSpPr>
          <p:cNvPr id="9" name="Espace réservé du pied de page 8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fr-FR" dirty="0">
                <a:solidFill>
                  <a:schemeClr val="tx2"/>
                </a:solidFill>
              </a:rPr>
              <a:t>|</a:t>
            </a:r>
            <a:r>
              <a:rPr lang="fr-FR" dirty="0">
                <a:solidFill>
                  <a:srgbClr val="222A35"/>
                </a:solidFill>
              </a:rPr>
              <a:t>          </a:t>
            </a:r>
            <a:r>
              <a:rPr lang="fr-FR" b="1" dirty="0">
                <a:solidFill>
                  <a:srgbClr val="222A35"/>
                </a:solidFill>
              </a:rPr>
              <a:t>ISAE-</a:t>
            </a:r>
            <a:r>
              <a:rPr lang="fr-FR" b="1" dirty="0" err="1">
                <a:solidFill>
                  <a:srgbClr val="222A35"/>
                </a:solidFill>
              </a:rPr>
              <a:t>Supméca</a:t>
            </a:r>
            <a:r>
              <a:rPr lang="fr-FR" dirty="0">
                <a:solidFill>
                  <a:srgbClr val="222A35"/>
                </a:solidFill>
              </a:rPr>
              <a:t> – Institut supérieur de mécanique de Paris          </a:t>
            </a:r>
            <a:r>
              <a:rPr lang="fr-FR" dirty="0">
                <a:solidFill>
                  <a:schemeClr val="tx2"/>
                </a:solidFill>
              </a:rPr>
              <a:t>|</a:t>
            </a:r>
          </a:p>
        </p:txBody>
      </p:sp>
      <p:sp>
        <p:nvSpPr>
          <p:cNvPr id="10" name="Espace réservé du numéro de diapositive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189AD21-9F8B-47CF-9B2C-59971C9A1C69}" type="slidenum">
              <a:rPr lang="fr-FR" smtClean="0"/>
              <a:pPr/>
              <a:t>5</a:t>
            </a:fld>
            <a:endParaRPr lang="fr-FR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700" b="1">
                <a:solidFill>
                  <a:srgbClr val="222A35"/>
                </a:solidFill>
                <a:latin typeface="Source Sans Pro"/>
              </a:rPr>
              <a:t>Travail collaboratif &amp; répartition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84632" y="786384"/>
            <a:ext cx="8174736" cy="38100"/>
          </a:xfrm>
          <a:prstGeom prst="rect">
            <a:avLst/>
          </a:prstGeom>
          <a:solidFill>
            <a:srgbClr val="222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84632" y="914400"/>
            <a:ext cx="818387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22A35"/>
                </a:solidFill>
                <a:latin typeface="Source Sans Pro"/>
              </a:rPr>
              <a:t>3 flux menés </a:t>
            </a:r>
            <a:r>
              <a:rPr sz="1300" b="1">
                <a:solidFill>
                  <a:srgbClr val="F45F0C"/>
                </a:solidFill>
                <a:latin typeface="Source Sans Pro"/>
              </a:rPr>
              <a:t>en parallèle</a:t>
            </a:r>
            <a:r>
              <a:rPr sz="1300" b="0">
                <a:solidFill>
                  <a:srgbClr val="222A35"/>
                </a:solidFill>
                <a:latin typeface="Source Sans Pro"/>
              </a:rPr>
              <a:t> · synchros hebdomadaires (réunions encadrants) · dépôt </a:t>
            </a:r>
            <a:r>
              <a:rPr sz="1300" b="1">
                <a:solidFill>
                  <a:srgbClr val="F45F0C"/>
                </a:solidFill>
                <a:latin typeface="Source Sans Pro"/>
              </a:rPr>
              <a:t>GitHub commun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84632" y="1481328"/>
            <a:ext cx="2615184" cy="2697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394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84632" y="1481328"/>
            <a:ext cx="2615184" cy="566928"/>
          </a:xfrm>
          <a:prstGeom prst="roundRect">
            <a:avLst>
              <a:gd name="adj" fmla="val 6000"/>
            </a:avLst>
          </a:prstGeom>
          <a:solidFill>
            <a:srgbClr val="F45F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84632" y="1517904"/>
            <a:ext cx="261518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2F2F2"/>
                </a:solidFill>
                <a:latin typeface="Source Sans Pro"/>
              </a:rPr>
              <a:t>Niko</a:t>
            </a:r>
          </a:p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050" b="1">
                <a:solidFill>
                  <a:srgbClr val="F2F2F2"/>
                </a:solidFill>
                <a:latin typeface="Source Sans Pro"/>
              </a:rPr>
              <a:t>Développement technique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" y="2139696"/>
            <a:ext cx="2340864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46888" indent="-246888" algn="l">
              <a:lnSpc>
                <a:spcPct val="100000"/>
              </a:lnSpc>
              <a:spcAft>
                <a:spcPts val="500"/>
              </a:spcAft>
              <a:buNone/>
            </a:pPr>
            <a:r>
              <a:rPr sz="1150" b="1">
                <a:solidFill>
                  <a:srgbClr val="F45F0C"/>
                </a:solidFill>
                <a:latin typeface="Source Sans Pro"/>
              </a:rPr>
              <a:t>▸  </a:t>
            </a:r>
            <a:r>
              <a:rPr sz="1150" b="0">
                <a:solidFill>
                  <a:srgbClr val="222A35"/>
                </a:solidFill>
                <a:latin typeface="Source Sans Pro"/>
              </a:rPr>
              <a:t>Recherche &amp; choix de l'approche cinématique</a:t>
            </a:r>
          </a:p>
          <a:p>
            <a:pPr marL="246888" indent="-246888" algn="l">
              <a:lnSpc>
                <a:spcPct val="100000"/>
              </a:lnSpc>
              <a:spcAft>
                <a:spcPts val="500"/>
              </a:spcAft>
              <a:buNone/>
            </a:pPr>
            <a:r>
              <a:rPr sz="1150" b="1">
                <a:solidFill>
                  <a:srgbClr val="F45F0C"/>
                </a:solidFill>
                <a:latin typeface="Source Sans Pro"/>
              </a:rPr>
              <a:t>▸  </a:t>
            </a:r>
            <a:r>
              <a:rPr sz="1150" b="0">
                <a:solidFill>
                  <a:srgbClr val="222A35"/>
                </a:solidFill>
                <a:latin typeface="Source Sans Pro"/>
              </a:rPr>
              <a:t>Import / reconstruction du mannequin (RoboDK)</a:t>
            </a:r>
          </a:p>
          <a:p>
            <a:pPr marL="246888" indent="-246888" algn="l">
              <a:lnSpc>
                <a:spcPct val="100000"/>
              </a:lnSpc>
              <a:spcAft>
                <a:spcPts val="500"/>
              </a:spcAft>
              <a:buNone/>
            </a:pPr>
            <a:r>
              <a:rPr sz="1150" b="1">
                <a:solidFill>
                  <a:srgbClr val="F45F0C"/>
                </a:solidFill>
                <a:latin typeface="Source Sans Pro"/>
              </a:rPr>
              <a:t>▸  </a:t>
            </a:r>
            <a:r>
              <a:rPr sz="1150" b="0">
                <a:solidFill>
                  <a:srgbClr val="222A35"/>
                </a:solidFill>
                <a:latin typeface="Source Sans Pro"/>
              </a:rPr>
              <a:t>Tableau des 22 DDL + formulation</a:t>
            </a:r>
          </a:p>
          <a:p>
            <a:pPr marL="246888" indent="-246888" algn="l">
              <a:lnSpc>
                <a:spcPct val="100000"/>
              </a:lnSpc>
              <a:spcAft>
                <a:spcPts val="500"/>
              </a:spcAft>
              <a:buNone/>
            </a:pPr>
            <a:r>
              <a:rPr sz="1150" b="1">
                <a:solidFill>
                  <a:srgbClr val="F45F0C"/>
                </a:solidFill>
                <a:latin typeface="Source Sans Pro"/>
              </a:rPr>
              <a:t>▸  </a:t>
            </a:r>
            <a:r>
              <a:rPr sz="1150" b="0">
                <a:solidFill>
                  <a:srgbClr val="222A35"/>
                </a:solidFill>
                <a:latin typeface="Source Sans Pro"/>
              </a:rPr>
              <a:t>Animations : marches &amp; manipulation</a:t>
            </a:r>
          </a:p>
          <a:p>
            <a:pPr marL="246888" indent="-246888" algn="l">
              <a:lnSpc>
                <a:spcPct val="100000"/>
              </a:lnSpc>
              <a:spcAft>
                <a:spcPts val="500"/>
              </a:spcAft>
              <a:buNone/>
            </a:pPr>
            <a:r>
              <a:rPr sz="1150" b="1">
                <a:solidFill>
                  <a:srgbClr val="F45F0C"/>
                </a:solidFill>
                <a:latin typeface="Source Sans Pro"/>
              </a:rPr>
              <a:t>▸  </a:t>
            </a:r>
            <a:r>
              <a:rPr sz="1150" b="0">
                <a:solidFill>
                  <a:srgbClr val="222A35"/>
                </a:solidFill>
                <a:latin typeface="Source Sans Pro"/>
              </a:rPr>
              <a:t>Démonstration technique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64408" y="1481328"/>
            <a:ext cx="2615184" cy="2697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394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264408" y="1481328"/>
            <a:ext cx="2615184" cy="566928"/>
          </a:xfrm>
          <a:prstGeom prst="roundRect">
            <a:avLst>
              <a:gd name="adj" fmla="val 6000"/>
            </a:avLst>
          </a:prstGeom>
          <a:solidFill>
            <a:srgbClr val="F45F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264408" y="1517904"/>
            <a:ext cx="261518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2F2F2"/>
                </a:solidFill>
                <a:latin typeface="Source Sans Pro"/>
              </a:rPr>
              <a:t>Luc</a:t>
            </a:r>
          </a:p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050" b="1">
                <a:solidFill>
                  <a:srgbClr val="F2F2F2"/>
                </a:solidFill>
                <a:latin typeface="Source Sans Pro"/>
              </a:rPr>
              <a:t>Sécurité &amp; normes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10712" y="2139696"/>
            <a:ext cx="2340864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46888" indent="-246888" algn="l">
              <a:lnSpc>
                <a:spcPct val="100000"/>
              </a:lnSpc>
              <a:spcAft>
                <a:spcPts val="500"/>
              </a:spcAft>
              <a:buNone/>
            </a:pPr>
            <a:r>
              <a:rPr sz="1150" b="1">
                <a:solidFill>
                  <a:srgbClr val="F45F0C"/>
                </a:solidFill>
                <a:latin typeface="Source Sans Pro"/>
              </a:rPr>
              <a:t>▸  </a:t>
            </a:r>
            <a:r>
              <a:rPr sz="1150" b="0">
                <a:solidFill>
                  <a:srgbClr val="222A35"/>
                </a:solidFill>
                <a:latin typeface="Source Sans Pro"/>
              </a:rPr>
              <a:t>Interactions homme-robot</a:t>
            </a:r>
          </a:p>
          <a:p>
            <a:pPr marL="246888" indent="-246888" algn="l">
              <a:lnSpc>
                <a:spcPct val="100000"/>
              </a:lnSpc>
              <a:spcAft>
                <a:spcPts val="500"/>
              </a:spcAft>
              <a:buNone/>
            </a:pPr>
            <a:r>
              <a:rPr sz="1150" b="1">
                <a:solidFill>
                  <a:srgbClr val="F45F0C"/>
                </a:solidFill>
                <a:latin typeface="Source Sans Pro"/>
              </a:rPr>
              <a:t>▸  </a:t>
            </a:r>
            <a:r>
              <a:rPr sz="1150" b="0">
                <a:solidFill>
                  <a:srgbClr val="222A35"/>
                </a:solidFill>
                <a:latin typeface="Source Sans Pro"/>
              </a:rPr>
              <a:t>Normes &amp; distances de sécurité</a:t>
            </a:r>
          </a:p>
          <a:p>
            <a:pPr marL="246888" indent="-246888" algn="l">
              <a:lnSpc>
                <a:spcPct val="100000"/>
              </a:lnSpc>
              <a:spcAft>
                <a:spcPts val="500"/>
              </a:spcAft>
              <a:buNone/>
            </a:pPr>
            <a:r>
              <a:rPr sz="1150" b="1">
                <a:solidFill>
                  <a:srgbClr val="F45F0C"/>
                </a:solidFill>
                <a:latin typeface="Source Sans Pro"/>
              </a:rPr>
              <a:t>▸  </a:t>
            </a:r>
            <a:r>
              <a:rPr sz="1150" b="0">
                <a:solidFill>
                  <a:srgbClr val="222A35"/>
                </a:solidFill>
                <a:latin typeface="Source Sans Pro"/>
              </a:rPr>
              <a:t>Règles de ralentissement / arrêt</a:t>
            </a:r>
          </a:p>
          <a:p>
            <a:pPr marL="246888" indent="-246888" algn="l">
              <a:lnSpc>
                <a:spcPct val="100000"/>
              </a:lnSpc>
              <a:spcAft>
                <a:spcPts val="500"/>
              </a:spcAft>
              <a:buNone/>
            </a:pPr>
            <a:r>
              <a:rPr sz="1150" b="1">
                <a:solidFill>
                  <a:srgbClr val="F45F0C"/>
                </a:solidFill>
                <a:latin typeface="Source Sans Pro"/>
              </a:rPr>
              <a:t>▸  </a:t>
            </a:r>
            <a:r>
              <a:rPr sz="1150" b="0">
                <a:solidFill>
                  <a:srgbClr val="222A35"/>
                </a:solidFill>
                <a:latin typeface="Source Sans Pro"/>
              </a:rPr>
              <a:t>Critères de validation</a:t>
            </a:r>
          </a:p>
          <a:p>
            <a:pPr marL="246888" indent="-246888" algn="l">
              <a:lnSpc>
                <a:spcPct val="100000"/>
              </a:lnSpc>
              <a:spcAft>
                <a:spcPts val="500"/>
              </a:spcAft>
              <a:buNone/>
            </a:pPr>
            <a:r>
              <a:rPr sz="1150" b="1">
                <a:solidFill>
                  <a:srgbClr val="F45F0C"/>
                </a:solidFill>
                <a:latin typeface="Source Sans Pro"/>
              </a:rPr>
              <a:t>▸  </a:t>
            </a:r>
            <a:r>
              <a:rPr sz="1150" b="0">
                <a:solidFill>
                  <a:srgbClr val="222A35"/>
                </a:solidFill>
                <a:latin typeface="Source Sans Pro"/>
              </a:rPr>
              <a:t>Analyse des résultats (rapport)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44184" y="1481328"/>
            <a:ext cx="2615184" cy="2697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394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044184" y="1481328"/>
            <a:ext cx="2615184" cy="566928"/>
          </a:xfrm>
          <a:prstGeom prst="roundRect">
            <a:avLst>
              <a:gd name="adj" fmla="val 6000"/>
            </a:avLst>
          </a:prstGeom>
          <a:solidFill>
            <a:srgbClr val="F45F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044184" y="1517904"/>
            <a:ext cx="261518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2F2F2"/>
                </a:solidFill>
                <a:latin typeface="Source Sans Pro"/>
              </a:rPr>
              <a:t>Alex</a:t>
            </a:r>
          </a:p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050" b="1">
                <a:solidFill>
                  <a:srgbClr val="F2F2F2"/>
                </a:solidFill>
                <a:latin typeface="Source Sans Pro"/>
              </a:rPr>
              <a:t>Cadrage &amp; livrables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90488" y="2139696"/>
            <a:ext cx="2340864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46888" indent="-246888" algn="l">
              <a:lnSpc>
                <a:spcPct val="100000"/>
              </a:lnSpc>
              <a:spcAft>
                <a:spcPts val="500"/>
              </a:spcAft>
              <a:buNone/>
            </a:pPr>
            <a:r>
              <a:rPr sz="1150" b="1">
                <a:solidFill>
                  <a:srgbClr val="F45F0C"/>
                </a:solidFill>
                <a:latin typeface="Source Sans Pro"/>
              </a:rPr>
              <a:t>▸  </a:t>
            </a:r>
            <a:r>
              <a:rPr sz="1150" b="0">
                <a:solidFill>
                  <a:srgbClr val="222A35"/>
                </a:solidFill>
                <a:latin typeface="Source Sans Pro"/>
              </a:rPr>
              <a:t>Contexte &amp; scénarios</a:t>
            </a:r>
          </a:p>
          <a:p>
            <a:pPr marL="246888" indent="-246888" algn="l">
              <a:lnSpc>
                <a:spcPct val="100000"/>
              </a:lnSpc>
              <a:spcAft>
                <a:spcPts val="500"/>
              </a:spcAft>
              <a:buNone/>
            </a:pPr>
            <a:r>
              <a:rPr sz="1150" b="1">
                <a:solidFill>
                  <a:srgbClr val="F45F0C"/>
                </a:solidFill>
                <a:latin typeface="Source Sans Pro"/>
              </a:rPr>
              <a:t>▸  </a:t>
            </a:r>
            <a:r>
              <a:rPr sz="1150" b="0">
                <a:solidFill>
                  <a:srgbClr val="222A35"/>
                </a:solidFill>
                <a:latin typeface="Source Sans Pro"/>
              </a:rPr>
              <a:t>Exigences fonctionnelles</a:t>
            </a:r>
          </a:p>
          <a:p>
            <a:pPr marL="246888" indent="-246888" algn="l">
              <a:lnSpc>
                <a:spcPct val="100000"/>
              </a:lnSpc>
              <a:spcAft>
                <a:spcPts val="500"/>
              </a:spcAft>
              <a:buNone/>
            </a:pPr>
            <a:r>
              <a:rPr sz="1150" b="1">
                <a:solidFill>
                  <a:srgbClr val="F45F0C"/>
                </a:solidFill>
                <a:latin typeface="Source Sans Pro"/>
              </a:rPr>
              <a:t>▸  </a:t>
            </a:r>
            <a:r>
              <a:rPr sz="1150" b="0">
                <a:solidFill>
                  <a:srgbClr val="222A35"/>
                </a:solidFill>
                <a:latin typeface="Source Sans Pro"/>
              </a:rPr>
              <a:t>Cahier des charges</a:t>
            </a:r>
          </a:p>
          <a:p>
            <a:pPr marL="246888" indent="-246888" algn="l">
              <a:lnSpc>
                <a:spcPct val="100000"/>
              </a:lnSpc>
              <a:spcAft>
                <a:spcPts val="500"/>
              </a:spcAft>
              <a:buNone/>
            </a:pPr>
            <a:r>
              <a:rPr sz="1150" b="1">
                <a:solidFill>
                  <a:srgbClr val="F45F0C"/>
                </a:solidFill>
                <a:latin typeface="Source Sans Pro"/>
              </a:rPr>
              <a:t>▸  </a:t>
            </a:r>
            <a:r>
              <a:rPr sz="1150" b="0">
                <a:solidFill>
                  <a:srgbClr val="222A35"/>
                </a:solidFill>
                <a:latin typeface="Source Sans Pro"/>
              </a:rPr>
              <a:t>Structuration du rapport</a:t>
            </a:r>
          </a:p>
          <a:p>
            <a:pPr marL="246888" indent="-246888" algn="l">
              <a:lnSpc>
                <a:spcPct val="100000"/>
              </a:lnSpc>
              <a:spcAft>
                <a:spcPts val="500"/>
              </a:spcAft>
              <a:buNone/>
            </a:pPr>
            <a:r>
              <a:rPr sz="1150" b="1">
                <a:solidFill>
                  <a:srgbClr val="F45F0C"/>
                </a:solidFill>
                <a:latin typeface="Source Sans Pro"/>
              </a:rPr>
              <a:t>▸  </a:t>
            </a:r>
            <a:r>
              <a:rPr sz="1150" b="0">
                <a:solidFill>
                  <a:srgbClr val="222A35"/>
                </a:solidFill>
                <a:latin typeface="Source Sans Pro"/>
              </a:rPr>
              <a:t>Captures &amp; support de soutenance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" y="4343400"/>
            <a:ext cx="818387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45F0C"/>
                </a:solidFill>
                <a:latin typeface="Source Sans Pro"/>
              </a:rPr>
              <a:t>Calendrier : </a:t>
            </a:r>
            <a:r>
              <a:rPr sz="1200" b="0">
                <a:solidFill>
                  <a:srgbClr val="222A35"/>
                </a:solidFill>
                <a:latin typeface="Source Sans Pro"/>
              </a:rPr>
              <a:t>S0 (20 avril) → soutenance (24 juin) · 9 semaines · jalons hebdomadaires</a:t>
            </a:r>
          </a:p>
        </p:txBody>
      </p:sp>
      <p:sp>
        <p:nvSpPr>
          <p:cNvPr id="18" name="Espace réservé du pied de page 8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fr-FR" dirty="0">
                <a:solidFill>
                  <a:schemeClr val="tx2"/>
                </a:solidFill>
              </a:rPr>
              <a:t>|</a:t>
            </a:r>
            <a:r>
              <a:rPr lang="fr-FR" dirty="0">
                <a:solidFill>
                  <a:srgbClr val="222A35"/>
                </a:solidFill>
              </a:rPr>
              <a:t>          </a:t>
            </a:r>
            <a:r>
              <a:rPr lang="fr-FR" b="1" dirty="0">
                <a:solidFill>
                  <a:srgbClr val="222A35"/>
                </a:solidFill>
              </a:rPr>
              <a:t>ISAE-</a:t>
            </a:r>
            <a:r>
              <a:rPr lang="fr-FR" b="1" dirty="0" err="1">
                <a:solidFill>
                  <a:srgbClr val="222A35"/>
                </a:solidFill>
              </a:rPr>
              <a:t>Supméca</a:t>
            </a:r>
            <a:r>
              <a:rPr lang="fr-FR" dirty="0">
                <a:solidFill>
                  <a:srgbClr val="222A35"/>
                </a:solidFill>
              </a:rPr>
              <a:t> – Institut supérieur de mécanique de Paris          </a:t>
            </a:r>
            <a:r>
              <a:rPr lang="fr-FR" dirty="0">
                <a:solidFill>
                  <a:schemeClr val="tx2"/>
                </a:solidFill>
              </a:rPr>
              <a:t>|</a:t>
            </a:r>
          </a:p>
        </p:txBody>
      </p:sp>
      <p:sp>
        <p:nvSpPr>
          <p:cNvPr id="19" name="Espace réservé du numéro de diapositive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189AD21-9F8B-47CF-9B2C-59971C9A1C69}" type="slidenum">
              <a:rPr lang="fr-FR" smtClean="0"/>
              <a:pPr/>
              <a:t>6</a:t>
            </a:fld>
            <a:endParaRPr lang="fr-FR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A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502920"/>
            <a:ext cx="365760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0" b="1">
                <a:solidFill>
                  <a:srgbClr val="394555"/>
                </a:solidFill>
                <a:latin typeface="Source Sans Pro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148840"/>
            <a:ext cx="7772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45F0C"/>
                </a:solidFill>
                <a:latin typeface="Source Sans Pro"/>
              </a:rPr>
              <a:t>PARTIE 2 / 6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2606040"/>
            <a:ext cx="50800" cy="1280160"/>
          </a:xfrm>
          <a:prstGeom prst="rect">
            <a:avLst/>
          </a:prstGeom>
          <a:solidFill>
            <a:srgbClr val="F45F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2560320"/>
            <a:ext cx="76809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Source Sans Pro"/>
              </a:rPr>
              <a:t>Cahier des charges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>
                <a:solidFill>
                  <a:srgbClr val="ADB4BD"/>
                </a:solidFill>
                <a:latin typeface="Source Sans Pro"/>
              </a:rPr>
              <a:t>Scénarios étudiés, exigences, périmètre</a:t>
            </a:r>
          </a:p>
        </p:txBody>
      </p:sp>
      <p:sp>
        <p:nvSpPr>
          <p:cNvPr id="7" name="Espace réservé du pied de page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fr-FR" dirty="0">
                <a:solidFill>
                  <a:schemeClr val="tx2"/>
                </a:solidFill>
              </a:rPr>
              <a:t>|</a:t>
            </a:r>
            <a:r>
              <a:rPr lang="fr-FR" dirty="0">
                <a:solidFill>
                  <a:srgbClr val="F2F2F2"/>
                </a:solidFill>
              </a:rPr>
              <a:t>         </a:t>
            </a:r>
            <a:r>
              <a:rPr lang="fr-FR" b="1" dirty="0">
                <a:solidFill>
                  <a:srgbClr val="F2F2F2"/>
                </a:solidFill>
              </a:rPr>
              <a:t> ISAE-</a:t>
            </a:r>
            <a:r>
              <a:rPr lang="fr-FR" b="1" dirty="0" err="1">
                <a:solidFill>
                  <a:srgbClr val="F2F2F2"/>
                </a:solidFill>
              </a:rPr>
              <a:t>Supméca</a:t>
            </a:r>
            <a:r>
              <a:rPr lang="fr-FR" b="1" dirty="0">
                <a:solidFill>
                  <a:srgbClr val="F2F2F2"/>
                </a:solidFill>
              </a:rPr>
              <a:t> </a:t>
            </a:r>
            <a:r>
              <a:rPr lang="fr-FR" dirty="0">
                <a:solidFill>
                  <a:srgbClr val="F2F2F2"/>
                </a:solidFill>
              </a:rPr>
              <a:t>– Institut supérieur de mécanique de Paris          </a:t>
            </a:r>
            <a:r>
              <a:rPr lang="fr-FR" dirty="0">
                <a:solidFill>
                  <a:schemeClr val="tx2"/>
                </a:solidFill>
              </a:rPr>
              <a:t>|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189AD21-9F8B-47CF-9B2C-59971C9A1C69}" type="slidenum">
              <a:rPr lang="fr-FR" smtClean="0">
                <a:solidFill>
                  <a:srgbClr val="F2F2F2"/>
                </a:solidFill>
              </a:rPr>
              <a:pPr/>
              <a:t>7</a:t>
            </a:fld>
            <a:endParaRPr lang="fr-FR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700" b="1">
                <a:solidFill>
                  <a:srgbClr val="222A35"/>
                </a:solidFill>
                <a:latin typeface="Source Sans Pro"/>
              </a:rPr>
              <a:t>Scénario 1 — Coexistence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484632" y="786384"/>
            <a:ext cx="8174736" cy="38100"/>
          </a:xfrm>
          <a:prstGeom prst="rect">
            <a:avLst/>
          </a:prstGeom>
          <a:solidFill>
            <a:srgbClr val="222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84632" y="1024128"/>
            <a:ext cx="8183879" cy="3520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46888" indent="-246888" algn="l">
              <a:lnSpc>
                <a:spcPct val="105000"/>
              </a:lnSpc>
              <a:spcAft>
                <a:spcPts val="700"/>
              </a:spcAft>
              <a:buNone/>
            </a:pPr>
            <a:r>
              <a:rPr sz="1550" b="1">
                <a:solidFill>
                  <a:srgbClr val="F45F0C"/>
                </a:solidFill>
                <a:latin typeface="Source Sans Pro"/>
              </a:rPr>
              <a:t>▸  </a:t>
            </a:r>
            <a:r>
              <a:rPr sz="1550" b="0">
                <a:solidFill>
                  <a:srgbClr val="222A35"/>
                </a:solidFill>
                <a:latin typeface="Source Sans Pro"/>
              </a:rPr>
              <a:t>L'humain et le robot partagent le même environnement, mais ne travaillent pas sur la même tâche.</a:t>
            </a:r>
          </a:p>
          <a:p>
            <a:pPr marL="246888" indent="-246888" algn="l">
              <a:lnSpc>
                <a:spcPct val="105000"/>
              </a:lnSpc>
              <a:spcAft>
                <a:spcPts val="700"/>
              </a:spcAft>
              <a:buNone/>
            </a:pPr>
            <a:r>
              <a:rPr sz="1550" b="1">
                <a:solidFill>
                  <a:srgbClr val="F45F0C"/>
                </a:solidFill>
                <a:latin typeface="Source Sans Pro"/>
              </a:rPr>
              <a:t>▸  </a:t>
            </a:r>
            <a:r>
              <a:rPr sz="1550" b="1">
                <a:solidFill>
                  <a:srgbClr val="222A35"/>
                </a:solidFill>
                <a:latin typeface="Source Sans Pro"/>
              </a:rPr>
              <a:t>Exigences fonctionnelles :</a:t>
            </a:r>
          </a:p>
          <a:p>
            <a:pPr marL="521208" indent="-201168" algn="l">
              <a:lnSpc>
                <a:spcPct val="105000"/>
              </a:lnSpc>
              <a:spcAft>
                <a:spcPts val="700"/>
              </a:spcAft>
              <a:buNone/>
            </a:pPr>
            <a:r>
              <a:rPr sz="1550" b="1">
                <a:solidFill>
                  <a:srgbClr val="F68140"/>
                </a:solidFill>
                <a:latin typeface="Source Sans Pro"/>
              </a:rPr>
              <a:t>•  </a:t>
            </a:r>
            <a:r>
              <a:rPr sz="1550" b="0">
                <a:solidFill>
                  <a:srgbClr val="222A35"/>
                </a:solidFill>
                <a:latin typeface="Source Sans Pro"/>
              </a:rPr>
              <a:t>Détecter la présence d'un humain dans la zone de déplacement du robot — Haute</a:t>
            </a:r>
          </a:p>
          <a:p>
            <a:pPr marL="521208" indent="-201168" algn="l">
              <a:lnSpc>
                <a:spcPct val="105000"/>
              </a:lnSpc>
              <a:spcAft>
                <a:spcPts val="700"/>
              </a:spcAft>
              <a:buNone/>
            </a:pPr>
            <a:r>
              <a:rPr sz="1550" b="1">
                <a:solidFill>
                  <a:srgbClr val="F68140"/>
                </a:solidFill>
                <a:latin typeface="Source Sans Pro"/>
              </a:rPr>
              <a:t>•  </a:t>
            </a:r>
            <a:r>
              <a:rPr sz="1550" b="0">
                <a:solidFill>
                  <a:srgbClr val="222A35"/>
                </a:solidFill>
                <a:latin typeface="Source Sans Pro"/>
              </a:rPr>
              <a:t>Ralentir le robot sous 1 m de distance humain-robot — Haute</a:t>
            </a:r>
          </a:p>
          <a:p>
            <a:pPr marL="521208" indent="-201168" algn="l">
              <a:lnSpc>
                <a:spcPct val="105000"/>
              </a:lnSpc>
              <a:spcAft>
                <a:spcPts val="700"/>
              </a:spcAft>
              <a:buNone/>
            </a:pPr>
            <a:r>
              <a:rPr sz="1550" b="1">
                <a:solidFill>
                  <a:srgbClr val="F68140"/>
                </a:solidFill>
                <a:latin typeface="Source Sans Pro"/>
              </a:rPr>
              <a:t>•  </a:t>
            </a:r>
            <a:r>
              <a:rPr sz="1550" b="0">
                <a:solidFill>
                  <a:srgbClr val="222A35"/>
                </a:solidFill>
                <a:latin typeface="Source Sans Pro"/>
              </a:rPr>
              <a:t>Arrêter le robot sous 0,5 m — Haute</a:t>
            </a:r>
          </a:p>
          <a:p>
            <a:pPr marL="521208" indent="-201168" algn="l">
              <a:lnSpc>
                <a:spcPct val="105000"/>
              </a:lnSpc>
              <a:spcAft>
                <a:spcPts val="700"/>
              </a:spcAft>
              <a:buNone/>
            </a:pPr>
            <a:r>
              <a:rPr sz="1550" b="1">
                <a:solidFill>
                  <a:srgbClr val="F68140"/>
                </a:solidFill>
                <a:latin typeface="Source Sans Pro"/>
              </a:rPr>
              <a:t>•  </a:t>
            </a:r>
            <a:r>
              <a:rPr sz="1550" b="0">
                <a:solidFill>
                  <a:srgbClr val="222A35"/>
                </a:solidFill>
                <a:latin typeface="Source Sans Pro"/>
              </a:rPr>
              <a:t>Gérer un humain immobile devant une porte pendant 10 s — Moyenne</a:t>
            </a:r>
          </a:p>
          <a:p>
            <a:pPr marL="521208" indent="-201168" algn="l">
              <a:lnSpc>
                <a:spcPct val="105000"/>
              </a:lnSpc>
              <a:spcAft>
                <a:spcPts val="700"/>
              </a:spcAft>
              <a:buNone/>
            </a:pPr>
            <a:r>
              <a:rPr sz="1550" b="1">
                <a:solidFill>
                  <a:srgbClr val="F68140"/>
                </a:solidFill>
                <a:latin typeface="Source Sans Pro"/>
              </a:rPr>
              <a:t>•  </a:t>
            </a:r>
            <a:r>
              <a:rPr sz="1550" b="0">
                <a:solidFill>
                  <a:srgbClr val="222A35"/>
                </a:solidFill>
                <a:latin typeface="Source Sans Pro"/>
              </a:rPr>
              <a:t>Reprendre automatiquement le trajet quand la zone se libère — Moyenne</a:t>
            </a:r>
          </a:p>
        </p:txBody>
      </p:sp>
      <p:sp>
        <p:nvSpPr>
          <p:cNvPr id="9" name="Espace réservé du pied de page 8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fr-FR" dirty="0">
                <a:solidFill>
                  <a:schemeClr val="tx2"/>
                </a:solidFill>
              </a:rPr>
              <a:t>|</a:t>
            </a:r>
            <a:r>
              <a:rPr lang="fr-FR" dirty="0">
                <a:solidFill>
                  <a:srgbClr val="222A35"/>
                </a:solidFill>
              </a:rPr>
              <a:t>          </a:t>
            </a:r>
            <a:r>
              <a:rPr lang="fr-FR" b="1" dirty="0">
                <a:solidFill>
                  <a:srgbClr val="222A35"/>
                </a:solidFill>
              </a:rPr>
              <a:t>ISAE-</a:t>
            </a:r>
            <a:r>
              <a:rPr lang="fr-FR" b="1" dirty="0" err="1">
                <a:solidFill>
                  <a:srgbClr val="222A35"/>
                </a:solidFill>
              </a:rPr>
              <a:t>Supméca</a:t>
            </a:r>
            <a:r>
              <a:rPr lang="fr-FR" dirty="0">
                <a:solidFill>
                  <a:srgbClr val="222A35"/>
                </a:solidFill>
              </a:rPr>
              <a:t> – Institut supérieur de mécanique de Paris          </a:t>
            </a:r>
            <a:r>
              <a:rPr lang="fr-FR" dirty="0">
                <a:solidFill>
                  <a:schemeClr val="tx2"/>
                </a:solidFill>
              </a:rPr>
              <a:t>|</a:t>
            </a:r>
          </a:p>
        </p:txBody>
      </p:sp>
      <p:sp>
        <p:nvSpPr>
          <p:cNvPr id="10" name="Espace réservé du numéro de diapositive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189AD21-9F8B-47CF-9B2C-59971C9A1C69}" type="slidenum">
              <a:rPr lang="fr-FR" smtClean="0"/>
              <a:pPr/>
              <a:t>8</a:t>
            </a:fld>
            <a:endParaRPr lang="fr-FR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700" b="1">
                <a:solidFill>
                  <a:srgbClr val="222A35"/>
                </a:solidFill>
                <a:latin typeface="Source Sans Pro"/>
              </a:rPr>
              <a:t>Scénario 2 — Synchronisation / échange de pièces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84632" y="786384"/>
            <a:ext cx="8174736" cy="38100"/>
          </a:xfrm>
          <a:prstGeom prst="rect">
            <a:avLst/>
          </a:prstGeom>
          <a:solidFill>
            <a:srgbClr val="222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84632" y="1024128"/>
            <a:ext cx="8183879" cy="3520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46888" indent="-246888" algn="l">
              <a:lnSpc>
                <a:spcPct val="105000"/>
              </a:lnSpc>
              <a:spcAft>
                <a:spcPts val="700"/>
              </a:spcAft>
              <a:buNone/>
            </a:pPr>
            <a:r>
              <a:rPr sz="1550" b="1">
                <a:solidFill>
                  <a:srgbClr val="F45F0C"/>
                </a:solidFill>
                <a:latin typeface="Source Sans Pro"/>
              </a:rPr>
              <a:t>▸  </a:t>
            </a:r>
            <a:r>
              <a:rPr sz="1550" b="0">
                <a:solidFill>
                  <a:srgbClr val="222A35"/>
                </a:solidFill>
                <a:latin typeface="Source Sans Pro"/>
              </a:rPr>
              <a:t>Robot et opérateur participent au même processus, sans contact direct : le robot livre une pièce, l'opérateur l'assemble, le robot la reprend.</a:t>
            </a:r>
          </a:p>
          <a:p>
            <a:pPr marL="246888" indent="-246888" algn="l">
              <a:lnSpc>
                <a:spcPct val="105000"/>
              </a:lnSpc>
              <a:spcAft>
                <a:spcPts val="700"/>
              </a:spcAft>
              <a:buNone/>
            </a:pPr>
            <a:r>
              <a:rPr sz="1550" b="1">
                <a:solidFill>
                  <a:srgbClr val="F45F0C"/>
                </a:solidFill>
                <a:latin typeface="Source Sans Pro"/>
              </a:rPr>
              <a:t>▸  </a:t>
            </a:r>
            <a:r>
              <a:rPr sz="1550" b="1">
                <a:solidFill>
                  <a:srgbClr val="222A35"/>
                </a:solidFill>
                <a:latin typeface="Source Sans Pro"/>
              </a:rPr>
              <a:t>Exigences fonctionnelles :</a:t>
            </a:r>
          </a:p>
          <a:p>
            <a:pPr marL="521208" indent="-201168" algn="l">
              <a:lnSpc>
                <a:spcPct val="105000"/>
              </a:lnSpc>
              <a:spcAft>
                <a:spcPts val="700"/>
              </a:spcAft>
              <a:buNone/>
            </a:pPr>
            <a:r>
              <a:rPr sz="1550" b="1">
                <a:solidFill>
                  <a:srgbClr val="F68140"/>
                </a:solidFill>
                <a:latin typeface="Source Sans Pro"/>
              </a:rPr>
              <a:t>•  </a:t>
            </a:r>
            <a:r>
              <a:rPr sz="1550" b="0">
                <a:solidFill>
                  <a:srgbClr val="222A35"/>
                </a:solidFill>
                <a:latin typeface="Source Sans Pro"/>
              </a:rPr>
              <a:t>Représenter les zones stock / transfert / opérateur — Haute</a:t>
            </a:r>
          </a:p>
          <a:p>
            <a:pPr marL="521208" indent="-201168" algn="l">
              <a:lnSpc>
                <a:spcPct val="105000"/>
              </a:lnSpc>
              <a:spcAft>
                <a:spcPts val="700"/>
              </a:spcAft>
              <a:buNone/>
            </a:pPr>
            <a:r>
              <a:rPr sz="1550" b="1">
                <a:solidFill>
                  <a:srgbClr val="F68140"/>
                </a:solidFill>
                <a:latin typeface="Source Sans Pro"/>
              </a:rPr>
              <a:t>•  </a:t>
            </a:r>
            <a:r>
              <a:rPr sz="1550" b="0">
                <a:solidFill>
                  <a:srgbClr val="222A35"/>
                </a:solidFill>
                <a:latin typeface="Source Sans Pro"/>
              </a:rPr>
              <a:t>Suivre l'état de la zone de transfert (libre, occupée, pièce dispo…) — Haute</a:t>
            </a:r>
          </a:p>
          <a:p>
            <a:pPr marL="521208" indent="-201168" algn="l">
              <a:lnSpc>
                <a:spcPct val="105000"/>
              </a:lnSpc>
              <a:spcAft>
                <a:spcPts val="700"/>
              </a:spcAft>
              <a:buNone/>
            </a:pPr>
            <a:r>
              <a:rPr sz="1550" b="1">
                <a:solidFill>
                  <a:srgbClr val="F68140"/>
                </a:solidFill>
                <a:latin typeface="Source Sans Pro"/>
              </a:rPr>
              <a:t>•  </a:t>
            </a:r>
            <a:r>
              <a:rPr sz="1550" b="0">
                <a:solidFill>
                  <a:srgbClr val="222A35"/>
                </a:solidFill>
                <a:latin typeface="Source Sans Pro"/>
              </a:rPr>
              <a:t>Déclencheurs de passation entre robot et opérateur — Haute</a:t>
            </a:r>
          </a:p>
          <a:p>
            <a:pPr marL="521208" indent="-201168" algn="l">
              <a:lnSpc>
                <a:spcPct val="105000"/>
              </a:lnSpc>
              <a:spcAft>
                <a:spcPts val="700"/>
              </a:spcAft>
              <a:buNone/>
            </a:pPr>
            <a:r>
              <a:rPr sz="1550" b="1">
                <a:solidFill>
                  <a:srgbClr val="F68140"/>
                </a:solidFill>
                <a:latin typeface="Source Sans Pro"/>
              </a:rPr>
              <a:t>•  </a:t>
            </a:r>
            <a:r>
              <a:rPr sz="1550" b="0">
                <a:solidFill>
                  <a:srgbClr val="222A35"/>
                </a:solidFill>
                <a:latin typeface="Source Sans Pro"/>
              </a:rPr>
              <a:t>Empêcher l'occupation simultanée de la zone de transfert — Haute</a:t>
            </a:r>
          </a:p>
          <a:p>
            <a:pPr marL="521208" indent="-201168" algn="l">
              <a:lnSpc>
                <a:spcPct val="105000"/>
              </a:lnSpc>
              <a:spcAft>
                <a:spcPts val="700"/>
              </a:spcAft>
              <a:buNone/>
            </a:pPr>
            <a:r>
              <a:rPr sz="1550" b="1">
                <a:solidFill>
                  <a:srgbClr val="F68140"/>
                </a:solidFill>
                <a:latin typeface="Source Sans Pro"/>
              </a:rPr>
              <a:t>•  </a:t>
            </a:r>
            <a:r>
              <a:rPr sz="1550" b="0">
                <a:solidFill>
                  <a:srgbClr val="222A35"/>
                </a:solidFill>
                <a:latin typeface="Source Sans Pro"/>
              </a:rPr>
              <a:t>Appliquer les règles de sécurité de coexistence pendant dépôt / reprise — Haute</a:t>
            </a:r>
          </a:p>
          <a:p>
            <a:pPr marL="521208" indent="-201168" algn="l">
              <a:lnSpc>
                <a:spcPct val="105000"/>
              </a:lnSpc>
              <a:spcAft>
                <a:spcPts val="700"/>
              </a:spcAft>
              <a:buNone/>
            </a:pPr>
            <a:r>
              <a:rPr sz="1550" b="1">
                <a:solidFill>
                  <a:srgbClr val="F68140"/>
                </a:solidFill>
                <a:latin typeface="Source Sans Pro"/>
              </a:rPr>
              <a:t>•  </a:t>
            </a:r>
            <a:r>
              <a:rPr sz="1550" b="0">
                <a:solidFill>
                  <a:srgbClr val="222A35"/>
                </a:solidFill>
                <a:latin typeface="Source Sans Pro"/>
              </a:rPr>
              <a:t>Coordination par enchaînement d'états (dépôt → assemblage → reprise) — Haute</a:t>
            </a:r>
          </a:p>
          <a:p>
            <a:pPr marL="521208" indent="-201168" algn="l">
              <a:lnSpc>
                <a:spcPct val="105000"/>
              </a:lnSpc>
              <a:spcAft>
                <a:spcPts val="700"/>
              </a:spcAft>
              <a:buNone/>
            </a:pPr>
            <a:r>
              <a:rPr sz="1550" b="1">
                <a:solidFill>
                  <a:srgbClr val="F68140"/>
                </a:solidFill>
                <a:latin typeface="Source Sans Pro"/>
              </a:rPr>
              <a:t>•  </a:t>
            </a:r>
            <a:r>
              <a:rPr sz="1550" b="0">
                <a:solidFill>
                  <a:srgbClr val="222A35"/>
                </a:solidFill>
                <a:latin typeface="Source Sans Pro"/>
              </a:rPr>
              <a:t>Signaler les déclencheurs : son, lumière ou logs — Moyenne</a:t>
            </a:r>
          </a:p>
          <a:p>
            <a:pPr marL="521208" indent="-201168" algn="l">
              <a:lnSpc>
                <a:spcPct val="105000"/>
              </a:lnSpc>
              <a:spcAft>
                <a:spcPts val="700"/>
              </a:spcAft>
              <a:buNone/>
            </a:pPr>
            <a:r>
              <a:rPr sz="1550" b="1">
                <a:solidFill>
                  <a:srgbClr val="F68140"/>
                </a:solidFill>
                <a:latin typeface="Source Sans Pro"/>
              </a:rPr>
              <a:t>•  </a:t>
            </a:r>
            <a:r>
              <a:rPr sz="1550" b="0">
                <a:solidFill>
                  <a:srgbClr val="222A35"/>
                </a:solidFill>
                <a:latin typeface="Source Sans Pro"/>
              </a:rPr>
              <a:t>Délai maximal d'attente comme critère de performance — Moyenne</a:t>
            </a:r>
          </a:p>
        </p:txBody>
      </p:sp>
      <p:sp>
        <p:nvSpPr>
          <p:cNvPr id="9" name="Espace réservé du pied de page 8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fr-FR" dirty="0">
                <a:solidFill>
                  <a:schemeClr val="tx2"/>
                </a:solidFill>
              </a:rPr>
              <a:t>|</a:t>
            </a:r>
            <a:r>
              <a:rPr lang="fr-FR" dirty="0">
                <a:solidFill>
                  <a:srgbClr val="222A35"/>
                </a:solidFill>
              </a:rPr>
              <a:t>          </a:t>
            </a:r>
            <a:r>
              <a:rPr lang="fr-FR" b="1" dirty="0">
                <a:solidFill>
                  <a:srgbClr val="222A35"/>
                </a:solidFill>
              </a:rPr>
              <a:t>ISAE-</a:t>
            </a:r>
            <a:r>
              <a:rPr lang="fr-FR" b="1" dirty="0" err="1">
                <a:solidFill>
                  <a:srgbClr val="222A35"/>
                </a:solidFill>
              </a:rPr>
              <a:t>Supméca</a:t>
            </a:r>
            <a:r>
              <a:rPr lang="fr-FR" dirty="0">
                <a:solidFill>
                  <a:srgbClr val="222A35"/>
                </a:solidFill>
              </a:rPr>
              <a:t> – Institut supérieur de mécanique de Paris          </a:t>
            </a:r>
            <a:r>
              <a:rPr lang="fr-FR" dirty="0">
                <a:solidFill>
                  <a:schemeClr val="tx2"/>
                </a:solidFill>
              </a:rPr>
              <a:t>|</a:t>
            </a:r>
          </a:p>
        </p:txBody>
      </p:sp>
      <p:sp>
        <p:nvSpPr>
          <p:cNvPr id="10" name="Espace réservé du numéro de diapositive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189AD21-9F8B-47CF-9B2C-59971C9A1C69}" type="slidenum">
              <a:rPr lang="fr-FR" smtClean="0"/>
              <a:pPr/>
              <a:t>9</a:t>
            </a:fld>
            <a:endParaRPr lang="fr-FR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700" b="1">
                <a:solidFill>
                  <a:srgbClr val="222A35"/>
                </a:solidFill>
                <a:latin typeface="Source Sans Pro"/>
              </a:rPr>
              <a:t>Périmètre &amp; hors-périmètre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84632" y="786384"/>
            <a:ext cx="8174736" cy="38100"/>
          </a:xfrm>
          <a:prstGeom prst="rect">
            <a:avLst/>
          </a:prstGeom>
          <a:solidFill>
            <a:srgbClr val="222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84632" y="1024128"/>
            <a:ext cx="8183879" cy="3520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46888" indent="-246888" algn="l">
              <a:lnSpc>
                <a:spcPct val="105000"/>
              </a:lnSpc>
              <a:spcAft>
                <a:spcPts val="700"/>
              </a:spcAft>
              <a:buNone/>
            </a:pPr>
            <a:r>
              <a:rPr sz="1550" b="1">
                <a:solidFill>
                  <a:srgbClr val="F45F0C"/>
                </a:solidFill>
                <a:latin typeface="Source Sans Pro"/>
              </a:rPr>
              <a:t>▸  </a:t>
            </a:r>
            <a:r>
              <a:rPr sz="1550" b="1">
                <a:solidFill>
                  <a:srgbClr val="222A35"/>
                </a:solidFill>
                <a:latin typeface="Source Sans Pro"/>
              </a:rPr>
              <a:t>Périmètre :</a:t>
            </a:r>
          </a:p>
          <a:p>
            <a:pPr marL="521208" indent="-201168" algn="l">
              <a:lnSpc>
                <a:spcPct val="105000"/>
              </a:lnSpc>
              <a:spcAft>
                <a:spcPts val="700"/>
              </a:spcAft>
              <a:buNone/>
            </a:pPr>
            <a:r>
              <a:rPr sz="1550" b="1">
                <a:solidFill>
                  <a:srgbClr val="F68140"/>
                </a:solidFill>
                <a:latin typeface="Source Sans Pro"/>
              </a:rPr>
              <a:t>•  </a:t>
            </a:r>
            <a:r>
              <a:rPr sz="1550" b="0">
                <a:solidFill>
                  <a:srgbClr val="222A35"/>
                </a:solidFill>
                <a:latin typeface="Source Sans Pro"/>
              </a:rPr>
              <a:t>2 scénarios : coexistence et synchronisation (coopération directe = perspective)</a:t>
            </a:r>
          </a:p>
          <a:p>
            <a:pPr marL="521208" indent="-201168" algn="l">
              <a:lnSpc>
                <a:spcPct val="105000"/>
              </a:lnSpc>
              <a:spcAft>
                <a:spcPts val="700"/>
              </a:spcAft>
              <a:buNone/>
            </a:pPr>
            <a:r>
              <a:rPr sz="1550" b="1">
                <a:solidFill>
                  <a:srgbClr val="F68140"/>
                </a:solidFill>
                <a:latin typeface="Source Sans Pro"/>
              </a:rPr>
              <a:t>•  </a:t>
            </a:r>
            <a:r>
              <a:rPr sz="1550" b="0">
                <a:solidFill>
                  <a:srgbClr val="222A35"/>
                </a:solidFill>
                <a:latin typeface="Source Sans Pro"/>
              </a:rPr>
              <a:t>Outils : RoboDK, Python, URDF, Human Model Generator</a:t>
            </a:r>
          </a:p>
          <a:p>
            <a:pPr marL="521208" indent="-201168" algn="l">
              <a:lnSpc>
                <a:spcPct val="105000"/>
              </a:lnSpc>
              <a:spcAft>
                <a:spcPts val="700"/>
              </a:spcAft>
              <a:buNone/>
            </a:pPr>
            <a:r>
              <a:rPr sz="1550" b="1">
                <a:solidFill>
                  <a:srgbClr val="F68140"/>
                </a:solidFill>
                <a:latin typeface="Source Sans Pro"/>
              </a:rPr>
              <a:t>•  </a:t>
            </a:r>
            <a:r>
              <a:rPr sz="1550" b="0">
                <a:solidFill>
                  <a:srgbClr val="222A35"/>
                </a:solidFill>
                <a:latin typeface="Source Sans Pro"/>
              </a:rPr>
              <a:t>Données ALIX + robot AMR Mir100 ; mannequin humain simplifié</a:t>
            </a:r>
          </a:p>
          <a:p>
            <a:pPr marL="246888" indent="-246888" algn="l">
              <a:lnSpc>
                <a:spcPct val="105000"/>
              </a:lnSpc>
              <a:spcAft>
                <a:spcPts val="700"/>
              </a:spcAft>
              <a:buNone/>
            </a:pPr>
            <a:r>
              <a:rPr sz="1550" b="1">
                <a:solidFill>
                  <a:srgbClr val="F45F0C"/>
                </a:solidFill>
                <a:latin typeface="Source Sans Pro"/>
              </a:rPr>
              <a:t>▸  </a:t>
            </a:r>
            <a:r>
              <a:rPr sz="1550" b="1">
                <a:solidFill>
                  <a:srgbClr val="222A35"/>
                </a:solidFill>
                <a:latin typeface="Source Sans Pro"/>
              </a:rPr>
              <a:t>Hors périmètre :</a:t>
            </a:r>
          </a:p>
          <a:p>
            <a:pPr marL="521208" indent="-201168" algn="l">
              <a:lnSpc>
                <a:spcPct val="105000"/>
              </a:lnSpc>
              <a:spcAft>
                <a:spcPts val="700"/>
              </a:spcAft>
              <a:buNone/>
            </a:pPr>
            <a:r>
              <a:rPr sz="1550" b="1">
                <a:solidFill>
                  <a:srgbClr val="F68140"/>
                </a:solidFill>
                <a:latin typeface="Source Sans Pro"/>
              </a:rPr>
              <a:t>•  </a:t>
            </a:r>
            <a:r>
              <a:rPr sz="1550" b="0">
                <a:solidFill>
                  <a:srgbClr val="222A35"/>
                </a:solidFill>
                <a:latin typeface="Source Sans Pro"/>
              </a:rPr>
              <a:t>Simulation biomécanique complète du corps</a:t>
            </a:r>
          </a:p>
          <a:p>
            <a:pPr marL="521208" indent="-201168" algn="l">
              <a:lnSpc>
                <a:spcPct val="105000"/>
              </a:lnSpc>
              <a:spcAft>
                <a:spcPts val="700"/>
              </a:spcAft>
              <a:buNone/>
            </a:pPr>
            <a:r>
              <a:rPr sz="1550" b="1">
                <a:solidFill>
                  <a:srgbClr val="F68140"/>
                </a:solidFill>
                <a:latin typeface="Source Sans Pro"/>
              </a:rPr>
              <a:t>•  </a:t>
            </a:r>
            <a:r>
              <a:rPr sz="1550" b="0">
                <a:solidFill>
                  <a:srgbClr val="222A35"/>
                </a:solidFill>
                <a:latin typeface="Source Sans Pro"/>
              </a:rPr>
              <a:t>Contrôle dynamique de l'équilibre</a:t>
            </a:r>
          </a:p>
          <a:p>
            <a:pPr marL="521208" indent="-201168" algn="l">
              <a:lnSpc>
                <a:spcPct val="105000"/>
              </a:lnSpc>
              <a:spcAft>
                <a:spcPts val="700"/>
              </a:spcAft>
              <a:buNone/>
            </a:pPr>
            <a:r>
              <a:rPr sz="1550" b="1">
                <a:solidFill>
                  <a:srgbClr val="F68140"/>
                </a:solidFill>
                <a:latin typeface="Source Sans Pro"/>
              </a:rPr>
              <a:t>•  </a:t>
            </a:r>
            <a:r>
              <a:rPr sz="1550" b="0">
                <a:solidFill>
                  <a:srgbClr val="222A35"/>
                </a:solidFill>
                <a:latin typeface="Source Sans Pro"/>
              </a:rPr>
              <a:t>Contact physique direct humain-robot</a:t>
            </a:r>
          </a:p>
          <a:p>
            <a:pPr marL="521208" indent="-201168" algn="l">
              <a:lnSpc>
                <a:spcPct val="105000"/>
              </a:lnSpc>
              <a:spcAft>
                <a:spcPts val="700"/>
              </a:spcAft>
              <a:buNone/>
            </a:pPr>
            <a:r>
              <a:rPr sz="1550" b="1">
                <a:solidFill>
                  <a:srgbClr val="F68140"/>
                </a:solidFill>
                <a:latin typeface="Source Sans Pro"/>
              </a:rPr>
              <a:t>•  </a:t>
            </a:r>
            <a:r>
              <a:rPr sz="1550" b="0">
                <a:solidFill>
                  <a:srgbClr val="222A35"/>
                </a:solidFill>
                <a:latin typeface="Source Sans Pro"/>
              </a:rPr>
              <a:t>Capture de mouvement en temps réel par caméra</a:t>
            </a:r>
          </a:p>
        </p:txBody>
      </p:sp>
      <p:sp>
        <p:nvSpPr>
          <p:cNvPr id="9" name="Espace réservé du pied de page 8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fr-FR" dirty="0">
                <a:solidFill>
                  <a:schemeClr val="tx2"/>
                </a:solidFill>
              </a:rPr>
              <a:t>|</a:t>
            </a:r>
            <a:r>
              <a:rPr lang="fr-FR" dirty="0">
                <a:solidFill>
                  <a:srgbClr val="222A35"/>
                </a:solidFill>
              </a:rPr>
              <a:t>          </a:t>
            </a:r>
            <a:r>
              <a:rPr lang="fr-FR" b="1" dirty="0">
                <a:solidFill>
                  <a:srgbClr val="222A35"/>
                </a:solidFill>
              </a:rPr>
              <a:t>ISAE-</a:t>
            </a:r>
            <a:r>
              <a:rPr lang="fr-FR" b="1" dirty="0" err="1">
                <a:solidFill>
                  <a:srgbClr val="222A35"/>
                </a:solidFill>
              </a:rPr>
              <a:t>Supméca</a:t>
            </a:r>
            <a:r>
              <a:rPr lang="fr-FR" dirty="0">
                <a:solidFill>
                  <a:srgbClr val="222A35"/>
                </a:solidFill>
              </a:rPr>
              <a:t> – Institut supérieur de mécanique de Paris          </a:t>
            </a:r>
            <a:r>
              <a:rPr lang="fr-FR" dirty="0">
                <a:solidFill>
                  <a:schemeClr val="tx2"/>
                </a:solidFill>
              </a:rPr>
              <a:t>|</a:t>
            </a:r>
          </a:p>
        </p:txBody>
      </p:sp>
      <p:sp>
        <p:nvSpPr>
          <p:cNvPr id="10" name="Espace réservé du numéro de diapositive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189AD21-9F8B-47CF-9B2C-59971C9A1C69}" type="slidenum">
              <a:rPr lang="fr-FR" smtClean="0"/>
              <a:pPr/>
              <a:t>10</a:t>
            </a:fld>
            <a:endParaRPr lang="fr-FR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A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502920"/>
            <a:ext cx="365760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0" b="1">
                <a:solidFill>
                  <a:srgbClr val="394555"/>
                </a:solidFill>
                <a:latin typeface="Source Sans Pro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148840"/>
            <a:ext cx="7772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45F0C"/>
                </a:solidFill>
                <a:latin typeface="Source Sans Pro"/>
              </a:rPr>
              <a:t>PARTIE 3 / 6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2606040"/>
            <a:ext cx="50800" cy="1280160"/>
          </a:xfrm>
          <a:prstGeom prst="rect">
            <a:avLst/>
          </a:prstGeom>
          <a:solidFill>
            <a:srgbClr val="F45F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2560320"/>
            <a:ext cx="76809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Source Sans Pro"/>
              </a:rPr>
              <a:t>Modèle conceptuel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>
                <a:solidFill>
                  <a:srgbClr val="ADB4BD"/>
                </a:solidFill>
                <a:latin typeface="Source Sans Pro"/>
              </a:rPr>
              <a:t>Du mannequin figé à l'opérateur articulé</a:t>
            </a:r>
          </a:p>
        </p:txBody>
      </p:sp>
      <p:sp>
        <p:nvSpPr>
          <p:cNvPr id="7" name="Espace réservé du pied de page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fr-FR" dirty="0">
                <a:solidFill>
                  <a:schemeClr val="tx2"/>
                </a:solidFill>
              </a:rPr>
              <a:t>|</a:t>
            </a:r>
            <a:r>
              <a:rPr lang="fr-FR" dirty="0">
                <a:solidFill>
                  <a:srgbClr val="F2F2F2"/>
                </a:solidFill>
              </a:rPr>
              <a:t>         </a:t>
            </a:r>
            <a:r>
              <a:rPr lang="fr-FR" b="1" dirty="0">
                <a:solidFill>
                  <a:srgbClr val="F2F2F2"/>
                </a:solidFill>
              </a:rPr>
              <a:t> ISAE-</a:t>
            </a:r>
            <a:r>
              <a:rPr lang="fr-FR" b="1" dirty="0" err="1">
                <a:solidFill>
                  <a:srgbClr val="F2F2F2"/>
                </a:solidFill>
              </a:rPr>
              <a:t>Supméca</a:t>
            </a:r>
            <a:r>
              <a:rPr lang="fr-FR" b="1" dirty="0">
                <a:solidFill>
                  <a:srgbClr val="F2F2F2"/>
                </a:solidFill>
              </a:rPr>
              <a:t> </a:t>
            </a:r>
            <a:r>
              <a:rPr lang="fr-FR" dirty="0">
                <a:solidFill>
                  <a:srgbClr val="F2F2F2"/>
                </a:solidFill>
              </a:rPr>
              <a:t>– Institut supérieur de mécanique de Paris          </a:t>
            </a:r>
            <a:r>
              <a:rPr lang="fr-FR" dirty="0">
                <a:solidFill>
                  <a:schemeClr val="tx2"/>
                </a:solidFill>
              </a:rPr>
              <a:t>|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189AD21-9F8B-47CF-9B2C-59971C9A1C69}" type="slidenum">
              <a:rPr lang="fr-FR" smtClean="0">
                <a:solidFill>
                  <a:srgbClr val="F2F2F2"/>
                </a:solidFill>
              </a:rPr>
              <a:pPr/>
              <a:t>11</a:t>
            </a:fld>
            <a:endParaRPr lang="fr-FR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700" b="1">
                <a:solidFill>
                  <a:srgbClr val="222A35"/>
                </a:solidFill>
                <a:latin typeface="Source Sans Pro"/>
              </a:rPr>
              <a:t>Schéma cinématique &amp; degrés de liberté</a:t>
            </a:r>
          </a:p>
        </p:txBody>
      </p:sp>
      <p:sp>
        <p:nvSpPr>
          <p:cNvPr id="3" name="Rectangle 2"/>
          <p:cNvSpPr/>
          <p:nvPr/>
        </p:nvSpPr>
        <p:spPr>
          <a:xfrm>
            <a:off x="484632" y="786384"/>
            <a:ext cx="8174736" cy="38100"/>
          </a:xfrm>
          <a:prstGeom prst="rect">
            <a:avLst/>
          </a:prstGeom>
          <a:solidFill>
            <a:srgbClr val="222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84632" y="1024128"/>
            <a:ext cx="4663440" cy="3520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46888" indent="-246888" algn="l">
              <a:lnSpc>
                <a:spcPct val="105000"/>
              </a:lnSpc>
              <a:spcAft>
                <a:spcPts val="700"/>
              </a:spcAft>
              <a:buNone/>
            </a:pPr>
            <a:r>
              <a:rPr sz="1500" b="1">
                <a:solidFill>
                  <a:srgbClr val="F45F0C"/>
                </a:solidFill>
                <a:latin typeface="Source Sans Pro"/>
              </a:rPr>
              <a:t>▸  </a:t>
            </a:r>
            <a:r>
              <a:rPr sz="1500" b="0">
                <a:solidFill>
                  <a:srgbClr val="222A35"/>
                </a:solidFill>
                <a:latin typeface="Source Sans Pro"/>
              </a:rPr>
              <a:t>Le corps = un </a:t>
            </a:r>
            <a:r>
              <a:rPr sz="1500" b="1">
                <a:solidFill>
                  <a:srgbClr val="222A35"/>
                </a:solidFill>
                <a:latin typeface="Source Sans Pro"/>
              </a:rPr>
              <a:t>arbre de solides rigides</a:t>
            </a:r>
            <a:r>
              <a:rPr sz="1500" b="0">
                <a:solidFill>
                  <a:srgbClr val="222A35"/>
                </a:solidFill>
                <a:latin typeface="Source Sans Pro"/>
              </a:rPr>
              <a:t> reliés par des </a:t>
            </a:r>
            <a:r>
              <a:rPr sz="1500" b="1">
                <a:solidFill>
                  <a:srgbClr val="222A35"/>
                </a:solidFill>
                <a:latin typeface="Source Sans Pro"/>
              </a:rPr>
              <a:t>liaisons normalisées</a:t>
            </a:r>
            <a:r>
              <a:rPr sz="1500" b="0">
                <a:solidFill>
                  <a:srgbClr val="222A35"/>
                </a:solidFill>
                <a:latin typeface="Source Sans Pro"/>
              </a:rPr>
              <a:t>.</a:t>
            </a:r>
          </a:p>
          <a:p>
            <a:pPr marL="246888" indent="-246888" algn="l">
              <a:lnSpc>
                <a:spcPct val="105000"/>
              </a:lnSpc>
              <a:spcAft>
                <a:spcPts val="700"/>
              </a:spcAft>
              <a:buNone/>
            </a:pPr>
            <a:r>
              <a:rPr sz="1500" b="1">
                <a:solidFill>
                  <a:srgbClr val="F45F0C"/>
                </a:solidFill>
                <a:latin typeface="Source Sans Pro"/>
              </a:rPr>
              <a:t>▸  </a:t>
            </a:r>
            <a:r>
              <a:rPr sz="1500" b="0">
                <a:solidFill>
                  <a:srgbClr val="222A35"/>
                </a:solidFill>
                <a:latin typeface="Source Sans Pro"/>
              </a:rPr>
              <a:t>Le </a:t>
            </a:r>
            <a:r>
              <a:rPr sz="1500" b="1">
                <a:solidFill>
                  <a:srgbClr val="222A35"/>
                </a:solidFill>
                <a:latin typeface="Source Sans Pro"/>
              </a:rPr>
              <a:t>tronc</a:t>
            </a:r>
            <a:r>
              <a:rPr sz="1500" b="0">
                <a:solidFill>
                  <a:srgbClr val="222A35"/>
                </a:solidFill>
                <a:latin typeface="Source Sans Pro"/>
              </a:rPr>
              <a:t> (épine, cou, tête, clavicules) = un seul solide rigide (encastrements).</a:t>
            </a:r>
          </a:p>
          <a:p>
            <a:pPr marL="246888" indent="-246888" algn="l">
              <a:lnSpc>
                <a:spcPct val="105000"/>
              </a:lnSpc>
              <a:spcAft>
                <a:spcPts val="700"/>
              </a:spcAft>
              <a:buNone/>
            </a:pPr>
            <a:r>
              <a:rPr sz="1500" b="1">
                <a:solidFill>
                  <a:srgbClr val="F45F0C"/>
                </a:solidFill>
                <a:latin typeface="Source Sans Pro"/>
              </a:rPr>
              <a:t>▸  </a:t>
            </a:r>
            <a:r>
              <a:rPr sz="1500" b="1">
                <a:solidFill>
                  <a:srgbClr val="222A35"/>
                </a:solidFill>
                <a:latin typeface="Source Sans Pro"/>
              </a:rPr>
              <a:t>Liaisons &amp; DDL :</a:t>
            </a:r>
          </a:p>
          <a:p>
            <a:pPr marL="521208" indent="-201168" algn="l">
              <a:lnSpc>
                <a:spcPct val="105000"/>
              </a:lnSpc>
              <a:spcAft>
                <a:spcPts val="700"/>
              </a:spcAft>
              <a:buNone/>
            </a:pPr>
            <a:r>
              <a:rPr sz="1500" b="1">
                <a:solidFill>
                  <a:srgbClr val="F68140"/>
                </a:solidFill>
                <a:latin typeface="Source Sans Pro"/>
              </a:rPr>
              <a:t>•  </a:t>
            </a:r>
            <a:r>
              <a:rPr sz="1500" b="0">
                <a:solidFill>
                  <a:srgbClr val="222A35"/>
                </a:solidFill>
                <a:latin typeface="Source Sans Pro"/>
              </a:rPr>
              <a:t>épaule, hanche → rotule (3 rotations)</a:t>
            </a:r>
          </a:p>
          <a:p>
            <a:pPr marL="521208" indent="-201168" algn="l">
              <a:lnSpc>
                <a:spcPct val="105000"/>
              </a:lnSpc>
              <a:spcAft>
                <a:spcPts val="700"/>
              </a:spcAft>
              <a:buNone/>
            </a:pPr>
            <a:r>
              <a:rPr sz="1500" b="1">
                <a:solidFill>
                  <a:srgbClr val="F68140"/>
                </a:solidFill>
                <a:latin typeface="Source Sans Pro"/>
              </a:rPr>
              <a:t>•  </a:t>
            </a:r>
            <a:r>
              <a:rPr sz="1500" b="0">
                <a:solidFill>
                  <a:srgbClr val="222A35"/>
                </a:solidFill>
                <a:latin typeface="Source Sans Pro"/>
              </a:rPr>
              <a:t>coude, genou, cheville → pivot (1 rotation)</a:t>
            </a:r>
          </a:p>
          <a:p>
            <a:pPr marL="521208" indent="-201168" algn="l">
              <a:lnSpc>
                <a:spcPct val="105000"/>
              </a:lnSpc>
              <a:spcAft>
                <a:spcPts val="700"/>
              </a:spcAft>
              <a:buNone/>
            </a:pPr>
            <a:r>
              <a:rPr sz="1500" b="1">
                <a:solidFill>
                  <a:srgbClr val="F68140"/>
                </a:solidFill>
                <a:latin typeface="Source Sans Pro"/>
              </a:rPr>
              <a:t>•  </a:t>
            </a:r>
            <a:r>
              <a:rPr sz="1500" b="0">
                <a:solidFill>
                  <a:srgbClr val="222A35"/>
                </a:solidFill>
                <a:latin typeface="Source Sans Pro"/>
              </a:rPr>
              <a:t>poignet → rotule à doigt (2 rotations)</a:t>
            </a:r>
          </a:p>
          <a:p>
            <a:pPr marL="246888" indent="-246888" algn="l">
              <a:lnSpc>
                <a:spcPct val="105000"/>
              </a:lnSpc>
              <a:spcAft>
                <a:spcPts val="700"/>
              </a:spcAft>
              <a:buNone/>
            </a:pPr>
            <a:r>
              <a:rPr sz="1500" b="1">
                <a:solidFill>
                  <a:srgbClr val="F45F0C"/>
                </a:solidFill>
                <a:latin typeface="Source Sans Pro"/>
              </a:rPr>
              <a:t>▸  </a:t>
            </a:r>
            <a:r>
              <a:rPr sz="1500" b="1">
                <a:solidFill>
                  <a:srgbClr val="222A35"/>
                </a:solidFill>
                <a:latin typeface="Source Sans Pro"/>
              </a:rPr>
              <a:t>Bilan : 2×(3+1+2) + 2×(3+1+1) = 22 DDL</a:t>
            </a:r>
          </a:p>
        </p:txBody>
      </p:sp>
      <p:sp>
        <p:nvSpPr>
          <p:cNvPr id="5" name="Rectangle 4"/>
          <p:cNvSpPr/>
          <p:nvPr/>
        </p:nvSpPr>
        <p:spPr>
          <a:xfrm>
            <a:off x="5586984" y="923544"/>
            <a:ext cx="2679191" cy="3547872"/>
          </a:xfrm>
          <a:prstGeom prst="rect">
            <a:avLst/>
          </a:prstGeom>
          <a:solidFill>
            <a:srgbClr val="FFFFFF"/>
          </a:solidFill>
          <a:ln w="9525">
            <a:solidFill>
              <a:srgbClr val="394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schema-cinematique-f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3560" y="960120"/>
            <a:ext cx="2606039" cy="34747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212080" y="4462272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i="1">
                <a:solidFill>
                  <a:srgbClr val="5B6675"/>
                </a:solidFill>
                <a:latin typeface="Source Sans Pro"/>
              </a:rPr>
              <a:t>Schéma cinématique normalisé (vue de face)</a:t>
            </a:r>
          </a:p>
        </p:txBody>
      </p:sp>
      <p:sp>
        <p:nvSpPr>
          <p:cNvPr id="9" name="Espace réservé du pied de page 8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fr-FR" dirty="0">
                <a:solidFill>
                  <a:schemeClr val="tx2"/>
                </a:solidFill>
              </a:rPr>
              <a:t>|</a:t>
            </a:r>
            <a:r>
              <a:rPr lang="fr-FR" dirty="0">
                <a:solidFill>
                  <a:srgbClr val="222A35"/>
                </a:solidFill>
              </a:rPr>
              <a:t>          </a:t>
            </a:r>
            <a:r>
              <a:rPr lang="fr-FR" b="1" dirty="0">
                <a:solidFill>
                  <a:srgbClr val="222A35"/>
                </a:solidFill>
              </a:rPr>
              <a:t>ISAE-</a:t>
            </a:r>
            <a:r>
              <a:rPr lang="fr-FR" b="1" dirty="0" err="1">
                <a:solidFill>
                  <a:srgbClr val="222A35"/>
                </a:solidFill>
              </a:rPr>
              <a:t>Supméca</a:t>
            </a:r>
            <a:r>
              <a:rPr lang="fr-FR" dirty="0">
                <a:solidFill>
                  <a:srgbClr val="222A35"/>
                </a:solidFill>
              </a:rPr>
              <a:t> – Institut supérieur de mécanique de Paris          </a:t>
            </a:r>
            <a:r>
              <a:rPr lang="fr-FR" dirty="0">
                <a:solidFill>
                  <a:schemeClr val="tx2"/>
                </a:solidFill>
              </a:rPr>
              <a:t>|</a:t>
            </a:r>
          </a:p>
        </p:txBody>
      </p:sp>
      <p:sp>
        <p:nvSpPr>
          <p:cNvPr id="10" name="Espace réservé du numéro de diapositive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189AD21-9F8B-47CF-9B2C-59971C9A1C69}" type="slidenum">
              <a:rPr lang="fr-FR" smtClean="0"/>
              <a:pPr/>
              <a:t>12</a:t>
            </a:fld>
            <a:endParaRPr lang="fr-FR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700" b="1">
                <a:solidFill>
                  <a:srgbClr val="222A35"/>
                </a:solidFill>
                <a:latin typeface="Source Sans Pro"/>
              </a:rPr>
              <a:t>Démarche de développement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484632" y="786384"/>
            <a:ext cx="8174736" cy="38100"/>
          </a:xfrm>
          <a:prstGeom prst="rect">
            <a:avLst/>
          </a:prstGeom>
          <a:solidFill>
            <a:srgbClr val="222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84632" y="960120"/>
            <a:ext cx="8183879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00" b="0">
                <a:solidFill>
                  <a:srgbClr val="222A35"/>
                </a:solidFill>
                <a:latin typeface="Source Sans Pro"/>
              </a:rPr>
              <a:t>Mannequin URDF (Human Model Generator, 22 DDL) — </a:t>
            </a:r>
            <a:r>
              <a:rPr sz="1300" b="1">
                <a:solidFill>
                  <a:srgbClr val="F45F0C"/>
                </a:solidFill>
                <a:latin typeface="Source Sans Pro"/>
              </a:rPr>
              <a:t>mais RoboDK n'importe pas l'URDF</a:t>
            </a:r>
            <a:r>
              <a:rPr sz="1300" b="0">
                <a:solidFill>
                  <a:srgbClr val="222A35"/>
                </a:solidFill>
                <a:latin typeface="Source Sans Pro"/>
              </a:rPr>
              <a:t> : son générateur de mécanismes ne gère que des chaînes série (≤ 7 axes), or le corps est un arbre.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" y="3429000"/>
            <a:ext cx="8183879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00" b="1">
                <a:solidFill>
                  <a:srgbClr val="F45F0C"/>
                </a:solidFill>
                <a:latin typeface="Source Sans Pro"/>
              </a:rPr>
              <a:t>On reconstruit l'articulation à la main</a:t>
            </a:r>
            <a:r>
              <a:rPr sz="1300" b="0">
                <a:solidFill>
                  <a:srgbClr val="222A35"/>
                </a:solidFill>
                <a:latin typeface="Source Sans Pro"/>
              </a:rPr>
              <a:t> (repères imbriqués + API Python). L'URDF devient une </a:t>
            </a:r>
            <a:r>
              <a:rPr sz="1300" b="1">
                <a:solidFill>
                  <a:srgbClr val="F45F0C"/>
                </a:solidFill>
                <a:latin typeface="Source Sans Pro"/>
              </a:rPr>
              <a:t>table de référence</a:t>
            </a:r>
            <a:r>
              <a:rPr sz="1300" b="0">
                <a:solidFill>
                  <a:srgbClr val="222A35"/>
                </a:solidFill>
                <a:latin typeface="Source Sans Pro"/>
              </a:rPr>
              <a:t> : quels DDL, quels axes, quelles butées.</a:t>
            </a:r>
          </a:p>
        </p:txBody>
      </p:sp>
      <p:sp>
        <p:nvSpPr>
          <p:cNvPr id="20" name="Espace réservé du pied de page 8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fr-FR" dirty="0">
                <a:solidFill>
                  <a:schemeClr val="tx2"/>
                </a:solidFill>
              </a:rPr>
              <a:t>|</a:t>
            </a:r>
            <a:r>
              <a:rPr lang="fr-FR" dirty="0">
                <a:solidFill>
                  <a:srgbClr val="222A35"/>
                </a:solidFill>
              </a:rPr>
              <a:t>          </a:t>
            </a:r>
            <a:r>
              <a:rPr lang="fr-FR" b="1" dirty="0">
                <a:solidFill>
                  <a:srgbClr val="222A35"/>
                </a:solidFill>
              </a:rPr>
              <a:t>ISAE-</a:t>
            </a:r>
            <a:r>
              <a:rPr lang="fr-FR" b="1" dirty="0" err="1">
                <a:solidFill>
                  <a:srgbClr val="222A35"/>
                </a:solidFill>
              </a:rPr>
              <a:t>Supméca</a:t>
            </a:r>
            <a:r>
              <a:rPr lang="fr-FR" dirty="0">
                <a:solidFill>
                  <a:srgbClr val="222A35"/>
                </a:solidFill>
              </a:rPr>
              <a:t> – Institut supérieur de mécanique de Paris          </a:t>
            </a:r>
            <a:r>
              <a:rPr lang="fr-FR" dirty="0">
                <a:solidFill>
                  <a:schemeClr val="tx2"/>
                </a:solidFill>
              </a:rPr>
              <a:t>|</a:t>
            </a:r>
          </a:p>
        </p:txBody>
      </p:sp>
      <p:sp>
        <p:nvSpPr>
          <p:cNvPr id="21" name="Espace réservé du numéro de diapositive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189AD21-9F8B-47CF-9B2C-59971C9A1C69}" type="slidenum">
              <a:rPr lang="fr-FR" smtClean="0"/>
              <a:pPr/>
              <a:t>13</a:t>
            </a:fld>
            <a:endParaRPr lang="fr-FR" dirty="0"/>
          </a:p>
        </p:txBody>
      </p:sp>
      <p:sp>
        <p:nvSpPr>
          <p:cNvPr id="22" name="Rounded Rectangle 21"/>
          <p:cNvSpPr/>
          <p:nvPr/>
        </p:nvSpPr>
        <p:spPr>
          <a:xfrm>
            <a:off x="484632" y="2148840"/>
            <a:ext cx="1195789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94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100">
                <a:solidFill>
                  <a:srgbClr val="222A35"/>
                </a:solidFill>
              </a:rPr>
              <a:t>URDF (HMG)</a:t>
            </a:r>
          </a:p>
          <a:p>
            <a:pPr algn="ctr"/>
            <a:r>
              <a:rPr sz="800">
                <a:solidFill>
                  <a:srgbClr val="5B6675"/>
                </a:solidFill>
              </a:rPr>
              <a:t>22 DDL, butées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1693553" y="2583180"/>
            <a:ext cx="173736" cy="182880"/>
          </a:xfrm>
          <a:prstGeom prst="rightArrow">
            <a:avLst/>
          </a:prstGeom>
          <a:solidFill>
            <a:srgbClr val="F68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880421" y="2148840"/>
            <a:ext cx="1195789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94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100">
                <a:solidFill>
                  <a:srgbClr val="222A35"/>
                </a:solidFill>
              </a:rPr>
              <a:t>Modèle 3D</a:t>
            </a:r>
          </a:p>
          <a:p>
            <a:pPr algn="ctr"/>
            <a:r>
              <a:rPr sz="800">
                <a:solidFill>
                  <a:srgbClr val="5B6675"/>
                </a:solidFill>
              </a:rPr>
              <a:t>Manikin_1.STEP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3089342" y="2583180"/>
            <a:ext cx="173736" cy="182880"/>
          </a:xfrm>
          <a:prstGeom prst="rightArrow">
            <a:avLst/>
          </a:prstGeom>
          <a:solidFill>
            <a:srgbClr val="F68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276210" y="2148840"/>
            <a:ext cx="1195789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94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100">
                <a:solidFill>
                  <a:srgbClr val="222A35"/>
                </a:solidFill>
              </a:rPr>
              <a:t>Découpe</a:t>
            </a:r>
          </a:p>
          <a:p>
            <a:pPr algn="ctr"/>
            <a:r>
              <a:rPr sz="800">
                <a:solidFill>
                  <a:srgbClr val="5B6675"/>
                </a:solidFill>
              </a:rPr>
              <a:t>15 segments (Split)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4485131" y="2583180"/>
            <a:ext cx="173736" cy="182880"/>
          </a:xfrm>
          <a:prstGeom prst="rightArrow">
            <a:avLst/>
          </a:prstGeom>
          <a:solidFill>
            <a:srgbClr val="F68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671999" y="2148840"/>
            <a:ext cx="1195789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94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100">
                <a:solidFill>
                  <a:srgbClr val="222A35"/>
                </a:solidFill>
              </a:rPr>
              <a:t>Rig 22 DDL</a:t>
            </a:r>
          </a:p>
          <a:p>
            <a:pPr algn="ctr"/>
            <a:r>
              <a:rPr sz="800">
                <a:solidFill>
                  <a:srgbClr val="5B6675"/>
                </a:solidFill>
              </a:rPr>
              <a:t>repères imbriqués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5880920" y="2583180"/>
            <a:ext cx="173736" cy="182880"/>
          </a:xfrm>
          <a:prstGeom prst="rightArrow">
            <a:avLst/>
          </a:prstGeom>
          <a:solidFill>
            <a:srgbClr val="F68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067788" y="2148840"/>
            <a:ext cx="1195789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94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100">
                <a:solidFill>
                  <a:srgbClr val="222A35"/>
                </a:solidFill>
              </a:rPr>
              <a:t>Génération</a:t>
            </a:r>
          </a:p>
          <a:p>
            <a:pPr algn="ctr"/>
            <a:r>
              <a:rPr sz="800">
                <a:solidFill>
                  <a:srgbClr val="5B6675"/>
                </a:solidFill>
              </a:rPr>
              <a:t>marches, manip.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7276709" y="2583180"/>
            <a:ext cx="173736" cy="182880"/>
          </a:xfrm>
          <a:prstGeom prst="rightArrow">
            <a:avLst/>
          </a:prstGeom>
          <a:solidFill>
            <a:srgbClr val="F68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7463577" y="2148840"/>
            <a:ext cx="1195789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94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100">
                <a:solidFill>
                  <a:srgbClr val="222A35"/>
                </a:solidFill>
              </a:rPr>
              <a:t>Trajectoire</a:t>
            </a:r>
          </a:p>
          <a:p>
            <a:pPr algn="ctr"/>
            <a:r>
              <a:rPr sz="800">
                <a:solidFill>
                  <a:srgbClr val="5B6675"/>
                </a:solidFill>
              </a:rPr>
              <a:t>courbe externe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700" b="1">
                <a:solidFill>
                  <a:srgbClr val="222A35"/>
                </a:solidFill>
                <a:latin typeface="Source Sans Pro"/>
              </a:rPr>
              <a:t>Arborescence des repères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84632" y="786384"/>
            <a:ext cx="8174736" cy="38100"/>
          </a:xfrm>
          <a:prstGeom prst="rect">
            <a:avLst/>
          </a:prstGeom>
          <a:solidFill>
            <a:srgbClr val="222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84632" y="1024128"/>
            <a:ext cx="4160520" cy="3520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46888" indent="-246888" algn="l">
              <a:lnSpc>
                <a:spcPct val="105000"/>
              </a:lnSpc>
              <a:spcAft>
                <a:spcPts val="700"/>
              </a:spcAft>
              <a:buNone/>
            </a:pPr>
            <a:r>
              <a:rPr sz="1500" b="1">
                <a:solidFill>
                  <a:srgbClr val="F45F0C"/>
                </a:solidFill>
                <a:latin typeface="Source Sans Pro"/>
              </a:rPr>
              <a:t>▸  </a:t>
            </a:r>
            <a:r>
              <a:rPr sz="1500" b="0">
                <a:solidFill>
                  <a:srgbClr val="222A35"/>
                </a:solidFill>
                <a:latin typeface="Source Sans Pro"/>
              </a:rPr>
              <a:t>Principe directeur : </a:t>
            </a:r>
            <a:r>
              <a:rPr sz="1500" b="1">
                <a:solidFill>
                  <a:srgbClr val="222A35"/>
                </a:solidFill>
                <a:latin typeface="Source Sans Pro"/>
              </a:rPr>
              <a:t>un repère = un degré de liberté</a:t>
            </a:r>
            <a:r>
              <a:rPr sz="1500" b="0">
                <a:solidFill>
                  <a:srgbClr val="222A35"/>
                </a:solidFill>
                <a:latin typeface="Source Sans Pro"/>
              </a:rPr>
              <a:t> (rotation sur un seul axe).</a:t>
            </a:r>
          </a:p>
          <a:p>
            <a:pPr marL="246888" indent="-246888" algn="l">
              <a:lnSpc>
                <a:spcPct val="105000"/>
              </a:lnSpc>
              <a:spcAft>
                <a:spcPts val="700"/>
              </a:spcAft>
              <a:buNone/>
            </a:pPr>
            <a:r>
              <a:rPr sz="1500" b="1">
                <a:solidFill>
                  <a:srgbClr val="F45F0C"/>
                </a:solidFill>
                <a:latin typeface="Source Sans Pro"/>
              </a:rPr>
              <a:t>▸  </a:t>
            </a:r>
            <a:r>
              <a:rPr sz="1500" b="0">
                <a:solidFill>
                  <a:srgbClr val="222A35"/>
                </a:solidFill>
                <a:latin typeface="Source Sans Pro"/>
              </a:rPr>
              <a:t>Une </a:t>
            </a:r>
            <a:r>
              <a:rPr sz="1500" b="1">
                <a:solidFill>
                  <a:srgbClr val="222A35"/>
                </a:solidFill>
                <a:latin typeface="Source Sans Pro"/>
              </a:rPr>
              <a:t>rotule</a:t>
            </a:r>
            <a:r>
              <a:rPr sz="1500" b="0">
                <a:solidFill>
                  <a:srgbClr val="222A35"/>
                </a:solidFill>
                <a:latin typeface="Source Sans Pro"/>
              </a:rPr>
              <a:t> (épaule, hanche) = </a:t>
            </a:r>
            <a:r>
              <a:rPr sz="1500" b="1">
                <a:solidFill>
                  <a:srgbClr val="222A35"/>
                </a:solidFill>
                <a:latin typeface="Source Sans Pro"/>
              </a:rPr>
              <a:t>3 repères imbriqués</a:t>
            </a:r>
            <a:r>
              <a:rPr sz="1500" b="0">
                <a:solidFill>
                  <a:srgbClr val="222A35"/>
                </a:solidFill>
                <a:latin typeface="Source Sans Pro"/>
              </a:rPr>
              <a:t> au même point.</a:t>
            </a:r>
          </a:p>
          <a:p>
            <a:pPr marL="246888" indent="-246888" algn="l">
              <a:lnSpc>
                <a:spcPct val="105000"/>
              </a:lnSpc>
              <a:spcAft>
                <a:spcPts val="700"/>
              </a:spcAft>
              <a:buNone/>
            </a:pPr>
            <a:r>
              <a:rPr sz="1500" b="1">
                <a:solidFill>
                  <a:srgbClr val="F45F0C"/>
                </a:solidFill>
                <a:latin typeface="Source Sans Pro"/>
              </a:rPr>
              <a:t>▸  </a:t>
            </a:r>
            <a:r>
              <a:rPr sz="1500" b="0">
                <a:solidFill>
                  <a:srgbClr val="222A35"/>
                </a:solidFill>
                <a:latin typeface="Source Sans Pro"/>
              </a:rPr>
              <a:t>Hiérarchie = </a:t>
            </a:r>
            <a:r>
              <a:rPr sz="1500" b="1">
                <a:solidFill>
                  <a:srgbClr val="222A35"/>
                </a:solidFill>
                <a:latin typeface="Source Sans Pro"/>
              </a:rPr>
              <a:t>arbre enraciné au bassin</a:t>
            </a:r>
            <a:r>
              <a:rPr sz="1500" b="0">
                <a:solidFill>
                  <a:srgbClr val="222A35"/>
                </a:solidFill>
                <a:latin typeface="Source Sans Pro"/>
              </a:rPr>
              <a:t> (Human_Base) : un repère qui tourne entraîne tous ses descendants.</a:t>
            </a:r>
          </a:p>
          <a:p>
            <a:pPr marL="246888" indent="-246888" algn="l">
              <a:lnSpc>
                <a:spcPct val="105000"/>
              </a:lnSpc>
              <a:spcAft>
                <a:spcPts val="700"/>
              </a:spcAft>
              <a:buNone/>
            </a:pPr>
            <a:r>
              <a:rPr sz="1500" b="1">
                <a:solidFill>
                  <a:srgbClr val="F45F0C"/>
                </a:solidFill>
                <a:latin typeface="Source Sans Pro"/>
              </a:rPr>
              <a:t>▸  </a:t>
            </a:r>
            <a:r>
              <a:rPr sz="1500" b="0">
                <a:solidFill>
                  <a:srgbClr val="222A35"/>
                </a:solidFill>
                <a:latin typeface="Source Sans Pro"/>
              </a:rPr>
              <a:t>Les </a:t>
            </a:r>
            <a:r>
              <a:rPr sz="1500" b="1">
                <a:solidFill>
                  <a:srgbClr val="222A35"/>
                </a:solidFill>
                <a:latin typeface="Source Sans Pro"/>
              </a:rPr>
              <a:t>segments</a:t>
            </a:r>
            <a:r>
              <a:rPr sz="1500" b="0">
                <a:solidFill>
                  <a:srgbClr val="222A35"/>
                </a:solidFill>
                <a:latin typeface="Source Sans Pro"/>
              </a:rPr>
              <a:t> sont soudés aux repères (setParentStatic), sans DDL propre.</a:t>
            </a:r>
          </a:p>
        </p:txBody>
      </p:sp>
      <p:sp>
        <p:nvSpPr>
          <p:cNvPr id="5" name="Rectangle 4"/>
          <p:cNvSpPr/>
          <p:nvPr/>
        </p:nvSpPr>
        <p:spPr>
          <a:xfrm>
            <a:off x="4718304" y="1302943"/>
            <a:ext cx="4005072" cy="2834792"/>
          </a:xfrm>
          <a:prstGeom prst="rect">
            <a:avLst/>
          </a:prstGeom>
          <a:solidFill>
            <a:srgbClr val="FFFFFF"/>
          </a:solidFill>
          <a:ln w="9525">
            <a:solidFill>
              <a:srgbClr val="394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structure_arboresc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39519"/>
            <a:ext cx="3931920" cy="27616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754880" y="4507992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i="1">
                <a:solidFill>
                  <a:srgbClr val="5B6675"/>
                </a:solidFill>
                <a:latin typeface="Source Sans Pro"/>
              </a:rPr>
              <a:t>Structure de l'arborescence du rig (22 DDL)</a:t>
            </a:r>
          </a:p>
        </p:txBody>
      </p:sp>
      <p:sp>
        <p:nvSpPr>
          <p:cNvPr id="9" name="Espace réservé du pied de page 8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fr-FR" dirty="0">
                <a:solidFill>
                  <a:schemeClr val="tx2"/>
                </a:solidFill>
              </a:rPr>
              <a:t>|</a:t>
            </a:r>
            <a:r>
              <a:rPr lang="fr-FR" dirty="0">
                <a:solidFill>
                  <a:srgbClr val="222A35"/>
                </a:solidFill>
              </a:rPr>
              <a:t>          </a:t>
            </a:r>
            <a:r>
              <a:rPr lang="fr-FR" b="1" dirty="0">
                <a:solidFill>
                  <a:srgbClr val="222A35"/>
                </a:solidFill>
              </a:rPr>
              <a:t>ISAE-</a:t>
            </a:r>
            <a:r>
              <a:rPr lang="fr-FR" b="1" dirty="0" err="1">
                <a:solidFill>
                  <a:srgbClr val="222A35"/>
                </a:solidFill>
              </a:rPr>
              <a:t>Supméca</a:t>
            </a:r>
            <a:r>
              <a:rPr lang="fr-FR" dirty="0">
                <a:solidFill>
                  <a:srgbClr val="222A35"/>
                </a:solidFill>
              </a:rPr>
              <a:t> – Institut supérieur de mécanique de Paris          </a:t>
            </a:r>
            <a:r>
              <a:rPr lang="fr-FR" dirty="0">
                <a:solidFill>
                  <a:schemeClr val="tx2"/>
                </a:solidFill>
              </a:rPr>
              <a:t>|</a:t>
            </a:r>
          </a:p>
        </p:txBody>
      </p:sp>
      <p:sp>
        <p:nvSpPr>
          <p:cNvPr id="10" name="Espace réservé du numéro de diapositive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189AD21-9F8B-47CF-9B2C-59971C9A1C69}" type="slidenum">
              <a:rPr lang="fr-FR" smtClean="0"/>
              <a:pPr/>
              <a:t>14</a:t>
            </a:fld>
            <a:endParaRPr lang="fr-FR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A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502920"/>
            <a:ext cx="365760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0" b="1">
                <a:solidFill>
                  <a:srgbClr val="394555"/>
                </a:solidFill>
                <a:latin typeface="Source Sans Pro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148840"/>
            <a:ext cx="7772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45F0C"/>
                </a:solidFill>
                <a:latin typeface="Source Sans Pro"/>
              </a:rPr>
              <a:t>PARTIE 4 / 6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2606040"/>
            <a:ext cx="50800" cy="1280160"/>
          </a:xfrm>
          <a:prstGeom prst="rect">
            <a:avLst/>
          </a:prstGeom>
          <a:solidFill>
            <a:srgbClr val="F45F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2560320"/>
            <a:ext cx="76809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Source Sans Pro"/>
              </a:rPr>
              <a:t>Développement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>
                <a:solidFill>
                  <a:srgbClr val="ADB4BD"/>
                </a:solidFill>
                <a:latin typeface="Source Sans Pro"/>
              </a:rPr>
              <a:t>Génération du mouvement : locomotion &amp; manipulation</a:t>
            </a:r>
          </a:p>
        </p:txBody>
      </p:sp>
      <p:sp>
        <p:nvSpPr>
          <p:cNvPr id="7" name="Espace réservé du pied de page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fr-FR" dirty="0">
                <a:solidFill>
                  <a:schemeClr val="tx2"/>
                </a:solidFill>
              </a:rPr>
              <a:t>|</a:t>
            </a:r>
            <a:r>
              <a:rPr lang="fr-FR" dirty="0">
                <a:solidFill>
                  <a:srgbClr val="F2F2F2"/>
                </a:solidFill>
              </a:rPr>
              <a:t>         </a:t>
            </a:r>
            <a:r>
              <a:rPr lang="fr-FR" b="1" dirty="0">
                <a:solidFill>
                  <a:srgbClr val="F2F2F2"/>
                </a:solidFill>
              </a:rPr>
              <a:t> ISAE-</a:t>
            </a:r>
            <a:r>
              <a:rPr lang="fr-FR" b="1" dirty="0" err="1">
                <a:solidFill>
                  <a:srgbClr val="F2F2F2"/>
                </a:solidFill>
              </a:rPr>
              <a:t>Supméca</a:t>
            </a:r>
            <a:r>
              <a:rPr lang="fr-FR" b="1" dirty="0">
                <a:solidFill>
                  <a:srgbClr val="F2F2F2"/>
                </a:solidFill>
              </a:rPr>
              <a:t> </a:t>
            </a:r>
            <a:r>
              <a:rPr lang="fr-FR" dirty="0">
                <a:solidFill>
                  <a:srgbClr val="F2F2F2"/>
                </a:solidFill>
              </a:rPr>
              <a:t>– Institut supérieur de mécanique de Paris          </a:t>
            </a:r>
            <a:r>
              <a:rPr lang="fr-FR" dirty="0">
                <a:solidFill>
                  <a:schemeClr val="tx2"/>
                </a:solidFill>
              </a:rPr>
              <a:t>|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189AD21-9F8B-47CF-9B2C-59971C9A1C69}" type="slidenum">
              <a:rPr lang="fr-FR" smtClean="0">
                <a:solidFill>
                  <a:srgbClr val="F2F2F2"/>
                </a:solidFill>
              </a:rPr>
              <a:pPr/>
              <a:t>15</a:t>
            </a:fld>
            <a:endParaRPr lang="fr-FR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700" b="1">
                <a:solidFill>
                  <a:srgbClr val="222A35"/>
                </a:solidFill>
                <a:latin typeface="Source Sans Pro"/>
              </a:rPr>
              <a:t>Principe d'animation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84632" y="786384"/>
            <a:ext cx="8174736" cy="38100"/>
          </a:xfrm>
          <a:prstGeom prst="rect">
            <a:avLst/>
          </a:prstGeom>
          <a:solidFill>
            <a:srgbClr val="222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84632" y="1024128"/>
            <a:ext cx="4572000" cy="3520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46888" indent="-246888" algn="l">
              <a:lnSpc>
                <a:spcPct val="105000"/>
              </a:lnSpc>
              <a:spcAft>
                <a:spcPts val="700"/>
              </a:spcAft>
              <a:buNone/>
            </a:pPr>
            <a:r>
              <a:rPr sz="1550" b="1">
                <a:solidFill>
                  <a:srgbClr val="F45F0C"/>
                </a:solidFill>
                <a:latin typeface="Source Sans Pro"/>
              </a:rPr>
              <a:t>▸  </a:t>
            </a:r>
            <a:r>
              <a:rPr sz="1550" b="0">
                <a:solidFill>
                  <a:srgbClr val="222A35"/>
                </a:solidFill>
                <a:latin typeface="Source Sans Pro"/>
              </a:rPr>
              <a:t>Au lancement, on </a:t>
            </a:r>
            <a:r>
              <a:rPr sz="1550" b="1">
                <a:solidFill>
                  <a:srgbClr val="222A35"/>
                </a:solidFill>
                <a:latin typeface="Source Sans Pro"/>
              </a:rPr>
              <a:t>capture la pose de repos</a:t>
            </a:r>
            <a:r>
              <a:rPr sz="1550" b="0">
                <a:solidFill>
                  <a:srgbClr val="222A35"/>
                </a:solidFill>
                <a:latin typeface="Source Sans Pro"/>
              </a:rPr>
              <a:t> (garde-à-vous) de chaque repère.</a:t>
            </a:r>
          </a:p>
          <a:p>
            <a:pPr marL="246888" indent="-246888" algn="l">
              <a:lnSpc>
                <a:spcPct val="105000"/>
              </a:lnSpc>
              <a:spcAft>
                <a:spcPts val="700"/>
              </a:spcAft>
              <a:buNone/>
            </a:pPr>
            <a:r>
              <a:rPr sz="1550" b="1">
                <a:solidFill>
                  <a:srgbClr val="F45F0C"/>
                </a:solidFill>
                <a:latin typeface="Source Sans Pro"/>
              </a:rPr>
              <a:t>▸  </a:t>
            </a:r>
            <a:r>
              <a:rPr sz="1550" b="0">
                <a:solidFill>
                  <a:srgbClr val="222A35"/>
                </a:solidFill>
                <a:latin typeface="Source Sans Pro"/>
              </a:rPr>
              <a:t>Animer un DDL = repartir du repos + appliquer une </a:t>
            </a:r>
            <a:r>
              <a:rPr sz="1550" b="1">
                <a:solidFill>
                  <a:srgbClr val="222A35"/>
                </a:solidFill>
                <a:latin typeface="Source Sans Pro"/>
              </a:rPr>
              <a:t>rotation sur son axe</a:t>
            </a:r>
            <a:r>
              <a:rPr sz="1550" b="0">
                <a:solidFill>
                  <a:srgbClr val="222A35"/>
                </a:solidFill>
                <a:latin typeface="Source Sans Pro"/>
              </a:rPr>
              <a:t>, bornée aux </a:t>
            </a:r>
            <a:r>
              <a:rPr sz="1550" b="1">
                <a:solidFill>
                  <a:srgbClr val="222A35"/>
                </a:solidFill>
                <a:latin typeface="Source Sans Pro"/>
              </a:rPr>
              <a:t>butées articulaires</a:t>
            </a:r>
            <a:r>
              <a:rPr sz="1550" b="0">
                <a:solidFill>
                  <a:srgbClr val="222A35"/>
                </a:solidFill>
                <a:latin typeface="Source Sans Pro"/>
              </a:rPr>
              <a:t>.</a:t>
            </a:r>
          </a:p>
          <a:p>
            <a:pPr marL="246888" indent="-246888" algn="l">
              <a:lnSpc>
                <a:spcPct val="105000"/>
              </a:lnSpc>
              <a:spcAft>
                <a:spcPts val="700"/>
              </a:spcAft>
              <a:buNone/>
            </a:pPr>
            <a:r>
              <a:rPr sz="1550" b="1">
                <a:solidFill>
                  <a:srgbClr val="F45F0C"/>
                </a:solidFill>
                <a:latin typeface="Source Sans Pro"/>
              </a:rPr>
              <a:t>▸  </a:t>
            </a:r>
            <a:r>
              <a:rPr sz="1550" b="0">
                <a:solidFill>
                  <a:srgbClr val="222A35"/>
                </a:solidFill>
                <a:latin typeface="Source Sans Pro"/>
              </a:rPr>
              <a:t>Garanties :</a:t>
            </a:r>
          </a:p>
          <a:p>
            <a:pPr marL="521208" indent="-201168" algn="l">
              <a:lnSpc>
                <a:spcPct val="105000"/>
              </a:lnSpc>
              <a:spcAft>
                <a:spcPts val="700"/>
              </a:spcAft>
              <a:buNone/>
            </a:pPr>
            <a:r>
              <a:rPr sz="1550" b="1">
                <a:solidFill>
                  <a:srgbClr val="F68140"/>
                </a:solidFill>
                <a:latin typeface="Source Sans Pro"/>
              </a:rPr>
              <a:t>•  </a:t>
            </a:r>
            <a:r>
              <a:rPr sz="1550" b="0">
                <a:solidFill>
                  <a:srgbClr val="222A35"/>
                </a:solidFill>
                <a:latin typeface="Source Sans Pro"/>
              </a:rPr>
              <a:t>mouvements toujours dans les amplitudes physiologiques</a:t>
            </a:r>
          </a:p>
          <a:p>
            <a:pPr marL="521208" indent="-201168" algn="l">
              <a:lnSpc>
                <a:spcPct val="105000"/>
              </a:lnSpc>
              <a:spcAft>
                <a:spcPts val="700"/>
              </a:spcAft>
              <a:buNone/>
            </a:pPr>
            <a:r>
              <a:rPr sz="1550" b="1">
                <a:solidFill>
                  <a:srgbClr val="F68140"/>
                </a:solidFill>
                <a:latin typeface="Source Sans Pro"/>
              </a:rPr>
              <a:t>•  </a:t>
            </a:r>
            <a:r>
              <a:rPr sz="1550" b="0">
                <a:solidFill>
                  <a:srgbClr val="222A35"/>
                </a:solidFill>
                <a:latin typeface="Source Sans Pro"/>
              </a:rPr>
              <a:t>les segments fils suivent automatiquement leur parent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221224" y="2238161"/>
            <a:ext cx="1764792" cy="827196"/>
          </a:xfrm>
          <a:prstGeom prst="rect">
            <a:avLst/>
          </a:prstGeom>
          <a:solidFill>
            <a:srgbClr val="FFFFFF"/>
          </a:solidFill>
          <a:ln w="9525">
            <a:solidFill>
              <a:srgbClr val="394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gav_fro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2274737"/>
            <a:ext cx="1691640" cy="754044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958584" y="2238161"/>
            <a:ext cx="1764792" cy="827196"/>
          </a:xfrm>
          <a:prstGeom prst="rect">
            <a:avLst/>
          </a:prstGeom>
          <a:solidFill>
            <a:srgbClr val="FFFFFF"/>
          </a:solidFill>
          <a:ln w="9525">
            <a:solidFill>
              <a:srgbClr val="394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gav_si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5160" y="2274737"/>
            <a:ext cx="1691640" cy="75404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257800" y="4416552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i="1">
                <a:solidFill>
                  <a:srgbClr val="5B6675"/>
                </a:solidFill>
                <a:latin typeface="Source Sans Pro"/>
              </a:rPr>
              <a:t>Pose de repos : référence de toutes les animations</a:t>
            </a:r>
          </a:p>
        </p:txBody>
      </p:sp>
      <p:sp>
        <p:nvSpPr>
          <p:cNvPr id="11" name="Espace réservé du pied de page 8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fr-FR" dirty="0">
                <a:solidFill>
                  <a:schemeClr val="tx2"/>
                </a:solidFill>
              </a:rPr>
              <a:t>|</a:t>
            </a:r>
            <a:r>
              <a:rPr lang="fr-FR" dirty="0">
                <a:solidFill>
                  <a:srgbClr val="222A35"/>
                </a:solidFill>
              </a:rPr>
              <a:t>          </a:t>
            </a:r>
            <a:r>
              <a:rPr lang="fr-FR" b="1" dirty="0">
                <a:solidFill>
                  <a:srgbClr val="222A35"/>
                </a:solidFill>
              </a:rPr>
              <a:t>ISAE-</a:t>
            </a:r>
            <a:r>
              <a:rPr lang="fr-FR" b="1" dirty="0" err="1">
                <a:solidFill>
                  <a:srgbClr val="222A35"/>
                </a:solidFill>
              </a:rPr>
              <a:t>Supméca</a:t>
            </a:r>
            <a:r>
              <a:rPr lang="fr-FR" dirty="0">
                <a:solidFill>
                  <a:srgbClr val="222A35"/>
                </a:solidFill>
              </a:rPr>
              <a:t> – Institut supérieur de mécanique de Paris          </a:t>
            </a:r>
            <a:r>
              <a:rPr lang="fr-FR" dirty="0">
                <a:solidFill>
                  <a:schemeClr val="tx2"/>
                </a:solidFill>
              </a:rPr>
              <a:t>|</a:t>
            </a:r>
          </a:p>
        </p:txBody>
      </p:sp>
      <p:sp>
        <p:nvSpPr>
          <p:cNvPr id="10" name="Espace réservé du numéro de diapositive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189AD21-9F8B-47CF-9B2C-59971C9A1C69}" type="slidenum">
              <a:rPr lang="fr-FR" smtClean="0"/>
              <a:pPr/>
              <a:t>16</a:t>
            </a:fld>
            <a:endParaRPr lang="fr-FR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700" b="1">
                <a:solidFill>
                  <a:srgbClr val="222A35"/>
                </a:solidFill>
                <a:latin typeface="Source Sans Pro"/>
              </a:rPr>
              <a:t>Locomotion — membres inférieurs</a:t>
            </a:r>
          </a:p>
        </p:txBody>
      </p:sp>
      <p:sp>
        <p:nvSpPr>
          <p:cNvPr id="3" name="Rectangle 2"/>
          <p:cNvSpPr/>
          <p:nvPr/>
        </p:nvSpPr>
        <p:spPr>
          <a:xfrm>
            <a:off x="484632" y="786384"/>
            <a:ext cx="8174736" cy="38100"/>
          </a:xfrm>
          <a:prstGeom prst="rect">
            <a:avLst/>
          </a:prstGeom>
          <a:solidFill>
            <a:srgbClr val="222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84632" y="914400"/>
            <a:ext cx="818387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22A35"/>
                </a:solidFill>
                <a:latin typeface="Source Sans Pro"/>
              </a:rPr>
              <a:t>Trois marches, de la plus stylisée à la plus libre :</a:t>
            </a:r>
          </a:p>
        </p:txBody>
      </p:sp>
      <p:sp>
        <p:nvSpPr>
          <p:cNvPr id="5" name="Rectangle 4"/>
          <p:cNvSpPr/>
          <p:nvPr/>
        </p:nvSpPr>
        <p:spPr>
          <a:xfrm>
            <a:off x="448056" y="1597987"/>
            <a:ext cx="2688336" cy="1238864"/>
          </a:xfrm>
          <a:prstGeom prst="rect">
            <a:avLst/>
          </a:prstGeom>
          <a:solidFill>
            <a:srgbClr val="FFFFFF"/>
          </a:solidFill>
          <a:ln w="9525">
            <a:solidFill>
              <a:srgbClr val="394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marche_militai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" y="1634563"/>
            <a:ext cx="2615184" cy="1165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84632" y="3108960"/>
            <a:ext cx="261518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45F0C"/>
                </a:solidFill>
                <a:latin typeface="Source Sans Pro"/>
              </a:rPr>
              <a:t>Marche militaire</a:t>
            </a:r>
          </a:p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100" b="0">
                <a:solidFill>
                  <a:srgbClr val="222A35"/>
                </a:solidFill>
                <a:latin typeface="Source Sans Pro"/>
              </a:rPr>
              <a:t>Sur place, cycle sinusoïdal. Jambe d'appui tendue, bras en opposition.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27832" y="1597987"/>
            <a:ext cx="2688336" cy="1238864"/>
          </a:xfrm>
          <a:prstGeom prst="rect">
            <a:avLst/>
          </a:prstGeom>
          <a:solidFill>
            <a:srgbClr val="FFFFFF"/>
          </a:solidFill>
          <a:ln w="9525">
            <a:solidFill>
              <a:srgbClr val="394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marche_ava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4408" y="1634563"/>
            <a:ext cx="2615184" cy="116571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264408" y="3108960"/>
            <a:ext cx="261518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45F0C"/>
                </a:solidFill>
                <a:latin typeface="Source Sans Pro"/>
              </a:rPr>
              <a:t>Marche avant naturelle</a:t>
            </a:r>
          </a:p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100" b="0">
                <a:solidFill>
                  <a:srgbClr val="222A35"/>
                </a:solidFill>
                <a:latin typeface="Source Sans Pro"/>
              </a:rPr>
              <a:t>Balancier de hanche asymétrique. Anti-glissement : le corps avance à la vitesse des pas.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07608" y="1597987"/>
            <a:ext cx="2688336" cy="1238864"/>
          </a:xfrm>
          <a:prstGeom prst="rect">
            <a:avLst/>
          </a:prstGeom>
          <a:solidFill>
            <a:srgbClr val="FFFFFF"/>
          </a:solidFill>
          <a:ln w="9525">
            <a:solidFill>
              <a:srgbClr val="394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traj_t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4184" y="1634563"/>
            <a:ext cx="2615184" cy="116571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044184" y="3108960"/>
            <a:ext cx="261518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45F0C"/>
                </a:solidFill>
                <a:latin typeface="Source Sans Pro"/>
              </a:rPr>
              <a:t>Trajectoire externe</a:t>
            </a:r>
          </a:p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100" b="0">
                <a:solidFill>
                  <a:srgbClr val="222A35"/>
                </a:solidFill>
                <a:latin typeface="Source Sans Pro"/>
              </a:rPr>
              <a:t>Points dans un fichier JSON → spline de Catmull-Rom. Modifiable sans toucher au code.</a:t>
            </a:r>
          </a:p>
        </p:txBody>
      </p:sp>
      <p:sp>
        <p:nvSpPr>
          <p:cNvPr id="14" name="Espace réservé du pied de page 8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fr-FR" dirty="0">
                <a:solidFill>
                  <a:schemeClr val="tx2"/>
                </a:solidFill>
              </a:rPr>
              <a:t>|</a:t>
            </a:r>
            <a:r>
              <a:rPr lang="fr-FR" dirty="0">
                <a:solidFill>
                  <a:srgbClr val="222A35"/>
                </a:solidFill>
              </a:rPr>
              <a:t>          </a:t>
            </a:r>
            <a:r>
              <a:rPr lang="fr-FR" b="1" dirty="0">
                <a:solidFill>
                  <a:srgbClr val="222A35"/>
                </a:solidFill>
              </a:rPr>
              <a:t>ISAE-</a:t>
            </a:r>
            <a:r>
              <a:rPr lang="fr-FR" b="1" dirty="0" err="1">
                <a:solidFill>
                  <a:srgbClr val="222A35"/>
                </a:solidFill>
              </a:rPr>
              <a:t>Supméca</a:t>
            </a:r>
            <a:r>
              <a:rPr lang="fr-FR" dirty="0">
                <a:solidFill>
                  <a:srgbClr val="222A35"/>
                </a:solidFill>
              </a:rPr>
              <a:t> – Institut supérieur de mécanique de Paris          </a:t>
            </a:r>
            <a:r>
              <a:rPr lang="fr-FR" dirty="0">
                <a:solidFill>
                  <a:schemeClr val="tx2"/>
                </a:solidFill>
              </a:rPr>
              <a:t>|</a:t>
            </a:r>
          </a:p>
        </p:txBody>
      </p:sp>
      <p:sp>
        <p:nvSpPr>
          <p:cNvPr id="15" name="Espace réservé du numéro de diapositive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189AD21-9F8B-47CF-9B2C-59971C9A1C69}" type="slidenum">
              <a:rPr lang="fr-FR" smtClean="0"/>
              <a:pPr/>
              <a:t>17</a:t>
            </a:fld>
            <a:endParaRPr lang="fr-FR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700" b="1">
                <a:solidFill>
                  <a:srgbClr val="222A35"/>
                </a:solidFill>
                <a:latin typeface="Source Sans Pro"/>
              </a:rPr>
              <a:t>Manipulation — tâche du bras</a:t>
            </a:r>
          </a:p>
        </p:txBody>
      </p:sp>
      <p:sp>
        <p:nvSpPr>
          <p:cNvPr id="3" name="Rectangle 2"/>
          <p:cNvSpPr/>
          <p:nvPr/>
        </p:nvSpPr>
        <p:spPr>
          <a:xfrm>
            <a:off x="484632" y="786384"/>
            <a:ext cx="8174736" cy="38100"/>
          </a:xfrm>
          <a:prstGeom prst="rect">
            <a:avLst/>
          </a:prstGeom>
          <a:solidFill>
            <a:srgbClr val="222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84632" y="1024128"/>
            <a:ext cx="4526280" cy="3520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46888" indent="-246888" algn="l">
              <a:lnSpc>
                <a:spcPct val="105000"/>
              </a:lnSpc>
              <a:spcAft>
                <a:spcPts val="700"/>
              </a:spcAft>
              <a:buNone/>
            </a:pPr>
            <a:r>
              <a:rPr sz="1450" b="1">
                <a:solidFill>
                  <a:srgbClr val="F45F0C"/>
                </a:solidFill>
                <a:latin typeface="Source Sans Pro"/>
              </a:rPr>
              <a:t>▸  </a:t>
            </a:r>
            <a:r>
              <a:rPr sz="1450" b="1">
                <a:solidFill>
                  <a:srgbClr val="222A35"/>
                </a:solidFill>
                <a:latin typeface="Source Sans Pro"/>
              </a:rPr>
              <a:t>Pick &amp; place</a:t>
            </a:r>
            <a:r>
              <a:rPr sz="1450" b="0">
                <a:solidFill>
                  <a:srgbClr val="222A35"/>
                </a:solidFill>
                <a:latin typeface="Source Sans Pro"/>
              </a:rPr>
              <a:t> : le bras gauche (6 DDL) saisit un cube, le déplace et le repose.</a:t>
            </a:r>
          </a:p>
          <a:p>
            <a:pPr marL="246888" indent="-246888" algn="l">
              <a:lnSpc>
                <a:spcPct val="105000"/>
              </a:lnSpc>
              <a:spcAft>
                <a:spcPts val="700"/>
              </a:spcAft>
              <a:buNone/>
            </a:pPr>
            <a:r>
              <a:rPr sz="1450" b="1">
                <a:solidFill>
                  <a:srgbClr val="F45F0C"/>
                </a:solidFill>
                <a:latin typeface="Source Sans Pro"/>
              </a:rPr>
              <a:t>▸  </a:t>
            </a:r>
            <a:r>
              <a:rPr sz="1450" b="1">
                <a:solidFill>
                  <a:srgbClr val="222A35"/>
                </a:solidFill>
                <a:latin typeface="Source Sans Pro"/>
              </a:rPr>
              <a:t>Cinématique inverse</a:t>
            </a:r>
            <a:r>
              <a:rPr sz="1450" b="0">
                <a:solidFill>
                  <a:srgbClr val="222A35"/>
                </a:solidFill>
                <a:latin typeface="Source Sans Pro"/>
              </a:rPr>
              <a:t> à 6 contraintes (position + orientation), résolue par </a:t>
            </a:r>
            <a:r>
              <a:rPr sz="1450" b="1">
                <a:solidFill>
                  <a:srgbClr val="222A35"/>
                </a:solidFill>
                <a:latin typeface="Source Sans Pro"/>
              </a:rPr>
              <a:t>moindres carrés amortis</a:t>
            </a:r>
            <a:r>
              <a:rPr sz="1450" b="0">
                <a:solidFill>
                  <a:srgbClr val="222A35"/>
                </a:solidFill>
                <a:latin typeface="Source Sans Pro"/>
              </a:rPr>
              <a:t> (DLS).</a:t>
            </a:r>
          </a:p>
          <a:p>
            <a:pPr marL="246888" indent="-246888" algn="l">
              <a:lnSpc>
                <a:spcPct val="105000"/>
              </a:lnSpc>
              <a:spcAft>
                <a:spcPts val="700"/>
              </a:spcAft>
              <a:buNone/>
            </a:pPr>
            <a:r>
              <a:rPr sz="1450" b="1">
                <a:solidFill>
                  <a:srgbClr val="F45F0C"/>
                </a:solidFill>
                <a:latin typeface="Source Sans Pro"/>
              </a:rPr>
              <a:t>▸  </a:t>
            </a:r>
            <a:r>
              <a:rPr sz="1450" b="1">
                <a:solidFill>
                  <a:srgbClr val="222A35"/>
                </a:solidFill>
                <a:latin typeface="Source Sans Pro"/>
              </a:rPr>
              <a:t>Tâche posturale secondaire</a:t>
            </a:r>
            <a:r>
              <a:rPr sz="1450" b="0">
                <a:solidFill>
                  <a:srgbClr val="222A35"/>
                </a:solidFill>
                <a:latin typeface="Source Sans Pro"/>
              </a:rPr>
              <a:t> : coude </a:t>
            </a:r>
            <a:r>
              <a:rPr sz="1450" b="1">
                <a:solidFill>
                  <a:srgbClr val="222A35"/>
                </a:solidFill>
                <a:latin typeface="Source Sans Pro"/>
              </a:rPr>
              <a:t>en arrière</a:t>
            </a:r>
            <a:r>
              <a:rPr sz="1450" b="0">
                <a:solidFill>
                  <a:srgbClr val="222A35"/>
                </a:solidFill>
                <a:latin typeface="Source Sans Pro"/>
              </a:rPr>
              <a:t> (geste humain), jamais vers l'avant.</a:t>
            </a:r>
          </a:p>
          <a:p>
            <a:pPr marL="246888" indent="-246888" algn="l">
              <a:lnSpc>
                <a:spcPct val="105000"/>
              </a:lnSpc>
              <a:spcAft>
                <a:spcPts val="700"/>
              </a:spcAft>
              <a:buNone/>
            </a:pPr>
            <a:r>
              <a:rPr sz="1450" b="1">
                <a:solidFill>
                  <a:srgbClr val="F45F0C"/>
                </a:solidFill>
                <a:latin typeface="Source Sans Pro"/>
              </a:rPr>
              <a:t>▸  </a:t>
            </a:r>
            <a:r>
              <a:rPr sz="1450" b="1">
                <a:solidFill>
                  <a:srgbClr val="222A35"/>
                </a:solidFill>
                <a:latin typeface="Source Sans Pro"/>
              </a:rPr>
              <a:t>Trajectoire précalculée</a:t>
            </a:r>
            <a:r>
              <a:rPr sz="1450" b="0">
                <a:solidFill>
                  <a:srgbClr val="222A35"/>
                </a:solidFill>
                <a:latin typeface="Source Sans Pro"/>
              </a:rPr>
              <a:t> (IK aux poses clés) → geste fluide ~7 s.</a:t>
            </a:r>
          </a:p>
          <a:p>
            <a:pPr marL="246888" indent="-246888" algn="l">
              <a:lnSpc>
                <a:spcPct val="105000"/>
              </a:lnSpc>
              <a:spcAft>
                <a:spcPts val="700"/>
              </a:spcAft>
              <a:buNone/>
            </a:pPr>
            <a:r>
              <a:rPr sz="1450" b="1">
                <a:solidFill>
                  <a:srgbClr val="F45F0C"/>
                </a:solidFill>
                <a:latin typeface="Source Sans Pro"/>
              </a:rPr>
              <a:t>▸  </a:t>
            </a:r>
            <a:r>
              <a:rPr sz="1450" b="1">
                <a:solidFill>
                  <a:srgbClr val="222A35"/>
                </a:solidFill>
                <a:latin typeface="Source Sans Pro"/>
              </a:rPr>
              <a:t>Position de la pièce externalisée</a:t>
            </a:r>
            <a:r>
              <a:rPr sz="1450" b="0">
                <a:solidFill>
                  <a:srgbClr val="222A35"/>
                </a:solidFill>
                <a:latin typeface="Source Sans Pro"/>
              </a:rPr>
              <a:t> : paramètre du scénario.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84064" y="1346621"/>
            <a:ext cx="1764792" cy="827196"/>
          </a:xfrm>
          <a:prstGeom prst="rect">
            <a:avLst/>
          </a:prstGeom>
          <a:solidFill>
            <a:srgbClr val="FFFFFF"/>
          </a:solidFill>
          <a:ln w="9525">
            <a:solidFill>
              <a:srgbClr val="394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bras_seq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383197"/>
            <a:ext cx="1691640" cy="75404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120640" y="2487168"/>
            <a:ext cx="1691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5B6675"/>
                </a:solidFill>
                <a:latin typeface="Source Sans Pro"/>
              </a:rPr>
              <a:t>Approche</a:t>
            </a:r>
          </a:p>
        </p:txBody>
      </p:sp>
      <p:sp>
        <p:nvSpPr>
          <p:cNvPr id="8" name="Rectangle 7"/>
          <p:cNvSpPr/>
          <p:nvPr/>
        </p:nvSpPr>
        <p:spPr>
          <a:xfrm>
            <a:off x="6885432" y="1346621"/>
            <a:ext cx="1764792" cy="827196"/>
          </a:xfrm>
          <a:prstGeom prst="rect">
            <a:avLst/>
          </a:prstGeom>
          <a:solidFill>
            <a:srgbClr val="FFFFFF"/>
          </a:solidFill>
          <a:ln w="9525">
            <a:solidFill>
              <a:srgbClr val="394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bras_seq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2008" y="1383197"/>
            <a:ext cx="1691640" cy="75404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922008" y="2487168"/>
            <a:ext cx="1691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5B6675"/>
                </a:solidFill>
                <a:latin typeface="Source Sans Pro"/>
              </a:rPr>
              <a:t>Saisie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84064" y="3147989"/>
            <a:ext cx="1764792" cy="827196"/>
          </a:xfrm>
          <a:prstGeom prst="rect">
            <a:avLst/>
          </a:prstGeom>
          <a:solidFill>
            <a:srgbClr val="FFFFFF"/>
          </a:solidFill>
          <a:ln w="9525">
            <a:solidFill>
              <a:srgbClr val="394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bras_seq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0" y="3184565"/>
            <a:ext cx="1691640" cy="75404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120640" y="4288536"/>
            <a:ext cx="1691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5B6675"/>
                </a:solidFill>
                <a:latin typeface="Source Sans Pro"/>
              </a:rPr>
              <a:t>Transit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85432" y="3147989"/>
            <a:ext cx="1764792" cy="827196"/>
          </a:xfrm>
          <a:prstGeom prst="rect">
            <a:avLst/>
          </a:prstGeom>
          <a:solidFill>
            <a:srgbClr val="FFFFFF"/>
          </a:solidFill>
          <a:ln w="9525">
            <a:solidFill>
              <a:srgbClr val="394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bras_seq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22008" y="3184565"/>
            <a:ext cx="1691640" cy="75404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922008" y="4288536"/>
            <a:ext cx="1691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5B6675"/>
                </a:solidFill>
                <a:latin typeface="Source Sans Pro"/>
              </a:rPr>
              <a:t>Dépose</a:t>
            </a:r>
          </a:p>
        </p:txBody>
      </p:sp>
      <p:sp>
        <p:nvSpPr>
          <p:cNvPr id="17" name="Espace réservé du pied de page 8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fr-FR" dirty="0">
                <a:solidFill>
                  <a:schemeClr val="tx2"/>
                </a:solidFill>
              </a:rPr>
              <a:t>|</a:t>
            </a:r>
            <a:r>
              <a:rPr lang="fr-FR" dirty="0">
                <a:solidFill>
                  <a:srgbClr val="222A35"/>
                </a:solidFill>
              </a:rPr>
              <a:t>          </a:t>
            </a:r>
            <a:r>
              <a:rPr lang="fr-FR" b="1" dirty="0">
                <a:solidFill>
                  <a:srgbClr val="222A35"/>
                </a:solidFill>
              </a:rPr>
              <a:t>ISAE-</a:t>
            </a:r>
            <a:r>
              <a:rPr lang="fr-FR" b="1" dirty="0" err="1">
                <a:solidFill>
                  <a:srgbClr val="222A35"/>
                </a:solidFill>
              </a:rPr>
              <a:t>Supméca</a:t>
            </a:r>
            <a:r>
              <a:rPr lang="fr-FR" dirty="0">
                <a:solidFill>
                  <a:srgbClr val="222A35"/>
                </a:solidFill>
              </a:rPr>
              <a:t> – Institut supérieur de mécanique de Paris          </a:t>
            </a:r>
            <a:r>
              <a:rPr lang="fr-FR" dirty="0">
                <a:solidFill>
                  <a:schemeClr val="tx2"/>
                </a:solidFill>
              </a:rPr>
              <a:t>|</a:t>
            </a:r>
          </a:p>
        </p:txBody>
      </p:sp>
      <p:sp>
        <p:nvSpPr>
          <p:cNvPr id="18" name="Espace réservé du numéro de diapositive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189AD21-9F8B-47CF-9B2C-59971C9A1C69}" type="slidenum">
              <a:rPr lang="fr-FR" smtClean="0"/>
              <a:pPr/>
              <a:t>18</a:t>
            </a:fld>
            <a:endParaRPr lang="fr-FR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A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502920"/>
            <a:ext cx="365760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0" b="1">
                <a:solidFill>
                  <a:srgbClr val="394555"/>
                </a:solidFill>
                <a:latin typeface="Source Sans Pro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148840"/>
            <a:ext cx="7772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45F0C"/>
                </a:solidFill>
                <a:latin typeface="Source Sans Pro"/>
              </a:rPr>
              <a:t>PARTIE 5 / 6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2606040"/>
            <a:ext cx="50800" cy="1280160"/>
          </a:xfrm>
          <a:prstGeom prst="rect">
            <a:avLst/>
          </a:prstGeom>
          <a:solidFill>
            <a:srgbClr val="F45F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2560320"/>
            <a:ext cx="76809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Source Sans Pro"/>
              </a:rPr>
              <a:t>Tests &amp; résultats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>
                <a:solidFill>
                  <a:srgbClr val="ADB4BD"/>
                </a:solidFill>
                <a:latin typeface="Source Sans Pro"/>
              </a:rPr>
              <a:t>Mesurer plutôt que juger à l'œil</a:t>
            </a:r>
          </a:p>
        </p:txBody>
      </p:sp>
      <p:sp>
        <p:nvSpPr>
          <p:cNvPr id="7" name="Espace réservé du pied de page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fr-FR" dirty="0">
                <a:solidFill>
                  <a:schemeClr val="tx2"/>
                </a:solidFill>
              </a:rPr>
              <a:t>|</a:t>
            </a:r>
            <a:r>
              <a:rPr lang="fr-FR" dirty="0">
                <a:solidFill>
                  <a:srgbClr val="F2F2F2"/>
                </a:solidFill>
              </a:rPr>
              <a:t>         </a:t>
            </a:r>
            <a:r>
              <a:rPr lang="fr-FR" b="1" dirty="0">
                <a:solidFill>
                  <a:srgbClr val="F2F2F2"/>
                </a:solidFill>
              </a:rPr>
              <a:t> ISAE-</a:t>
            </a:r>
            <a:r>
              <a:rPr lang="fr-FR" b="1" dirty="0" err="1">
                <a:solidFill>
                  <a:srgbClr val="F2F2F2"/>
                </a:solidFill>
              </a:rPr>
              <a:t>Supméca</a:t>
            </a:r>
            <a:r>
              <a:rPr lang="fr-FR" b="1" dirty="0">
                <a:solidFill>
                  <a:srgbClr val="F2F2F2"/>
                </a:solidFill>
              </a:rPr>
              <a:t> </a:t>
            </a:r>
            <a:r>
              <a:rPr lang="fr-FR" dirty="0">
                <a:solidFill>
                  <a:srgbClr val="F2F2F2"/>
                </a:solidFill>
              </a:rPr>
              <a:t>– Institut supérieur de mécanique de Paris          </a:t>
            </a:r>
            <a:r>
              <a:rPr lang="fr-FR" dirty="0">
                <a:solidFill>
                  <a:schemeClr val="tx2"/>
                </a:solidFill>
              </a:rPr>
              <a:t>|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189AD21-9F8B-47CF-9B2C-59971C9A1C69}" type="slidenum">
              <a:rPr lang="fr-FR" smtClean="0">
                <a:solidFill>
                  <a:srgbClr val="F2F2F2"/>
                </a:solidFill>
              </a:rPr>
              <a:pPr/>
              <a:t>19</a:t>
            </a:fld>
            <a:endParaRPr lang="fr-FR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700" b="1">
                <a:solidFill>
                  <a:srgbClr val="222A35"/>
                </a:solidFill>
                <a:latin typeface="Source Sans Pro"/>
              </a:rPr>
              <a:t>Problèmes rencontrés &amp; corrigés</a:t>
            </a:r>
          </a:p>
        </p:txBody>
      </p:sp>
      <p:sp>
        <p:nvSpPr>
          <p:cNvPr id="3" name="Rectangle 2"/>
          <p:cNvSpPr/>
          <p:nvPr/>
        </p:nvSpPr>
        <p:spPr>
          <a:xfrm>
            <a:off x="484632" y="786384"/>
            <a:ext cx="8174736" cy="38100"/>
          </a:xfrm>
          <a:prstGeom prst="rect">
            <a:avLst/>
          </a:prstGeom>
          <a:solidFill>
            <a:srgbClr val="222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84632" y="1024128"/>
            <a:ext cx="5074920" cy="3520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46888" indent="-246888" algn="l">
              <a:lnSpc>
                <a:spcPct val="105000"/>
              </a:lnSpc>
              <a:spcAft>
                <a:spcPts val="700"/>
              </a:spcAft>
              <a:buNone/>
            </a:pPr>
            <a:r>
              <a:rPr sz="1350" b="1">
                <a:solidFill>
                  <a:srgbClr val="F45F0C"/>
                </a:solidFill>
                <a:latin typeface="Source Sans Pro"/>
              </a:rPr>
              <a:t>▸  </a:t>
            </a:r>
            <a:r>
              <a:rPr sz="1350" b="1">
                <a:solidFill>
                  <a:srgbClr val="222A35"/>
                </a:solidFill>
                <a:latin typeface="Source Sans Pro"/>
              </a:rPr>
              <a:t>Mannequin « éclaté » à la réouverture</a:t>
            </a:r>
            <a:r>
              <a:rPr sz="1350" b="0">
                <a:solidFill>
                  <a:srgbClr val="222A35"/>
                </a:solidFill>
                <a:latin typeface="Source Sans Pro"/>
              </a:rPr>
              <a:t> : sous-solides (courbes) re-transformés deux fois → </a:t>
            </a:r>
            <a:r>
              <a:rPr sz="1350" b="1">
                <a:solidFill>
                  <a:srgbClr val="222A35"/>
                </a:solidFill>
                <a:latin typeface="Source Sans Pro"/>
              </a:rPr>
              <a:t>ré-attachement automatique (~2 s)</a:t>
            </a:r>
            <a:r>
              <a:rPr sz="1350" b="0">
                <a:solidFill>
                  <a:srgbClr val="222A35"/>
                </a:solidFill>
                <a:latin typeface="Source Sans Pro"/>
              </a:rPr>
              <a:t>, embarqué dans la station.</a:t>
            </a:r>
          </a:p>
          <a:p>
            <a:pPr marL="246888" indent="-246888" algn="l">
              <a:lnSpc>
                <a:spcPct val="105000"/>
              </a:lnSpc>
              <a:spcAft>
                <a:spcPts val="700"/>
              </a:spcAft>
              <a:buNone/>
            </a:pPr>
            <a:r>
              <a:rPr sz="1350" b="1">
                <a:solidFill>
                  <a:srgbClr val="F45F0C"/>
                </a:solidFill>
                <a:latin typeface="Source Sans Pro"/>
              </a:rPr>
              <a:t>▸  </a:t>
            </a:r>
            <a:r>
              <a:rPr sz="1350" b="1">
                <a:solidFill>
                  <a:srgbClr val="222A35"/>
                </a:solidFill>
                <a:latin typeface="Source Sans Pro"/>
              </a:rPr>
              <a:t>Branche d'IK (genou / coude)</a:t>
            </a:r>
            <a:r>
              <a:rPr sz="1350" b="0">
                <a:solidFill>
                  <a:srgbClr val="222A35"/>
                </a:solidFill>
                <a:latin typeface="Source Sans Pro"/>
              </a:rPr>
              <a:t> : on force la </a:t>
            </a:r>
            <a:r>
              <a:rPr sz="1350" b="1">
                <a:solidFill>
                  <a:srgbClr val="222A35"/>
                </a:solidFill>
                <a:latin typeface="Source Sans Pro"/>
              </a:rPr>
              <a:t>branche anatomique</a:t>
            </a:r>
            <a:r>
              <a:rPr sz="1350" b="0">
                <a:solidFill>
                  <a:srgbClr val="222A35"/>
                </a:solidFill>
                <a:latin typeface="Source Sans Pro"/>
              </a:rPr>
              <a:t> (sens humain), fixée comme contrainte de posture.</a:t>
            </a:r>
          </a:p>
          <a:p>
            <a:pPr marL="246888" indent="-246888" algn="l">
              <a:lnSpc>
                <a:spcPct val="105000"/>
              </a:lnSpc>
              <a:spcAft>
                <a:spcPts val="700"/>
              </a:spcAft>
              <a:buNone/>
            </a:pPr>
            <a:r>
              <a:rPr sz="1350" b="1">
                <a:solidFill>
                  <a:srgbClr val="F45F0C"/>
                </a:solidFill>
                <a:latin typeface="Source Sans Pro"/>
              </a:rPr>
              <a:t>▸  </a:t>
            </a:r>
            <a:r>
              <a:rPr sz="1350" b="1">
                <a:solidFill>
                  <a:srgbClr val="222A35"/>
                </a:solidFill>
                <a:latin typeface="Source Sans Pro"/>
              </a:rPr>
              <a:t>Non-collision (tâche bras)</a:t>
            </a:r>
            <a:r>
              <a:rPr sz="1350" b="0">
                <a:solidFill>
                  <a:srgbClr val="222A35"/>
                </a:solidFill>
                <a:latin typeface="Source Sans Pro"/>
              </a:rPr>
              <a:t> : validation par </a:t>
            </a:r>
            <a:r>
              <a:rPr sz="1350" b="1">
                <a:solidFill>
                  <a:srgbClr val="222A35"/>
                </a:solidFill>
                <a:latin typeface="Source Sans Pro"/>
              </a:rPr>
              <a:t>détection de collision sur les maillages</a:t>
            </a:r>
            <a:r>
              <a:rPr sz="1350" b="0">
                <a:solidFill>
                  <a:srgbClr val="222A35"/>
                </a:solidFill>
                <a:latin typeface="Source Sans Pro"/>
              </a:rPr>
              <a:t> → </a:t>
            </a:r>
            <a:r>
              <a:rPr sz="1350" b="1">
                <a:solidFill>
                  <a:srgbClr val="222A35"/>
                </a:solidFill>
                <a:latin typeface="Source Sans Pro"/>
              </a:rPr>
              <a:t>0 collision</a:t>
            </a:r>
            <a:r>
              <a:rPr sz="1350" b="0">
                <a:solidFill>
                  <a:srgbClr val="222A35"/>
                </a:solidFill>
                <a:latin typeface="Source Sans Pro"/>
              </a:rPr>
              <a:t> sur toute la trajectoire (l'œil ne suffit pas).</a:t>
            </a:r>
          </a:p>
          <a:p>
            <a:pPr marL="246888" indent="-246888" algn="l">
              <a:lnSpc>
                <a:spcPct val="105000"/>
              </a:lnSpc>
              <a:spcAft>
                <a:spcPts val="700"/>
              </a:spcAft>
              <a:buNone/>
            </a:pPr>
            <a:r>
              <a:rPr sz="1350" b="1">
                <a:solidFill>
                  <a:srgbClr val="F45F0C"/>
                </a:solidFill>
                <a:latin typeface="Source Sans Pro"/>
              </a:rPr>
              <a:t>▸  </a:t>
            </a:r>
            <a:r>
              <a:rPr sz="1350" b="1">
                <a:solidFill>
                  <a:srgbClr val="222A35"/>
                </a:solidFill>
                <a:latin typeface="Source Sans Pro"/>
              </a:rPr>
              <a:t>Reproductibilité</a:t>
            </a:r>
            <a:r>
              <a:rPr sz="1350" b="0">
                <a:solidFill>
                  <a:srgbClr val="222A35"/>
                </a:solidFill>
                <a:latin typeface="Source Sans Pro"/>
              </a:rPr>
              <a:t> : remise au garde-à-vous exact avant chaque scénario → supprime la dérive.</a:t>
            </a:r>
          </a:p>
          <a:p>
            <a:pPr marL="246888" indent="-246888" algn="l">
              <a:lnSpc>
                <a:spcPct val="105000"/>
              </a:lnSpc>
              <a:spcAft>
                <a:spcPts val="700"/>
              </a:spcAft>
              <a:buNone/>
            </a:pPr>
            <a:r>
              <a:rPr sz="1350" b="1">
                <a:solidFill>
                  <a:srgbClr val="F45F0C"/>
                </a:solidFill>
                <a:latin typeface="Source Sans Pro"/>
              </a:rPr>
              <a:t>▸  </a:t>
            </a:r>
            <a:r>
              <a:rPr sz="1350" b="1">
                <a:solidFill>
                  <a:srgbClr val="222A35"/>
                </a:solidFill>
                <a:latin typeface="Source Sans Pro"/>
              </a:rPr>
              <a:t>Position de pièce externalisée</a:t>
            </a:r>
            <a:r>
              <a:rPr sz="1350" b="0">
                <a:solidFill>
                  <a:srgbClr val="222A35"/>
                </a:solidFill>
                <a:latin typeface="Source Sans Pro"/>
              </a:rPr>
              <a:t> : testée en direct, le bras va la chercher ailleurs sans modifier le code.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724144" y="1590640"/>
            <a:ext cx="1490472" cy="704919"/>
          </a:xfrm>
          <a:prstGeom prst="rect">
            <a:avLst/>
          </a:prstGeom>
          <a:solidFill>
            <a:srgbClr val="FFFFFF"/>
          </a:solidFill>
          <a:ln w="9525">
            <a:solidFill>
              <a:srgbClr val="394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knee_branche_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627216"/>
            <a:ext cx="1417320" cy="631767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232904" y="1590640"/>
            <a:ext cx="1490472" cy="704919"/>
          </a:xfrm>
          <a:prstGeom prst="rect">
            <a:avLst/>
          </a:prstGeom>
          <a:solidFill>
            <a:srgbClr val="FFFFFF"/>
          </a:solidFill>
          <a:ln w="9525">
            <a:solidFill>
              <a:srgbClr val="394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knee_branche_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0" y="1627216"/>
            <a:ext cx="1417320" cy="63176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760720" y="290779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i="1">
                <a:solidFill>
                  <a:srgbClr val="5B6675"/>
                </a:solidFill>
                <a:latin typeface="Source Sans Pro"/>
              </a:rPr>
              <a:t>Branche d'IK rejetée vs. retenue (genou)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0" y="3200400"/>
            <a:ext cx="29260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0">
                <a:solidFill>
                  <a:srgbClr val="222A35"/>
                </a:solidFill>
                <a:latin typeface="Source Sans Pro"/>
              </a:rPr>
              <a:t>Tout ce qui précède est </a:t>
            </a:r>
            <a:r>
              <a:rPr sz="1150" b="1">
                <a:solidFill>
                  <a:srgbClr val="1E9E57"/>
                </a:solidFill>
                <a:latin typeface="Source Sans Pro"/>
              </a:rPr>
              <a:t>résolu</a:t>
            </a:r>
            <a:r>
              <a:rPr sz="1150" b="0">
                <a:solidFill>
                  <a:srgbClr val="222A35"/>
                </a:solidFill>
                <a:latin typeface="Source Sans Pro"/>
              </a:rPr>
              <a:t> et validé en simulation.</a:t>
            </a:r>
          </a:p>
        </p:txBody>
      </p:sp>
      <p:sp>
        <p:nvSpPr>
          <p:cNvPr id="11" name="Espace réservé du pied de page 8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fr-FR" dirty="0">
                <a:solidFill>
                  <a:schemeClr val="tx2"/>
                </a:solidFill>
              </a:rPr>
              <a:t>|</a:t>
            </a:r>
            <a:r>
              <a:rPr lang="fr-FR" dirty="0">
                <a:solidFill>
                  <a:srgbClr val="222A35"/>
                </a:solidFill>
              </a:rPr>
              <a:t>          </a:t>
            </a:r>
            <a:r>
              <a:rPr lang="fr-FR" b="1" dirty="0">
                <a:solidFill>
                  <a:srgbClr val="222A35"/>
                </a:solidFill>
              </a:rPr>
              <a:t>ISAE-</a:t>
            </a:r>
            <a:r>
              <a:rPr lang="fr-FR" b="1" dirty="0" err="1">
                <a:solidFill>
                  <a:srgbClr val="222A35"/>
                </a:solidFill>
              </a:rPr>
              <a:t>Supméca</a:t>
            </a:r>
            <a:r>
              <a:rPr lang="fr-FR" dirty="0">
                <a:solidFill>
                  <a:srgbClr val="222A35"/>
                </a:solidFill>
              </a:rPr>
              <a:t> – Institut supérieur de mécanique de Paris          </a:t>
            </a:r>
            <a:r>
              <a:rPr lang="fr-FR" dirty="0">
                <a:solidFill>
                  <a:schemeClr val="tx2"/>
                </a:solidFill>
              </a:rPr>
              <a:t>|</a:t>
            </a:r>
          </a:p>
        </p:txBody>
      </p:sp>
      <p:sp>
        <p:nvSpPr>
          <p:cNvPr id="12" name="Espace réservé du numéro de diapositive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189AD21-9F8B-47CF-9B2C-59971C9A1C69}" type="slidenum">
              <a:rPr lang="fr-FR" smtClean="0"/>
              <a:pPr/>
              <a:t>20</a:t>
            </a:fld>
            <a:endParaRPr lang="fr-FR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700" b="1">
                <a:solidFill>
                  <a:srgbClr val="222A35"/>
                </a:solidFill>
                <a:latin typeface="Source Sans Pro"/>
              </a:rPr>
              <a:t>Synthèse des statuts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84632" y="786384"/>
            <a:ext cx="8174736" cy="38100"/>
          </a:xfrm>
          <a:prstGeom prst="rect">
            <a:avLst/>
          </a:prstGeom>
          <a:solidFill>
            <a:srgbClr val="222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097280" y="1051560"/>
          <a:ext cx="694944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46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2F2F2"/>
                          </a:solidFill>
                          <a:latin typeface="Source Sans Pro"/>
                        </a:rPr>
                        <a:t>Point technique</a:t>
                      </a:r>
                    </a:p>
                  </a:txBody>
                  <a:tcPr marL="127000" marT="25400" marB="25400" anchor="ctr">
                    <a:solidFill>
                      <a:srgbClr val="F45F0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2F2F2"/>
                          </a:solidFill>
                          <a:latin typeface="Source Sans Pro"/>
                        </a:rPr>
                        <a:t>Statut</a:t>
                      </a:r>
                    </a:p>
                  </a:txBody>
                  <a:tcPr marL="127000" marT="25400" marB="25400" anchor="ctr">
                    <a:solidFill>
                      <a:srgbClr val="F45F0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A35"/>
                          </a:solidFill>
                          <a:latin typeface="Source Sans Pro"/>
                        </a:rPr>
                        <a:t>Persistance du fichier .rdk</a:t>
                      </a:r>
                    </a:p>
                  </a:txBody>
                  <a:tcPr marL="1270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E9E57"/>
                          </a:solidFill>
                          <a:latin typeface="Source Sans Pro"/>
                        </a:rPr>
                        <a:t>Résolu</a:t>
                      </a:r>
                    </a:p>
                  </a:txBody>
                  <a:tcPr marL="1270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A35"/>
                          </a:solidFill>
                          <a:latin typeface="Source Sans Pro"/>
                        </a:rPr>
                        <a:t>Branche d'IK (genou / coude)</a:t>
                      </a:r>
                    </a:p>
                  </a:txBody>
                  <a:tcPr marL="127000" marT="25400" marB="25400" anchor="ctr">
                    <a:solidFill>
                      <a:srgbClr val="E6EA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E9E57"/>
                          </a:solidFill>
                          <a:latin typeface="Source Sans Pro"/>
                        </a:rPr>
                        <a:t>Résolu</a:t>
                      </a:r>
                    </a:p>
                  </a:txBody>
                  <a:tcPr marL="127000" marT="25400" marB="25400" anchor="ctr">
                    <a:solidFill>
                      <a:srgbClr val="E6EA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A35"/>
                          </a:solidFill>
                          <a:latin typeface="Source Sans Pro"/>
                        </a:rPr>
                        <a:t>Non-collision (tâche bras)</a:t>
                      </a:r>
                    </a:p>
                  </a:txBody>
                  <a:tcPr marL="1270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E9E57"/>
                          </a:solidFill>
                          <a:latin typeface="Source Sans Pro"/>
                        </a:rPr>
                        <a:t>Résolu</a:t>
                      </a:r>
                    </a:p>
                  </a:txBody>
                  <a:tcPr marL="1270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A35"/>
                          </a:solidFill>
                          <a:latin typeface="Source Sans Pro"/>
                        </a:rPr>
                        <a:t>Position de pièce externalisée</a:t>
                      </a:r>
                    </a:p>
                  </a:txBody>
                  <a:tcPr marL="127000" marT="25400" marB="25400" anchor="ctr">
                    <a:solidFill>
                      <a:srgbClr val="E6EA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E9E57"/>
                          </a:solidFill>
                          <a:latin typeface="Source Sans Pro"/>
                        </a:rPr>
                        <a:t>Résolu</a:t>
                      </a:r>
                    </a:p>
                  </a:txBody>
                  <a:tcPr marL="127000" marT="25400" marB="25400" anchor="ctr">
                    <a:solidFill>
                      <a:srgbClr val="E6EA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A35"/>
                          </a:solidFill>
                          <a:latin typeface="Source Sans Pro"/>
                        </a:rPr>
                        <a:t>DDL du poignet (pronation)</a:t>
                      </a:r>
                    </a:p>
                  </a:txBody>
                  <a:tcPr marL="1270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68140"/>
                          </a:solidFill>
                          <a:latin typeface="Source Sans Pro"/>
                        </a:rPr>
                        <a:t>Perspective</a:t>
                      </a:r>
                    </a:p>
                  </a:txBody>
                  <a:tcPr marL="1270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A35"/>
                          </a:solidFill>
                          <a:latin typeface="Source Sans Pro"/>
                        </a:rPr>
                        <a:t>Collision arrière du coude</a:t>
                      </a:r>
                    </a:p>
                  </a:txBody>
                  <a:tcPr marL="127000" marT="25400" marB="25400" anchor="ctr">
                    <a:solidFill>
                      <a:srgbClr val="E6EA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68140"/>
                          </a:solidFill>
                          <a:latin typeface="Source Sans Pro"/>
                        </a:rPr>
                        <a:t>À surveiller</a:t>
                      </a:r>
                    </a:p>
                  </a:txBody>
                  <a:tcPr marL="127000" marT="25400" marB="25400" anchor="ctr">
                    <a:solidFill>
                      <a:srgbClr val="E6EA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A35"/>
                          </a:solidFill>
                          <a:latin typeface="Source Sans Pro"/>
                        </a:rPr>
                        <a:t>Exécution hors-ligne</a:t>
                      </a:r>
                    </a:p>
                  </a:txBody>
                  <a:tcPr marL="1270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68140"/>
                          </a:solidFill>
                          <a:latin typeface="Source Sans Pro"/>
                        </a:rPr>
                        <a:t>À vérifier</a:t>
                      </a:r>
                    </a:p>
                  </a:txBody>
                  <a:tcPr marL="1270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A35"/>
                          </a:solidFill>
                          <a:latin typeface="Source Sans Pro"/>
                        </a:rPr>
                        <a:t>Intégration ligne ALIX</a:t>
                      </a:r>
                    </a:p>
                  </a:txBody>
                  <a:tcPr marL="127000" marT="25400" marB="25400" anchor="ctr">
                    <a:solidFill>
                      <a:srgbClr val="E6EA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68140"/>
                          </a:solidFill>
                          <a:latin typeface="Source Sans Pro"/>
                        </a:rPr>
                        <a:t>Perspective</a:t>
                      </a:r>
                    </a:p>
                  </a:txBody>
                  <a:tcPr marL="127000" marT="25400" marB="25400" anchor="ctr">
                    <a:solidFill>
                      <a:srgbClr val="E6EA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9" name="Espace réservé du pied de page 8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fr-FR" dirty="0">
                <a:solidFill>
                  <a:schemeClr val="tx2"/>
                </a:solidFill>
              </a:rPr>
              <a:t>|</a:t>
            </a:r>
            <a:r>
              <a:rPr lang="fr-FR" dirty="0">
                <a:solidFill>
                  <a:srgbClr val="222A35"/>
                </a:solidFill>
              </a:rPr>
              <a:t>          </a:t>
            </a:r>
            <a:r>
              <a:rPr lang="fr-FR" b="1" dirty="0">
                <a:solidFill>
                  <a:srgbClr val="222A35"/>
                </a:solidFill>
              </a:rPr>
              <a:t>ISAE-</a:t>
            </a:r>
            <a:r>
              <a:rPr lang="fr-FR" b="1" dirty="0" err="1">
                <a:solidFill>
                  <a:srgbClr val="222A35"/>
                </a:solidFill>
              </a:rPr>
              <a:t>Supméca</a:t>
            </a:r>
            <a:r>
              <a:rPr lang="fr-FR" dirty="0">
                <a:solidFill>
                  <a:srgbClr val="222A35"/>
                </a:solidFill>
              </a:rPr>
              <a:t> – Institut supérieur de mécanique de Paris          </a:t>
            </a:r>
            <a:r>
              <a:rPr lang="fr-FR" dirty="0">
                <a:solidFill>
                  <a:schemeClr val="tx2"/>
                </a:solidFill>
              </a:rPr>
              <a:t>|</a:t>
            </a:r>
          </a:p>
        </p:txBody>
      </p:sp>
      <p:sp>
        <p:nvSpPr>
          <p:cNvPr id="10" name="Espace réservé du numéro de diapositive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189AD21-9F8B-47CF-9B2C-59971C9A1C69}" type="slidenum">
              <a:rPr lang="fr-FR" smtClean="0"/>
              <a:pPr/>
              <a:t>21</a:t>
            </a:fld>
            <a:endParaRPr lang="fr-FR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700" b="1">
                <a:solidFill>
                  <a:srgbClr val="222A35"/>
                </a:solidFill>
                <a:latin typeface="Source Sans Pro"/>
              </a:rPr>
              <a:t>Démonstration — RoboDK</a:t>
            </a:r>
          </a:p>
        </p:txBody>
      </p:sp>
      <p:sp>
        <p:nvSpPr>
          <p:cNvPr id="3" name="Rectangle 2"/>
          <p:cNvSpPr/>
          <p:nvPr/>
        </p:nvSpPr>
        <p:spPr>
          <a:xfrm>
            <a:off x="484632" y="786384"/>
            <a:ext cx="8174736" cy="38100"/>
          </a:xfrm>
          <a:prstGeom prst="rect">
            <a:avLst/>
          </a:prstGeom>
          <a:solidFill>
            <a:srgbClr val="222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636776" y="1042415"/>
            <a:ext cx="5870448" cy="3355848"/>
          </a:xfrm>
          <a:prstGeom prst="rect">
            <a:avLst/>
          </a:prstGeom>
          <a:solidFill>
            <a:srgbClr val="000000"/>
          </a:solidFill>
          <a:ln w="15875">
            <a:solidFill>
              <a:srgbClr val="F45F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marche_non_v2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691640" y="1097280"/>
            <a:ext cx="5760720" cy="3246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691640" y="4453128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i="1">
                <a:solidFill>
                  <a:srgbClr val="5B6675"/>
                </a:solidFill>
                <a:latin typeface="Source Sans Pro"/>
              </a:rPr>
              <a:t>Simulation de la marche de l'opérateur dans RoboDK</a:t>
            </a:r>
          </a:p>
        </p:txBody>
      </p:sp>
      <p:sp>
        <p:nvSpPr>
          <p:cNvPr id="9" name="Espace réservé du pied de page 8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fr-FR" dirty="0">
                <a:solidFill>
                  <a:schemeClr val="tx2"/>
                </a:solidFill>
              </a:rPr>
              <a:t>|</a:t>
            </a:r>
            <a:r>
              <a:rPr lang="fr-FR" dirty="0">
                <a:solidFill>
                  <a:srgbClr val="222A35"/>
                </a:solidFill>
              </a:rPr>
              <a:t>          </a:t>
            </a:r>
            <a:r>
              <a:rPr lang="fr-FR" b="1" dirty="0">
                <a:solidFill>
                  <a:srgbClr val="222A35"/>
                </a:solidFill>
              </a:rPr>
              <a:t>ISAE-</a:t>
            </a:r>
            <a:r>
              <a:rPr lang="fr-FR" b="1" dirty="0" err="1">
                <a:solidFill>
                  <a:srgbClr val="222A35"/>
                </a:solidFill>
              </a:rPr>
              <a:t>Supméca</a:t>
            </a:r>
            <a:r>
              <a:rPr lang="fr-FR" dirty="0">
                <a:solidFill>
                  <a:srgbClr val="222A35"/>
                </a:solidFill>
              </a:rPr>
              <a:t> – Institut supérieur de mécanique de Paris          </a:t>
            </a:r>
            <a:r>
              <a:rPr lang="fr-FR" dirty="0">
                <a:solidFill>
                  <a:schemeClr val="tx2"/>
                </a:solidFill>
              </a:rPr>
              <a:t>|</a:t>
            </a:r>
          </a:p>
        </p:txBody>
      </p:sp>
      <p:sp>
        <p:nvSpPr>
          <p:cNvPr id="10" name="Espace réservé du numéro de diapositive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189AD21-9F8B-47CF-9B2C-59971C9A1C69}" type="slidenum">
              <a:rPr lang="fr-FR" smtClean="0"/>
              <a:pPr/>
              <a:t>22</a:t>
            </a:fld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A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502920"/>
            <a:ext cx="365760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0" b="1">
                <a:solidFill>
                  <a:srgbClr val="394555"/>
                </a:solidFill>
                <a:latin typeface="Source Sans Pro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148840"/>
            <a:ext cx="7772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45F0C"/>
                </a:solidFill>
                <a:latin typeface="Source Sans Pro"/>
              </a:rPr>
              <a:t>PARTIE 6 / 6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2606040"/>
            <a:ext cx="50800" cy="1280160"/>
          </a:xfrm>
          <a:prstGeom prst="rect">
            <a:avLst/>
          </a:prstGeom>
          <a:solidFill>
            <a:srgbClr val="F45F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2560320"/>
            <a:ext cx="76809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Source Sans Pro"/>
              </a:rPr>
              <a:t>Conclusion &amp; perspectives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>
                <a:solidFill>
                  <a:srgbClr val="ADB4BD"/>
                </a:solidFill>
                <a:latin typeface="Source Sans Pro"/>
              </a:rPr>
              <a:t>Un pont construit, des pistes ouvertes</a:t>
            </a:r>
          </a:p>
        </p:txBody>
      </p:sp>
      <p:sp>
        <p:nvSpPr>
          <p:cNvPr id="7" name="Espace réservé du pied de page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fr-FR" dirty="0">
                <a:solidFill>
                  <a:schemeClr val="tx2"/>
                </a:solidFill>
              </a:rPr>
              <a:t>|</a:t>
            </a:r>
            <a:r>
              <a:rPr lang="fr-FR" dirty="0">
                <a:solidFill>
                  <a:srgbClr val="F2F2F2"/>
                </a:solidFill>
              </a:rPr>
              <a:t>         </a:t>
            </a:r>
            <a:r>
              <a:rPr lang="fr-FR" b="1" dirty="0">
                <a:solidFill>
                  <a:srgbClr val="F2F2F2"/>
                </a:solidFill>
              </a:rPr>
              <a:t> ISAE-</a:t>
            </a:r>
            <a:r>
              <a:rPr lang="fr-FR" b="1" dirty="0" err="1">
                <a:solidFill>
                  <a:srgbClr val="F2F2F2"/>
                </a:solidFill>
              </a:rPr>
              <a:t>Supméca</a:t>
            </a:r>
            <a:r>
              <a:rPr lang="fr-FR" b="1" dirty="0">
                <a:solidFill>
                  <a:srgbClr val="F2F2F2"/>
                </a:solidFill>
              </a:rPr>
              <a:t> </a:t>
            </a:r>
            <a:r>
              <a:rPr lang="fr-FR" dirty="0">
                <a:solidFill>
                  <a:srgbClr val="F2F2F2"/>
                </a:solidFill>
              </a:rPr>
              <a:t>– Institut supérieur de mécanique de Paris          </a:t>
            </a:r>
            <a:r>
              <a:rPr lang="fr-FR" dirty="0">
                <a:solidFill>
                  <a:schemeClr val="tx2"/>
                </a:solidFill>
              </a:rPr>
              <a:t>|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189AD21-9F8B-47CF-9B2C-59971C9A1C69}" type="slidenum">
              <a:rPr lang="fr-FR" smtClean="0">
                <a:solidFill>
                  <a:srgbClr val="F2F2F2"/>
                </a:solidFill>
              </a:rPr>
              <a:pPr/>
              <a:t>23</a:t>
            </a:fld>
            <a:endParaRPr lang="fr-FR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700" b="1">
                <a:solidFill>
                  <a:srgbClr val="222A35"/>
                </a:solidFill>
                <a:latin typeface="Source Sans Pro"/>
              </a:rPr>
              <a:t>Objectifs atteints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84632" y="786384"/>
            <a:ext cx="8174736" cy="38100"/>
          </a:xfrm>
          <a:prstGeom prst="rect">
            <a:avLst/>
          </a:prstGeom>
          <a:solidFill>
            <a:srgbClr val="222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84632" y="1024128"/>
            <a:ext cx="8183879" cy="3520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46888" indent="-246888" algn="l">
              <a:lnSpc>
                <a:spcPct val="105000"/>
              </a:lnSpc>
              <a:spcAft>
                <a:spcPts val="700"/>
              </a:spcAft>
              <a:buNone/>
            </a:pPr>
            <a:r>
              <a:rPr sz="1500" b="1">
                <a:solidFill>
                  <a:srgbClr val="F45F0C"/>
                </a:solidFill>
                <a:latin typeface="Source Sans Pro"/>
              </a:rPr>
              <a:t>▸  </a:t>
            </a:r>
            <a:r>
              <a:rPr sz="1500" b="1">
                <a:solidFill>
                  <a:srgbClr val="222A35"/>
                </a:solidFill>
                <a:latin typeface="Source Sans Pro"/>
              </a:rPr>
              <a:t>Modèle cinématique simplifié</a:t>
            </a:r>
            <a:r>
              <a:rPr sz="1500" b="0">
                <a:solidFill>
                  <a:srgbClr val="222A35"/>
                </a:solidFill>
                <a:latin typeface="Source Sans Pro"/>
              </a:rPr>
              <a:t> : opérateur </a:t>
            </a:r>
            <a:r>
              <a:rPr sz="1500" b="1">
                <a:solidFill>
                  <a:srgbClr val="222A35"/>
                </a:solidFill>
                <a:latin typeface="Source Sans Pro"/>
              </a:rPr>
              <a:t>22 DDL</a:t>
            </a:r>
            <a:r>
              <a:rPr sz="1500" b="0">
                <a:solidFill>
                  <a:srgbClr val="222A35"/>
                </a:solidFill>
                <a:latin typeface="Source Sans Pro"/>
              </a:rPr>
              <a:t> reconstruit dans RoboDK, sans import URDF ni générateur de mécanismes.</a:t>
            </a:r>
          </a:p>
          <a:p>
            <a:pPr marL="246888" indent="-246888" algn="l">
              <a:lnSpc>
                <a:spcPct val="105000"/>
              </a:lnSpc>
              <a:spcAft>
                <a:spcPts val="700"/>
              </a:spcAft>
              <a:buNone/>
            </a:pPr>
            <a:r>
              <a:rPr sz="1500" b="1">
                <a:solidFill>
                  <a:srgbClr val="F45F0C"/>
                </a:solidFill>
                <a:latin typeface="Source Sans Pro"/>
              </a:rPr>
              <a:t>▸  </a:t>
            </a:r>
            <a:r>
              <a:rPr sz="1500" b="1">
                <a:solidFill>
                  <a:srgbClr val="222A35"/>
                </a:solidFill>
                <a:latin typeface="Source Sans Pro"/>
              </a:rPr>
              <a:t>Membres inférieurs</a:t>
            </a:r>
            <a:r>
              <a:rPr sz="1500" b="0">
                <a:solidFill>
                  <a:srgbClr val="222A35"/>
                </a:solidFill>
                <a:latin typeface="Source Sans Pro"/>
              </a:rPr>
              <a:t> : 3 locomotions (militaire, avant naturelle, trajectoire externe).</a:t>
            </a:r>
          </a:p>
          <a:p>
            <a:pPr marL="246888" indent="-246888" algn="l">
              <a:lnSpc>
                <a:spcPct val="105000"/>
              </a:lnSpc>
              <a:spcAft>
                <a:spcPts val="700"/>
              </a:spcAft>
              <a:buNone/>
            </a:pPr>
            <a:r>
              <a:rPr sz="1500" b="1">
                <a:solidFill>
                  <a:srgbClr val="F45F0C"/>
                </a:solidFill>
                <a:latin typeface="Source Sans Pro"/>
              </a:rPr>
              <a:t>▸  </a:t>
            </a:r>
            <a:r>
              <a:rPr sz="1500" b="1">
                <a:solidFill>
                  <a:srgbClr val="222A35"/>
                </a:solidFill>
                <a:latin typeface="Source Sans Pro"/>
              </a:rPr>
              <a:t>Membres supérieurs</a:t>
            </a:r>
            <a:r>
              <a:rPr sz="1500" b="0">
                <a:solidFill>
                  <a:srgbClr val="222A35"/>
                </a:solidFill>
                <a:latin typeface="Source Sans Pro"/>
              </a:rPr>
              <a:t> : pick &amp; place par IK, geste anatomique validé </a:t>
            </a:r>
            <a:r>
              <a:rPr sz="1500" b="1">
                <a:solidFill>
                  <a:srgbClr val="222A35"/>
                </a:solidFill>
                <a:latin typeface="Source Sans Pro"/>
              </a:rPr>
              <a:t>sans collision</a:t>
            </a:r>
            <a:r>
              <a:rPr sz="1500" b="0">
                <a:solidFill>
                  <a:srgbClr val="222A35"/>
                </a:solidFill>
                <a:latin typeface="Source Sans Pro"/>
              </a:rPr>
              <a:t>.</a:t>
            </a:r>
          </a:p>
          <a:p>
            <a:pPr marL="246888" indent="-246888" algn="l">
              <a:lnSpc>
                <a:spcPct val="105000"/>
              </a:lnSpc>
              <a:spcAft>
                <a:spcPts val="700"/>
              </a:spcAft>
              <a:buNone/>
            </a:pPr>
            <a:r>
              <a:rPr sz="1500" b="1">
                <a:solidFill>
                  <a:srgbClr val="F45F0C"/>
                </a:solidFill>
                <a:latin typeface="Source Sans Pro"/>
              </a:rPr>
              <a:t>▸  </a:t>
            </a:r>
            <a:r>
              <a:rPr sz="1500" b="1">
                <a:solidFill>
                  <a:srgbClr val="222A35"/>
                </a:solidFill>
                <a:latin typeface="Source Sans Pro"/>
              </a:rPr>
              <a:t>Robustesse</a:t>
            </a:r>
            <a:r>
              <a:rPr sz="1500" b="0">
                <a:solidFill>
                  <a:srgbClr val="222A35"/>
                </a:solidFill>
                <a:latin typeface="Source Sans Pro"/>
              </a:rPr>
              <a:t> : station auto-recomposée, animations reproductibles.</a:t>
            </a:r>
          </a:p>
          <a:p>
            <a:pPr marL="246888" indent="-246888" algn="l">
              <a:lnSpc>
                <a:spcPct val="105000"/>
              </a:lnSpc>
              <a:spcAft>
                <a:spcPts val="700"/>
              </a:spcAft>
              <a:buNone/>
            </a:pPr>
            <a:r>
              <a:rPr sz="1500" b="1">
                <a:solidFill>
                  <a:srgbClr val="F45F0C"/>
                </a:solidFill>
                <a:latin typeface="Source Sans Pro"/>
              </a:rPr>
              <a:t>▸  </a:t>
            </a:r>
            <a:r>
              <a:rPr sz="1500" b="1">
                <a:solidFill>
                  <a:srgbClr val="222A35"/>
                </a:solidFill>
                <a:latin typeface="Source Sans Pro"/>
              </a:rPr>
              <a:t>Partiellement</a:t>
            </a:r>
            <a:r>
              <a:rPr sz="1500" b="0">
                <a:solidFill>
                  <a:srgbClr val="222A35"/>
                </a:solidFill>
                <a:latin typeface="Source Sans Pro"/>
              </a:rPr>
              <a:t> : la brique « opérateur » est prête et paramétrable ; sa mise en scène complète sur la ligne ALIX + l'analyse sécurité/ergonomie constituent l'étape suivante.</a:t>
            </a:r>
          </a:p>
        </p:txBody>
      </p:sp>
      <p:sp>
        <p:nvSpPr>
          <p:cNvPr id="9" name="Espace réservé du pied de page 8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fr-FR" dirty="0">
                <a:solidFill>
                  <a:schemeClr val="tx2"/>
                </a:solidFill>
              </a:rPr>
              <a:t>|</a:t>
            </a:r>
            <a:r>
              <a:rPr lang="fr-FR" dirty="0">
                <a:solidFill>
                  <a:srgbClr val="222A35"/>
                </a:solidFill>
              </a:rPr>
              <a:t>          </a:t>
            </a:r>
            <a:r>
              <a:rPr lang="fr-FR" b="1" dirty="0">
                <a:solidFill>
                  <a:srgbClr val="222A35"/>
                </a:solidFill>
              </a:rPr>
              <a:t>ISAE-</a:t>
            </a:r>
            <a:r>
              <a:rPr lang="fr-FR" b="1" dirty="0" err="1">
                <a:solidFill>
                  <a:srgbClr val="222A35"/>
                </a:solidFill>
              </a:rPr>
              <a:t>Supméca</a:t>
            </a:r>
            <a:r>
              <a:rPr lang="fr-FR" dirty="0">
                <a:solidFill>
                  <a:srgbClr val="222A35"/>
                </a:solidFill>
              </a:rPr>
              <a:t> – Institut supérieur de mécanique de Paris          </a:t>
            </a:r>
            <a:r>
              <a:rPr lang="fr-FR" dirty="0">
                <a:solidFill>
                  <a:schemeClr val="tx2"/>
                </a:solidFill>
              </a:rPr>
              <a:t>|</a:t>
            </a:r>
          </a:p>
        </p:txBody>
      </p:sp>
      <p:sp>
        <p:nvSpPr>
          <p:cNvPr id="10" name="Espace réservé du numéro de diapositive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189AD21-9F8B-47CF-9B2C-59971C9A1C69}" type="slidenum">
              <a:rPr lang="fr-FR" smtClean="0"/>
              <a:pPr/>
              <a:t>24</a:t>
            </a:fld>
            <a:endParaRPr lang="fr-FR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700" b="1">
                <a:solidFill>
                  <a:srgbClr val="222A35"/>
                </a:solidFill>
                <a:latin typeface="Source Sans Pro"/>
              </a:rPr>
              <a:t>Perspectives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84632" y="786384"/>
            <a:ext cx="8174736" cy="38100"/>
          </a:xfrm>
          <a:prstGeom prst="rect">
            <a:avLst/>
          </a:prstGeom>
          <a:solidFill>
            <a:srgbClr val="222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84632" y="1024128"/>
            <a:ext cx="8183879" cy="3520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46888" indent="-246888" algn="l">
              <a:lnSpc>
                <a:spcPct val="105000"/>
              </a:lnSpc>
              <a:spcAft>
                <a:spcPts val="700"/>
              </a:spcAft>
              <a:buNone/>
            </a:pPr>
            <a:r>
              <a:rPr sz="1550" b="1">
                <a:solidFill>
                  <a:srgbClr val="F45F0C"/>
                </a:solidFill>
                <a:latin typeface="Source Sans Pro"/>
              </a:rPr>
              <a:t>▸  </a:t>
            </a:r>
            <a:r>
              <a:rPr sz="1550" b="1">
                <a:solidFill>
                  <a:srgbClr val="222A35"/>
                </a:solidFill>
                <a:latin typeface="Source Sans Pro"/>
              </a:rPr>
              <a:t>Ajouter un DDL de poignet</a:t>
            </a:r>
            <a:r>
              <a:rPr sz="1550" b="0">
                <a:solidFill>
                  <a:srgbClr val="222A35"/>
                </a:solidFill>
                <a:latin typeface="Source Sans Pro"/>
              </a:rPr>
              <a:t> (pronation de l'avant-bras) — limite identifiée et quantifiée.</a:t>
            </a:r>
          </a:p>
          <a:p>
            <a:pPr marL="246888" indent="-246888" algn="l">
              <a:lnSpc>
                <a:spcPct val="105000"/>
              </a:lnSpc>
              <a:spcAft>
                <a:spcPts val="700"/>
              </a:spcAft>
              <a:buNone/>
            </a:pPr>
            <a:r>
              <a:rPr sz="1550" b="1">
                <a:solidFill>
                  <a:srgbClr val="F45F0C"/>
                </a:solidFill>
                <a:latin typeface="Source Sans Pro"/>
              </a:rPr>
              <a:t>▸  </a:t>
            </a:r>
            <a:r>
              <a:rPr sz="1550" b="1">
                <a:solidFill>
                  <a:srgbClr val="222A35"/>
                </a:solidFill>
                <a:latin typeface="Source Sans Pro"/>
              </a:rPr>
              <a:t>Surveiller la collision arrière du coude</a:t>
            </a:r>
            <a:r>
              <a:rPr sz="1550" b="0">
                <a:solidFill>
                  <a:srgbClr val="222A35"/>
                </a:solidFill>
                <a:latin typeface="Source Sans Pro"/>
              </a:rPr>
              <a:t> et affiner les marges du geste.</a:t>
            </a:r>
          </a:p>
          <a:p>
            <a:pPr marL="246888" indent="-246888" algn="l">
              <a:lnSpc>
                <a:spcPct val="105000"/>
              </a:lnSpc>
              <a:spcAft>
                <a:spcPts val="700"/>
              </a:spcAft>
              <a:buNone/>
            </a:pPr>
            <a:r>
              <a:rPr sz="1550" b="1">
                <a:solidFill>
                  <a:srgbClr val="F45F0C"/>
                </a:solidFill>
                <a:latin typeface="Source Sans Pro"/>
              </a:rPr>
              <a:t>▸  </a:t>
            </a:r>
            <a:r>
              <a:rPr sz="1550" b="1">
                <a:solidFill>
                  <a:srgbClr val="222A35"/>
                </a:solidFill>
                <a:latin typeface="Source Sans Pro"/>
              </a:rPr>
              <a:t>Intégrer l'opérateur dans la cellule ALIX</a:t>
            </a:r>
            <a:r>
              <a:rPr sz="1550" b="0">
                <a:solidFill>
                  <a:srgbClr val="222A35"/>
                </a:solidFill>
                <a:latin typeface="Source Sans Pro"/>
              </a:rPr>
              <a:t> (recentrage du human frame) + test sur le robot réel, avec vidéos.</a:t>
            </a:r>
          </a:p>
          <a:p>
            <a:pPr marL="246888" indent="-246888" algn="l">
              <a:lnSpc>
                <a:spcPct val="105000"/>
              </a:lnSpc>
              <a:spcAft>
                <a:spcPts val="700"/>
              </a:spcAft>
              <a:buNone/>
            </a:pPr>
            <a:r>
              <a:rPr sz="1550" b="1">
                <a:solidFill>
                  <a:srgbClr val="F45F0C"/>
                </a:solidFill>
                <a:latin typeface="Source Sans Pro"/>
              </a:rPr>
              <a:t>▸  </a:t>
            </a:r>
            <a:r>
              <a:rPr sz="1550" b="1">
                <a:solidFill>
                  <a:srgbClr val="222A35"/>
                </a:solidFill>
                <a:latin typeface="Source Sans Pro"/>
              </a:rPr>
              <a:t>Fiabiliser la persistance</a:t>
            </a:r>
            <a:r>
              <a:rPr sz="1550" b="0">
                <a:solidFill>
                  <a:srgbClr val="222A35"/>
                </a:solidFill>
                <a:latin typeface="Source Sans Pro"/>
              </a:rPr>
              <a:t> et confirmer l'exécution hors-ligne.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84632" y="3383280"/>
            <a:ext cx="8183879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F45F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3493008"/>
            <a:ext cx="77724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50" b="1">
                <a:solidFill>
                  <a:srgbClr val="F45F0C"/>
                </a:solidFill>
                <a:latin typeface="Source Sans Pro"/>
              </a:rPr>
              <a:t>Au-delà des livrables : </a:t>
            </a:r>
            <a:r>
              <a:rPr sz="1350" b="0">
                <a:solidFill>
                  <a:srgbClr val="222A35"/>
                </a:solidFill>
                <a:latin typeface="Source Sans Pro"/>
              </a:rPr>
              <a:t>une démarche outillée et itérative — mesurer avant de conclure, valider par la collision, externaliser les paramètres — donne un modèle humain crédible et réutilisable.</a:t>
            </a:r>
          </a:p>
        </p:txBody>
      </p:sp>
      <p:sp>
        <p:nvSpPr>
          <p:cNvPr id="9" name="Espace réservé du pied de page 8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fr-FR" dirty="0">
                <a:solidFill>
                  <a:schemeClr val="tx2"/>
                </a:solidFill>
              </a:rPr>
              <a:t>|</a:t>
            </a:r>
            <a:r>
              <a:rPr lang="fr-FR" dirty="0">
                <a:solidFill>
                  <a:srgbClr val="222A35"/>
                </a:solidFill>
              </a:rPr>
              <a:t>          </a:t>
            </a:r>
            <a:r>
              <a:rPr lang="fr-FR" b="1" dirty="0">
                <a:solidFill>
                  <a:srgbClr val="222A35"/>
                </a:solidFill>
              </a:rPr>
              <a:t>ISAE-</a:t>
            </a:r>
            <a:r>
              <a:rPr lang="fr-FR" b="1" dirty="0" err="1">
                <a:solidFill>
                  <a:srgbClr val="222A35"/>
                </a:solidFill>
              </a:rPr>
              <a:t>Supméca</a:t>
            </a:r>
            <a:r>
              <a:rPr lang="fr-FR" dirty="0">
                <a:solidFill>
                  <a:srgbClr val="222A35"/>
                </a:solidFill>
              </a:rPr>
              <a:t> – Institut supérieur de mécanique de Paris          </a:t>
            </a:r>
            <a:r>
              <a:rPr lang="fr-FR" dirty="0">
                <a:solidFill>
                  <a:schemeClr val="tx2"/>
                </a:solidFill>
              </a:rPr>
              <a:t>|</a:t>
            </a:r>
          </a:p>
        </p:txBody>
      </p:sp>
      <p:sp>
        <p:nvSpPr>
          <p:cNvPr id="10" name="Espace réservé du numéro de diapositive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189AD21-9F8B-47CF-9B2C-59971C9A1C69}" type="slidenum">
              <a:rPr lang="fr-FR" smtClean="0"/>
              <a:pPr/>
              <a:t>25</a:t>
            </a:fld>
            <a:endParaRPr lang="fr-FR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A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65760"/>
            <a:ext cx="1463040" cy="109728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48640" y="1993392"/>
            <a:ext cx="1463040" cy="50800"/>
          </a:xfrm>
          <a:prstGeom prst="rect">
            <a:avLst/>
          </a:prstGeom>
          <a:solidFill>
            <a:srgbClr val="F45F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2148840"/>
            <a:ext cx="804672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Source Sans Pro"/>
              </a:rPr>
              <a:t>Merci de votre attention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1">
                <a:solidFill>
                  <a:srgbClr val="F45F0C"/>
                </a:solidFill>
                <a:latin typeface="Source Sans Pro"/>
              </a:rPr>
              <a:t>Questions 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343400"/>
            <a:ext cx="8046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ADB4BD"/>
                </a:solidFill>
                <a:latin typeface="Source Sans Pro"/>
              </a:rPr>
              <a:t>ISAE-Supméca · Institut supérieur de mécanique de Paris · www.isae-supmeca.fr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_Conception personnalisée">
  <a:themeElements>
    <a:clrScheme name="Supméca">
      <a:dk1>
        <a:srgbClr val="222A35"/>
      </a:dk1>
      <a:lt1>
        <a:srgbClr val="F2F2F2"/>
      </a:lt1>
      <a:dk2>
        <a:srgbClr val="F45F0C"/>
      </a:dk2>
      <a:lt2>
        <a:srgbClr val="F2F2F2"/>
      </a:lt2>
      <a:accent1>
        <a:srgbClr val="F45F0C"/>
      </a:accent1>
      <a:accent2>
        <a:srgbClr val="F68140"/>
      </a:accent2>
      <a:accent3>
        <a:srgbClr val="F8A170"/>
      </a:accent3>
      <a:accent4>
        <a:srgbClr val="FABB98"/>
      </a:accent4>
      <a:accent5>
        <a:srgbClr val="FCDDCC"/>
      </a:accent5>
      <a:accent6>
        <a:srgbClr val="FEEFE6"/>
      </a:accent6>
      <a:hlink>
        <a:srgbClr val="F45F0C"/>
      </a:hlink>
      <a:folHlink>
        <a:srgbClr val="B74708"/>
      </a:folHlink>
    </a:clrScheme>
    <a:fontScheme name="Supméca">
      <a:majorFont>
        <a:latin typeface="Source Sans Pro Black"/>
        <a:ea typeface=""/>
        <a:cs typeface=""/>
      </a:majorFont>
      <a:minorFont>
        <a:latin typeface="Source Sans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3_Conception personnalisée">
  <a:themeElements>
    <a:clrScheme name="Supméca">
      <a:dk1>
        <a:srgbClr val="222A35"/>
      </a:dk1>
      <a:lt1>
        <a:srgbClr val="F2F2F2"/>
      </a:lt1>
      <a:dk2>
        <a:srgbClr val="F45F0C"/>
      </a:dk2>
      <a:lt2>
        <a:srgbClr val="F2F2F2"/>
      </a:lt2>
      <a:accent1>
        <a:srgbClr val="F45F0C"/>
      </a:accent1>
      <a:accent2>
        <a:srgbClr val="F68140"/>
      </a:accent2>
      <a:accent3>
        <a:srgbClr val="F8A170"/>
      </a:accent3>
      <a:accent4>
        <a:srgbClr val="FABB98"/>
      </a:accent4>
      <a:accent5>
        <a:srgbClr val="FCDDCC"/>
      </a:accent5>
      <a:accent6>
        <a:srgbClr val="FEEFE6"/>
      </a:accent6>
      <a:hlink>
        <a:srgbClr val="F45F0C"/>
      </a:hlink>
      <a:folHlink>
        <a:srgbClr val="B74708"/>
      </a:folHlink>
    </a:clrScheme>
    <a:fontScheme name="Supméca">
      <a:majorFont>
        <a:latin typeface="Source Sans Pro Black"/>
        <a:ea typeface=""/>
        <a:cs typeface=""/>
      </a:majorFont>
      <a:minorFont>
        <a:latin typeface="Source Sans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Conception personnalisée">
  <a:themeElements>
    <a:clrScheme name="Supméca">
      <a:dk1>
        <a:srgbClr val="222A35"/>
      </a:dk1>
      <a:lt1>
        <a:srgbClr val="F2F2F2"/>
      </a:lt1>
      <a:dk2>
        <a:srgbClr val="F45F0C"/>
      </a:dk2>
      <a:lt2>
        <a:srgbClr val="F2F2F2"/>
      </a:lt2>
      <a:accent1>
        <a:srgbClr val="F45F0C"/>
      </a:accent1>
      <a:accent2>
        <a:srgbClr val="F68140"/>
      </a:accent2>
      <a:accent3>
        <a:srgbClr val="F8A170"/>
      </a:accent3>
      <a:accent4>
        <a:srgbClr val="FABB98"/>
      </a:accent4>
      <a:accent5>
        <a:srgbClr val="FCDDCC"/>
      </a:accent5>
      <a:accent6>
        <a:srgbClr val="FEEFE6"/>
      </a:accent6>
      <a:hlink>
        <a:srgbClr val="F45F0C"/>
      </a:hlink>
      <a:folHlink>
        <a:srgbClr val="B74708"/>
      </a:folHlink>
    </a:clrScheme>
    <a:fontScheme name="Supméca">
      <a:majorFont>
        <a:latin typeface="Source Sans Pro Black"/>
        <a:ea typeface=""/>
        <a:cs typeface=""/>
      </a:majorFont>
      <a:minorFont>
        <a:latin typeface="Source Sans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827CB75B1AB454C82BE1D96A54BA687" ma:contentTypeVersion="0" ma:contentTypeDescription="Crée un document." ma:contentTypeScope="" ma:versionID="3f788c1826e4564daa0199459ca8fcc4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ab09c1ba23edfaa45a5e9d385267c9b5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14393404-06F0-4FBF-9945-5C8B82874DD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2B439AAA-E8AF-4024-9FFF-D94C9BF6511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4A54269-AC35-4CB2-A61C-EFA2C60BFFBC}">
  <ds:schemaRefs>
    <ds:schemaRef ds:uri="http://purl.org/dc/terms/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http://schemas.microsoft.com/office/2006/documentManagement/types"/>
    <ds:schemaRef ds:uri="http://schemas.microsoft.com/office/2006/metadata/properties"/>
    <ds:schemaRef ds:uri="http://www.w3.org/XML/1998/namespace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20376</TotalTime>
  <Words>1786</Words>
  <Application>Microsoft Office PowerPoint</Application>
  <PresentationFormat>Affichage à l'écran (16:9)</PresentationFormat>
  <Paragraphs>249</Paragraphs>
  <Slides>25</Slides>
  <Notes>0</Notes>
  <HiddenSlides>0</HiddenSlides>
  <MMClips>1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3</vt:i4>
      </vt:variant>
      <vt:variant>
        <vt:lpstr>Titres des diapositives</vt:lpstr>
      </vt:variant>
      <vt:variant>
        <vt:i4>25</vt:i4>
      </vt:variant>
    </vt:vector>
  </HeadingPairs>
  <TitlesOfParts>
    <vt:vector size="32" baseType="lpstr">
      <vt:lpstr>Arial</vt:lpstr>
      <vt:lpstr>Calibri</vt:lpstr>
      <vt:lpstr>Source Sans Pro</vt:lpstr>
      <vt:lpstr>Source Sans Pro Black</vt:lpstr>
      <vt:lpstr>2_Conception personnalisée</vt:lpstr>
      <vt:lpstr>3_Conception personnalisée</vt:lpstr>
      <vt:lpstr>1_Conception personnalisée</vt:lpstr>
      <vt:lpstr>Présentation PowerPoint</vt:lpstr>
      <vt:lpstr>Sommaire</vt:lpstr>
      <vt:lpstr>Présentation PowerPoint</vt:lpstr>
      <vt:lpstr>Contexte du projet</vt:lpstr>
      <vt:lpstr>Objectifs</vt:lpstr>
      <vt:lpstr>Travail collaboratif &amp; répartition</vt:lpstr>
      <vt:lpstr>Présentation PowerPoint</vt:lpstr>
      <vt:lpstr>Deux scénarios d'interaction</vt:lpstr>
      <vt:lpstr>Exigences &amp; périmètre</vt:lpstr>
      <vt:lpstr>Présentation PowerPoint</vt:lpstr>
      <vt:lpstr>Schéma cinématique &amp; degrés de liberté</vt:lpstr>
      <vt:lpstr>Démarche de développement</vt:lpstr>
      <vt:lpstr>Arborescence des repères</vt:lpstr>
      <vt:lpstr>Présentation PowerPoint</vt:lpstr>
      <vt:lpstr>Principe d'animation</vt:lpstr>
      <vt:lpstr>Locomotion — membres inférieurs</vt:lpstr>
      <vt:lpstr>Manipulation — tâche du bras</vt:lpstr>
      <vt:lpstr>Présentation PowerPoint</vt:lpstr>
      <vt:lpstr>Problèmes rencontrés &amp; corrigés</vt:lpstr>
      <vt:lpstr>Synthèse des statuts</vt:lpstr>
      <vt:lpstr>Démonstration — RoboDK</vt:lpstr>
      <vt:lpstr>Présentation PowerPoint</vt:lpstr>
      <vt:lpstr>Objectifs atteints</vt:lpstr>
      <vt:lpstr>Perspectives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LECHARTIER Antoine</dc:creator>
  <cp:lastModifiedBy>nika xachidze</cp:lastModifiedBy>
  <cp:revision>202</cp:revision>
  <dcterms:created xsi:type="dcterms:W3CDTF">2018-06-29T13:21:24Z</dcterms:created>
  <dcterms:modified xsi:type="dcterms:W3CDTF">2026-06-22T12:28:23Z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0x010100D827CB75B1AB454C82BE1D96A54BA687</vt:lpwstr>
  </property>
</Properties>
</file>