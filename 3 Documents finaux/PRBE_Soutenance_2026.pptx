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4"/>
    <p:sldMasterId id="2147483668" r:id="rId5"/>
    <p:sldMasterId id="2147483657" r:id="rId6"/>
  </p:sldMasterIdLst>
  <p:notesMasterIdLst>
    <p:notesMasterId r:id="rId36"/>
  </p:notesMasterIdLst>
  <p:handoutMasterIdLst>
    <p:handoutMasterId r:id="rId37"/>
  </p:handoutMasterIdLst>
  <p:sldIdLst>
    <p:sldId id="256" r:id="rId7"/>
    <p:sldId id="258" r:id="rId8"/>
    <p:sldId id="303" r:id="rId9"/>
    <p:sldId id="305" r:id="rId10"/>
    <p:sldId id="306" r:id="rId11"/>
    <p:sldId id="307" r:id="rId12"/>
    <p:sldId id="319" r:id="rId13"/>
    <p:sldId id="308" r:id="rId14"/>
    <p:sldId id="309" r:id="rId15"/>
    <p:sldId id="310" r:id="rId16"/>
    <p:sldId id="320" r:id="rId17"/>
    <p:sldId id="311" r:id="rId18"/>
    <p:sldId id="312" r:id="rId19"/>
    <p:sldId id="313" r:id="rId20"/>
    <p:sldId id="318" r:id="rId21"/>
    <p:sldId id="314" r:id="rId22"/>
    <p:sldId id="315" r:id="rId23"/>
    <p:sldId id="321" r:id="rId24"/>
    <p:sldId id="326" r:id="rId25"/>
    <p:sldId id="323" r:id="rId26"/>
    <p:sldId id="324" r:id="rId27"/>
    <p:sldId id="336" r:id="rId28"/>
    <p:sldId id="325" r:id="rId29"/>
    <p:sldId id="328" r:id="rId30"/>
    <p:sldId id="332" r:id="rId31"/>
    <p:sldId id="330" r:id="rId32"/>
    <p:sldId id="331" r:id="rId33"/>
    <p:sldId id="337" r:id="rId34"/>
    <p:sldId id="304" r:id="rId3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Source Sans Pro" panose="020B0503030403020204" pitchFamily="34" charset="0"/>
      <p:regular r:id="rId42"/>
      <p:bold r:id="rId43"/>
      <p:italic r:id="rId44"/>
      <p:boldItalic r:id="rId45"/>
    </p:embeddedFont>
    <p:embeddedFont>
      <p:font typeface="Source Sans Pro Black" panose="020B0803030403020204" pitchFamily="34" charset="0"/>
      <p:bold r:id="rId46"/>
      <p:boldItalic r:id="rId4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029D5B7-DB65-46A7-A4BF-A5AD3F78A9B0}">
          <p14:sldIdLst>
            <p14:sldId id="256"/>
            <p14:sldId id="258"/>
          </p14:sldIdLst>
        </p14:section>
        <p14:section name="Alexandre" id="{B5F4B213-4D39-4855-A462-44AEC2E0FCDE}">
          <p14:sldIdLst>
            <p14:sldId id="303"/>
            <p14:sldId id="305"/>
            <p14:sldId id="306"/>
            <p14:sldId id="307"/>
          </p14:sldIdLst>
        </p14:section>
        <p14:section name="Alexandre" id="{986136D9-48B5-4FA0-8E97-30832863353C}">
          <p14:sldIdLst>
            <p14:sldId id="319"/>
            <p14:sldId id="308"/>
            <p14:sldId id="309"/>
            <p14:sldId id="310"/>
          </p14:sldIdLst>
        </p14:section>
        <p14:section name="Nikoloz" id="{65A4A495-A872-4CE5-8F2A-373487D9D5A3}">
          <p14:sldIdLst>
            <p14:sldId id="320"/>
            <p14:sldId id="311"/>
            <p14:sldId id="312"/>
            <p14:sldId id="313"/>
          </p14:sldIdLst>
        </p14:section>
        <p14:section name="Nikoloz" id="{DA6550C6-F903-4883-9E1E-4CF6D832AB76}">
          <p14:sldIdLst>
            <p14:sldId id="318"/>
            <p14:sldId id="314"/>
            <p14:sldId id="315"/>
            <p14:sldId id="321"/>
          </p14:sldIdLst>
        </p14:section>
        <p14:section name="Luc" id="{2447E103-520D-4568-9BA9-3552BC92764F}">
          <p14:sldIdLst>
            <p14:sldId id="326"/>
            <p14:sldId id="323"/>
            <p14:sldId id="324"/>
            <p14:sldId id="336"/>
            <p14:sldId id="325"/>
          </p14:sldIdLst>
        </p14:section>
        <p14:section name="Luc" id="{4AFABFFD-B6F2-4DA5-B163-E303510AB37C}">
          <p14:sldIdLst>
            <p14:sldId id="328"/>
            <p14:sldId id="332"/>
            <p14:sldId id="330"/>
            <p14:sldId id="331"/>
            <p14:sldId id="337"/>
          </p14:sldIdLst>
        </p14:section>
        <p14:section name="Section sans titre" id="{B494E399-162F-4F1B-AF1E-9D105077D77F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AAF6"/>
    <a:srgbClr val="132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83279-0769-DEF9-5C13-2D12488B6503}" v="5" dt="2026-06-24T12:27:43.258"/>
    <p1510:client id="{79ACC92B-1415-3B4E-145E-4E6DF8DD8EB6}" v="197" dt="2026-06-24T07:51:50.144"/>
    <p1510:client id="{5869A3E9-FC6B-DAF6-32C9-D3EEC88C28B2}" v="41" dt="2026-06-24T12:34:46.057"/>
    <p1510:client id="{21403982-CDEF-582D-47A0-8EAB5B1A4BE6}" v="65" dt="2026-06-24T12:32:39.293"/>
    <p1510:client id="{4F541036-D5AB-ECEF-81A8-834F1FC8D403}" v="87" dt="2026-06-24T09:53:12.136"/>
    <p1510:client id="{32740C26-6BFB-73E4-B0D2-5FE651FADD2E}" v="71" dt="2026-06-24T09:17:04.739"/>
    <p1510:client id="{A7F4F8F8-5F0E-5354-AD05-B644CAF507AD}" v="279" dt="2026-06-24T09:31:28.723"/>
    <p1510:client id="{89C673F8-0573-9CEB-0E5D-7206FC0EAB84}" v="22" dt="2026-06-24T07:35:24.088"/>
    <p1510:client id="{B60D4827-3F9D-C10A-8C9C-753173838DD1}" v="14" dt="2026-06-24T11:17:02.968"/>
    <p1510:client id="{B95C97E9-3997-C5B6-E0A9-13542528ABAC}" v="14" dt="2026-06-24T09:33:18.366"/>
    <p1510:client id="{C0C16FA3-78A5-5949-064C-2A0F9C5FC84D}" v="6" dt="2026-06-24T07:51:46.797"/>
    <p1510:client id="{E172943F-B719-5C14-2DAF-91EF459F3947}" v="9" dt="2026-06-24T07:31:02.135"/>
    <p1510:client id="{ED5C377C-C7E5-B346-FF34-4AF2ED2E00A8}" v="45" dt="2026-06-23T22:18:52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2.fntdata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7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4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1FE7B-5799-4BD5-9478-C6864C9BEFBE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38A01-DFAF-4609-8054-47B931FEEC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804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EB028-7FD4-47D5-98C7-4B192024BFF7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FFF74-3CCB-462C-8F95-639BB2BF6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10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869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74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487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64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759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698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177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428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492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441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357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831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319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251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0213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6558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4753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384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64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7420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94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AD1E-8BA8-62FF-DD2D-21D61E4E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1615B79-D14D-5DD7-FEEC-730B17350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BD986F-65E6-7AE7-26B3-73B631AD4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511E1D-2E95-29D0-2C3C-327E0B880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0389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86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8613"/>
            <a:ext cx="8208912" cy="104514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40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srgbClr val="F45F0C"/>
                </a:solidFill>
              </a:rPr>
              <a:t>|</a:t>
            </a:r>
            <a:r>
              <a:rPr lang="fr-FR">
                <a:solidFill>
                  <a:srgbClr val="F2F2F2"/>
                </a:solidFill>
              </a:rPr>
              <a:t>          </a:t>
            </a:r>
            <a:r>
              <a:rPr lang="fr-FR" b="1">
                <a:solidFill>
                  <a:schemeClr val="tx1">
                    <a:lumMod val="50000"/>
                  </a:schemeClr>
                </a:solidFill>
              </a:rPr>
              <a:t>ISAE-</a:t>
            </a:r>
            <a:r>
              <a:rPr lang="fr-FR" b="1" err="1">
                <a:solidFill>
                  <a:schemeClr val="tx1">
                    <a:lumMod val="50000"/>
                  </a:schemeClr>
                </a:solidFill>
              </a:rPr>
              <a:t>Supméca</a:t>
            </a:r>
            <a:r>
              <a:rPr lang="fr-FR">
                <a:solidFill>
                  <a:schemeClr val="tx1">
                    <a:lumMod val="50000"/>
                  </a:schemeClr>
                </a:solidFill>
              </a:rPr>
              <a:t> – Institut supérieur de mécanique de Paris          </a:t>
            </a:r>
            <a:r>
              <a:rPr lang="fr-FR">
                <a:solidFill>
                  <a:srgbClr val="F45F0C"/>
                </a:solidFill>
              </a:rPr>
              <a:t>|</a:t>
            </a:r>
            <a:endParaRPr lang="fr-FR">
              <a:solidFill>
                <a:srgbClr val="F2F2F2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7819"/>
            <a:ext cx="8208912" cy="10459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79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5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0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534643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89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62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35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2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8224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4699906"/>
            <a:ext cx="8229600" cy="0"/>
          </a:xfrm>
          <a:prstGeom prst="line">
            <a:avLst/>
          </a:prstGeom>
          <a:ln w="127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907704" y="4717133"/>
            <a:ext cx="5328592" cy="374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6239910A-A7F2-4E32-AD7E-D217E3F3092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66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5" r:id="rId2"/>
    <p:sldLayoutId id="2147483667" r:id="rId3"/>
    <p:sldLayoutId id="2147483680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7534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691680" y="4767263"/>
            <a:ext cx="5760640" cy="274637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452320" y="4767263"/>
            <a:ext cx="1234480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rgbClr val="132133"/>
                </a:solidFill>
              </a:defRPr>
            </a:lvl1pPr>
          </a:lstStyle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457200" y="4659982"/>
            <a:ext cx="8229600" cy="0"/>
          </a:xfrm>
          <a:prstGeom prst="line">
            <a:avLst/>
          </a:prstGeom>
          <a:ln w="127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</p:spTree>
    <p:extLst>
      <p:ext uri="{BB962C8B-B14F-4D97-AF65-F5344CB8AC3E}">
        <p14:creationId xmlns:p14="http://schemas.microsoft.com/office/powerpoint/2010/main" val="7674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0" r:id="rId2"/>
    <p:sldLayoutId id="2147483672" r:id="rId3"/>
    <p:sldLayoutId id="2147483673" r:id="rId4"/>
    <p:sldLayoutId id="214748367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51520" y="195487"/>
            <a:ext cx="8640960" cy="460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513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effectLst>
            <a:outerShdw blurRad="114300" algn="ctr" rotWithShape="0">
              <a:prstClr val="black">
                <a:alpha val="54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</a:t>
            </a:fld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481111" y="2764046"/>
            <a:ext cx="7874181" cy="830997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r>
              <a:rPr lang="fr-FR" sz="2400" cap="all">
                <a:solidFill>
                  <a:schemeClr val="bg2"/>
                </a:solidFill>
                <a:latin typeface="Source Sans Pro Black"/>
                <a:ea typeface="Source Sans Pro Black"/>
              </a:rPr>
              <a:t>Simulation du mouvement humain &amp; interaction homme-robot dans </a:t>
            </a:r>
            <a:r>
              <a:rPr lang="fr-FR" sz="2400" cap="all" err="1">
                <a:solidFill>
                  <a:schemeClr val="bg2"/>
                </a:solidFill>
                <a:latin typeface="Source Sans Pro Black"/>
                <a:ea typeface="Source Sans Pro Black"/>
              </a:rPr>
              <a:t>RoboDK</a:t>
            </a:r>
            <a:endParaRPr lang="en-US"/>
          </a:p>
        </p:txBody>
      </p:sp>
      <p:cxnSp>
        <p:nvCxnSpPr>
          <p:cNvPr id="17" name="Connecteur droit 16"/>
          <p:cNvCxnSpPr/>
          <p:nvPr/>
        </p:nvCxnSpPr>
        <p:spPr>
          <a:xfrm>
            <a:off x="481111" y="2600028"/>
            <a:ext cx="2861990" cy="1438"/>
          </a:xfrm>
          <a:prstGeom prst="line">
            <a:avLst/>
          </a:prstGeom>
          <a:ln w="190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11" y="275013"/>
            <a:ext cx="2875958" cy="2177379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E6827ED7-F5A0-AB89-A1DD-7C3D21ED6661}"/>
              </a:ext>
            </a:extLst>
          </p:cNvPr>
          <p:cNvSpPr txBox="1"/>
          <p:nvPr/>
        </p:nvSpPr>
        <p:spPr>
          <a:xfrm>
            <a:off x="334601" y="3708701"/>
            <a:ext cx="6650082" cy="918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>
                <a:latin typeface="Source Sans Pro"/>
              </a:rPr>
              <a:t>Projet PRBE Homme-Robot   ·   ISAE-</a:t>
            </a:r>
            <a:r>
              <a:rPr lang="fr-FR" sz="1400" b="1" err="1">
                <a:latin typeface="Source Sans Pro"/>
              </a:rPr>
              <a:t>Supméca</a:t>
            </a:r>
            <a:endParaRPr lang="fr-FR" sz="1400" b="1" err="1">
              <a:latin typeface="Source Sans Pro"/>
              <a:ea typeface="Source Sans Pro"/>
            </a:endParaRPr>
          </a:p>
          <a:p>
            <a:pPr>
              <a:spcAft>
                <a:spcPts val="200"/>
              </a:spcAft>
            </a:pPr>
            <a:r>
              <a:rPr lang="fr-FR" sz="1400">
                <a:latin typeface="Source Sans Pro"/>
              </a:rPr>
              <a:t>Étudiants : </a:t>
            </a:r>
            <a:r>
              <a:rPr lang="fr-FR" sz="1400" err="1">
                <a:latin typeface="Source Sans Pro"/>
              </a:rPr>
              <a:t>Nikoloz</a:t>
            </a:r>
            <a:r>
              <a:rPr lang="fr-FR" sz="1400" b="0">
                <a:latin typeface="Source Sans Pro"/>
              </a:rPr>
              <a:t> </a:t>
            </a:r>
            <a:r>
              <a:rPr lang="fr-FR" sz="1400" b="0" err="1">
                <a:latin typeface="Source Sans Pro"/>
              </a:rPr>
              <a:t>Khachidze</a:t>
            </a:r>
            <a:r>
              <a:rPr lang="fr-FR" sz="1400" b="0">
                <a:latin typeface="Source Sans Pro"/>
              </a:rPr>
              <a:t>   ·   Alexandre Nowak   ·   Luc Fantasia</a:t>
            </a:r>
            <a:endParaRPr lang="fr-FR" sz="1400" b="0">
              <a:latin typeface="Source Sans Pro"/>
              <a:ea typeface="Source Sans Pro"/>
            </a:endParaRPr>
          </a:p>
          <a:p>
            <a:r>
              <a:rPr lang="fr-FR" sz="1200" b="0">
                <a:latin typeface="Source Sans Pro"/>
              </a:rPr>
              <a:t>Encadrants : Francesco Ciampi · Thierno Diallo</a:t>
            </a:r>
            <a:endParaRPr lang="fr-FR" sz="1200">
              <a:latin typeface="Source Sans Pro"/>
              <a:ea typeface="Source Sans Pro"/>
            </a:endParaRPr>
          </a:p>
          <a:p>
            <a:r>
              <a:rPr lang="fr-FR" sz="1200">
                <a:latin typeface="Source Sans Pro"/>
              </a:rPr>
              <a:t>Période :</a:t>
            </a:r>
            <a:r>
              <a:rPr lang="fr-FR" sz="1200" b="0">
                <a:latin typeface="Source Sans Pro"/>
              </a:rPr>
              <a:t> Avril–Juin 2026</a:t>
            </a:r>
            <a:endParaRPr lang="fr-FR" sz="1200">
              <a:latin typeface="Source Sans Pro"/>
              <a:ea typeface="Source Sans Pr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58B3D-E3C4-6C62-885D-C427E407A9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05" b="255"/>
          <a:stretch>
            <a:fillRect/>
          </a:stretch>
        </p:blipFill>
        <p:spPr>
          <a:xfrm>
            <a:off x="3659642" y="275545"/>
            <a:ext cx="5319045" cy="2181200"/>
          </a:xfrm>
          <a:prstGeom prst="rect">
            <a:avLst/>
          </a:prstGeom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66860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Sommaire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467544" y="912358"/>
            <a:ext cx="8154000" cy="475200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470300" y="1491630"/>
            <a:ext cx="8154000" cy="475200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à coins arrondis 13"/>
          <p:cNvSpPr/>
          <p:nvPr/>
        </p:nvSpPr>
        <p:spPr>
          <a:xfrm>
            <a:off x="484629" y="2067694"/>
            <a:ext cx="8154000" cy="475200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484629" y="2643758"/>
            <a:ext cx="8154000" cy="475200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495000" y="3219822"/>
            <a:ext cx="8154000" cy="475200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>
            <a:off x="482321" y="3795886"/>
            <a:ext cx="8154000" cy="475200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4"/>
          <p:cNvSpPr txBox="1"/>
          <p:nvPr/>
        </p:nvSpPr>
        <p:spPr>
          <a:xfrm>
            <a:off x="728832" y="957934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1</a:t>
            </a:r>
          </a:p>
        </p:txBody>
      </p:sp>
      <p:sp>
        <p:nvSpPr>
          <p:cNvPr id="25" name="TextBox 5"/>
          <p:cNvSpPr txBox="1"/>
          <p:nvPr/>
        </p:nvSpPr>
        <p:spPr>
          <a:xfrm>
            <a:off x="1231752" y="939646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Contexte &amp; objectifs</a:t>
            </a:r>
          </a:p>
        </p:txBody>
      </p:sp>
      <p:sp>
        <p:nvSpPr>
          <p:cNvPr id="26" name="TextBox 6"/>
          <p:cNvSpPr txBox="1"/>
          <p:nvPr/>
        </p:nvSpPr>
        <p:spPr>
          <a:xfrm>
            <a:off x="5117952" y="1011458"/>
            <a:ext cx="3520440" cy="2769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sz="1200" err="1">
                <a:solidFill>
                  <a:srgbClr val="5B6675"/>
                </a:solidFill>
                <a:ea typeface="Source Sans Pro"/>
              </a:rPr>
              <a:t>Problématique</a:t>
            </a:r>
            <a:r>
              <a:rPr lang="en-US" sz="1200">
                <a:solidFill>
                  <a:srgbClr val="5B6675"/>
                </a:solidFill>
                <a:ea typeface="Source Sans Pro"/>
              </a:rPr>
              <a:t> et </a:t>
            </a:r>
            <a:r>
              <a:rPr lang="en-US" sz="1200" err="1">
                <a:solidFill>
                  <a:srgbClr val="5B6675"/>
                </a:solidFill>
                <a:ea typeface="Source Sans Pro"/>
              </a:rPr>
              <a:t>répartition</a:t>
            </a:r>
            <a:r>
              <a:rPr lang="en-US" sz="1200">
                <a:solidFill>
                  <a:srgbClr val="5B6675"/>
                </a:solidFill>
                <a:ea typeface="Source Sans Pro"/>
              </a:rPr>
              <a:t> du travail</a:t>
            </a:r>
          </a:p>
        </p:txBody>
      </p:sp>
      <p:sp>
        <p:nvSpPr>
          <p:cNvPr id="27" name="TextBox 8"/>
          <p:cNvSpPr txBox="1"/>
          <p:nvPr/>
        </p:nvSpPr>
        <p:spPr>
          <a:xfrm>
            <a:off x="725654" y="1533881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2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1228574" y="1515593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Cahier des charges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5114774" y="1587405"/>
            <a:ext cx="3520440" cy="2769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200" b="0" err="1">
                <a:solidFill>
                  <a:srgbClr val="5B6675"/>
                </a:solidFill>
                <a:latin typeface="Source Sans Pro"/>
              </a:rPr>
              <a:t>Scénarios</a:t>
            </a:r>
            <a:r>
              <a:rPr sz="1200" b="0">
                <a:solidFill>
                  <a:srgbClr val="5B6675"/>
                </a:solidFill>
                <a:latin typeface="Source Sans Pro"/>
              </a:rPr>
              <a:t>, exigences, </a:t>
            </a:r>
            <a:r>
              <a:rPr sz="1200" b="0" err="1">
                <a:solidFill>
                  <a:srgbClr val="5B6675"/>
                </a:solidFill>
                <a:latin typeface="Source Sans Pro"/>
              </a:rPr>
              <a:t>périmètre</a:t>
            </a:r>
            <a:endParaRPr lang="en-US" sz="1200" b="0" err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  <p:sp>
        <p:nvSpPr>
          <p:cNvPr id="30" name="TextBox 12"/>
          <p:cNvSpPr txBox="1"/>
          <p:nvPr/>
        </p:nvSpPr>
        <p:spPr>
          <a:xfrm>
            <a:off x="725654" y="2100809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3</a:t>
            </a:r>
          </a:p>
        </p:txBody>
      </p:sp>
      <p:sp>
        <p:nvSpPr>
          <p:cNvPr id="31" name="TextBox 13"/>
          <p:cNvSpPr txBox="1"/>
          <p:nvPr/>
        </p:nvSpPr>
        <p:spPr>
          <a:xfrm>
            <a:off x="1228574" y="2082521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Modèle conceptuel</a:t>
            </a:r>
          </a:p>
        </p:txBody>
      </p:sp>
      <p:sp>
        <p:nvSpPr>
          <p:cNvPr id="32" name="TextBox 14"/>
          <p:cNvSpPr txBox="1"/>
          <p:nvPr/>
        </p:nvSpPr>
        <p:spPr>
          <a:xfrm>
            <a:off x="5114774" y="2154333"/>
            <a:ext cx="3520440" cy="2769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sz="1200" err="1">
                <a:solidFill>
                  <a:srgbClr val="5B6675"/>
                </a:solidFill>
                <a:latin typeface="Source Sans Pro"/>
                <a:ea typeface="Source Sans Pro"/>
              </a:rPr>
              <a:t>Modélisation</a:t>
            </a:r>
            <a:r>
              <a:rPr lang="en-US" sz="1200">
                <a:solidFill>
                  <a:srgbClr val="5B6675"/>
                </a:solidFill>
                <a:latin typeface="Source Sans Pro"/>
                <a:ea typeface="Source Sans Pro"/>
              </a:rPr>
              <a:t> du mannequin</a:t>
            </a:r>
            <a:endParaRPr lang="en-US" sz="1200" b="0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  <p:sp>
        <p:nvSpPr>
          <p:cNvPr id="33" name="TextBox 16"/>
          <p:cNvSpPr txBox="1"/>
          <p:nvPr/>
        </p:nvSpPr>
        <p:spPr>
          <a:xfrm>
            <a:off x="725654" y="2667737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4</a:t>
            </a:r>
          </a:p>
        </p:txBody>
      </p:sp>
      <p:sp>
        <p:nvSpPr>
          <p:cNvPr id="34" name="TextBox 17"/>
          <p:cNvSpPr txBox="1"/>
          <p:nvPr/>
        </p:nvSpPr>
        <p:spPr>
          <a:xfrm>
            <a:off x="1228574" y="2649449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Développement</a:t>
            </a:r>
          </a:p>
        </p:txBody>
      </p:sp>
      <p:sp>
        <p:nvSpPr>
          <p:cNvPr id="35" name="TextBox 18"/>
          <p:cNvSpPr txBox="1"/>
          <p:nvPr/>
        </p:nvSpPr>
        <p:spPr>
          <a:xfrm>
            <a:off x="5114774" y="2649449"/>
            <a:ext cx="3520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Source Sans Pro"/>
              </a:rPr>
              <a:t>Locomotion &amp; manipulation</a:t>
            </a:r>
          </a:p>
        </p:txBody>
      </p:sp>
      <p:sp>
        <p:nvSpPr>
          <p:cNvPr id="36" name="TextBox 20"/>
          <p:cNvSpPr txBox="1"/>
          <p:nvPr/>
        </p:nvSpPr>
        <p:spPr>
          <a:xfrm>
            <a:off x="725654" y="3269241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5</a:t>
            </a:r>
          </a:p>
        </p:txBody>
      </p:sp>
      <p:sp>
        <p:nvSpPr>
          <p:cNvPr id="37" name="TextBox 21"/>
          <p:cNvSpPr txBox="1"/>
          <p:nvPr/>
        </p:nvSpPr>
        <p:spPr>
          <a:xfrm>
            <a:off x="1228574" y="3250953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Tests &amp; </a:t>
            </a:r>
            <a:r>
              <a:rPr sz="1500" b="1" err="1">
                <a:solidFill>
                  <a:srgbClr val="222A35"/>
                </a:solidFill>
                <a:latin typeface="Source Sans Pro"/>
              </a:rPr>
              <a:t>résultats</a:t>
            </a:r>
            <a:endParaRPr sz="1500" b="1">
              <a:solidFill>
                <a:srgbClr val="222A35"/>
              </a:solidFill>
              <a:latin typeface="Source Sans Pro"/>
            </a:endParaRPr>
          </a:p>
        </p:txBody>
      </p:sp>
      <p:sp>
        <p:nvSpPr>
          <p:cNvPr id="38" name="TextBox 22"/>
          <p:cNvSpPr txBox="1"/>
          <p:nvPr/>
        </p:nvSpPr>
        <p:spPr>
          <a:xfrm>
            <a:off x="5114774" y="3322765"/>
            <a:ext cx="3520440" cy="2769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sz="1200" err="1">
                <a:solidFill>
                  <a:srgbClr val="5B6675"/>
                </a:solidFill>
                <a:latin typeface="Source Sans Pro"/>
                <a:ea typeface="Source Sans Pro"/>
              </a:rPr>
              <a:t>Problèmes</a:t>
            </a:r>
            <a:r>
              <a:rPr lang="en-US" sz="1200">
                <a:solidFill>
                  <a:srgbClr val="5B6675"/>
                </a:solidFill>
                <a:latin typeface="Source Sans Pro"/>
                <a:ea typeface="Source Sans Pro"/>
              </a:rPr>
              <a:t> et solutions</a:t>
            </a:r>
            <a:endParaRPr lang="en-US" sz="1200" b="0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  <p:sp>
        <p:nvSpPr>
          <p:cNvPr id="39" name="TextBox 24"/>
          <p:cNvSpPr txBox="1"/>
          <p:nvPr/>
        </p:nvSpPr>
        <p:spPr>
          <a:xfrm>
            <a:off x="725654" y="3839780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6</a:t>
            </a:r>
          </a:p>
        </p:txBody>
      </p:sp>
      <p:sp>
        <p:nvSpPr>
          <p:cNvPr id="40" name="TextBox 25"/>
          <p:cNvSpPr txBox="1"/>
          <p:nvPr/>
        </p:nvSpPr>
        <p:spPr>
          <a:xfrm>
            <a:off x="1228574" y="3821492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Conclusion &amp; perspectives</a:t>
            </a:r>
          </a:p>
        </p:txBody>
      </p:sp>
      <p:sp>
        <p:nvSpPr>
          <p:cNvPr id="41" name="TextBox 26"/>
          <p:cNvSpPr txBox="1"/>
          <p:nvPr/>
        </p:nvSpPr>
        <p:spPr>
          <a:xfrm>
            <a:off x="5114774" y="3893304"/>
            <a:ext cx="3520440" cy="2769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sz="1200" err="1">
                <a:solidFill>
                  <a:srgbClr val="5B6675"/>
                </a:solidFill>
                <a:latin typeface="Source Sans Pro"/>
              </a:rPr>
              <a:t>Synthèse</a:t>
            </a:r>
            <a:r>
              <a:rPr lang="en-US" sz="1200">
                <a:solidFill>
                  <a:srgbClr val="5B6675"/>
                </a:solidFill>
                <a:latin typeface="Source Sans Pro"/>
              </a:rPr>
              <a:t> et des</a:t>
            </a:r>
            <a:r>
              <a:rPr sz="1200" b="0">
                <a:solidFill>
                  <a:srgbClr val="5B6675"/>
                </a:solidFill>
                <a:latin typeface="Source Sans Pro"/>
              </a:rPr>
              <a:t> </a:t>
            </a:r>
            <a:r>
              <a:rPr sz="1200" b="0" err="1">
                <a:solidFill>
                  <a:srgbClr val="5B6675"/>
                </a:solidFill>
                <a:latin typeface="Source Sans Pro"/>
              </a:rPr>
              <a:t>pistes</a:t>
            </a:r>
            <a:r>
              <a:rPr sz="1200" b="0">
                <a:solidFill>
                  <a:srgbClr val="5B6675"/>
                </a:solidFill>
                <a:latin typeface="Source Sans Pro"/>
              </a:rPr>
              <a:t> ouvertes</a:t>
            </a:r>
          </a:p>
        </p:txBody>
      </p:sp>
    </p:spTree>
    <p:extLst>
      <p:ext uri="{BB962C8B-B14F-4D97-AF65-F5344CB8AC3E}">
        <p14:creationId xmlns:p14="http://schemas.microsoft.com/office/powerpoint/2010/main" val="194196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457200" y="502920"/>
            <a:ext cx="36576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0" b="1">
                <a:solidFill>
                  <a:schemeClr val="bg2"/>
                </a:solidFill>
                <a:latin typeface="Source Sans Pro"/>
              </a:rPr>
              <a:t>01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1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/>
          <p:cNvSpPr txBox="1"/>
          <p:nvPr/>
        </p:nvSpPr>
        <p:spPr>
          <a:xfrm>
            <a:off x="777240" y="2560320"/>
            <a:ext cx="768096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3600" b="1" err="1">
                <a:solidFill>
                  <a:srgbClr val="FFFFFF"/>
                </a:solidFill>
                <a:latin typeface="Source Sans Pro"/>
              </a:rPr>
              <a:t>Contexte</a:t>
            </a:r>
            <a:r>
              <a:rPr sz="3600" b="1">
                <a:solidFill>
                  <a:srgbClr val="FFFFFF"/>
                </a:solidFill>
                <a:latin typeface="Source Sans Pro"/>
              </a:rPr>
              <a:t> &amp; </a:t>
            </a:r>
            <a:r>
              <a:rPr sz="3600" b="1" err="1">
                <a:solidFill>
                  <a:srgbClr val="FFFFFF"/>
                </a:solidFill>
                <a:latin typeface="Source Sans Pro"/>
              </a:rPr>
              <a:t>objectifs</a:t>
            </a:r>
            <a:endParaRPr lang="en-US" sz="3600" b="1">
              <a:solidFill>
                <a:srgbClr val="FFFFFF"/>
              </a:solidFill>
              <a:latin typeface="Source Sans Pro"/>
              <a:ea typeface="Source Sans Pro"/>
            </a:endParaRPr>
          </a:p>
          <a:p>
            <a:r>
              <a:rPr lang="en-US" sz="1500" err="1">
                <a:solidFill>
                  <a:srgbClr val="ADB4BD"/>
                </a:solidFill>
                <a:ea typeface="Source Sans Pro"/>
              </a:rPr>
              <a:t>Problématique</a:t>
            </a:r>
            <a:r>
              <a:rPr lang="en-US" sz="1500">
                <a:solidFill>
                  <a:srgbClr val="ADB4BD"/>
                </a:solidFill>
                <a:ea typeface="Source Sans Pro"/>
              </a:rPr>
              <a:t> et </a:t>
            </a:r>
            <a:r>
              <a:rPr lang="en-US" sz="1500" err="1">
                <a:solidFill>
                  <a:srgbClr val="ADB4BD"/>
                </a:solidFill>
                <a:ea typeface="Source Sans Pro"/>
              </a:rPr>
              <a:t>répartition</a:t>
            </a:r>
            <a:r>
              <a:rPr lang="en-US" sz="1500">
                <a:solidFill>
                  <a:srgbClr val="ADB4BD"/>
                </a:solidFill>
                <a:ea typeface="Source Sans Pro"/>
              </a:rPr>
              <a:t> du travail</a:t>
            </a:r>
          </a:p>
          <a:p>
            <a:endParaRPr lang="en-US" sz="1500">
              <a:solidFill>
                <a:srgbClr val="ADB4BD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29419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 Contexte du projet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15A123B6-87BA-E5B2-DA9E-0F04DE6FE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36" y="754769"/>
            <a:ext cx="6809928" cy="3868490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27F0E8E1-9305-7E9C-3290-ACD04F6BFE3B}"/>
              </a:ext>
            </a:extLst>
          </p:cNvPr>
          <p:cNvSpPr txBox="1"/>
          <p:nvPr/>
        </p:nvSpPr>
        <p:spPr>
          <a:xfrm>
            <a:off x="1554480" y="4361655"/>
            <a:ext cx="3429000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1: Ligne ALIX</a:t>
            </a:r>
            <a:endParaRPr lang="en-US" sz="1050" i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80854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Objectifs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5</a:t>
            </a:fld>
            <a:endParaRPr lang="fr-FR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BA2CB08-F6C6-5213-992B-E6390DC15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58" y="771550"/>
            <a:ext cx="8708572" cy="374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8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Travail collaboratif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6</a:t>
            </a:fld>
            <a:endParaRPr lang="fr-FR"/>
          </a:p>
        </p:txBody>
      </p:sp>
      <p:grpSp>
        <p:nvGrpSpPr>
          <p:cNvPr id="4" name="Groupe 3"/>
          <p:cNvGrpSpPr/>
          <p:nvPr/>
        </p:nvGrpSpPr>
        <p:grpSpPr>
          <a:xfrm>
            <a:off x="490945" y="771550"/>
            <a:ext cx="8189319" cy="3794760"/>
            <a:chOff x="479192" y="771550"/>
            <a:chExt cx="8189319" cy="3794760"/>
          </a:xfrm>
        </p:grpSpPr>
        <p:sp>
          <p:nvSpPr>
            <p:cNvPr id="7" name="TextBox 3"/>
            <p:cNvSpPr txBox="1"/>
            <p:nvPr/>
          </p:nvSpPr>
          <p:spPr>
            <a:xfrm>
              <a:off x="484632" y="771550"/>
              <a:ext cx="8183879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00" b="0">
                  <a:solidFill>
                    <a:srgbClr val="222A35"/>
                  </a:solidFill>
                  <a:latin typeface="Source Sans Pro"/>
                </a:rPr>
                <a:t>3 flux menés 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en parallèle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· synchros hebdomadaires (réunions encadrants) · dépôt 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GitHub commun</a:t>
              </a:r>
            </a:p>
          </p:txBody>
        </p:sp>
        <p:sp>
          <p:nvSpPr>
            <p:cNvPr id="8" name="Rounded Rectangle 4"/>
            <p:cNvSpPr/>
            <p:nvPr/>
          </p:nvSpPr>
          <p:spPr>
            <a:xfrm>
              <a:off x="484632" y="1338478"/>
              <a:ext cx="2615184" cy="2697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/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630936" y="1996846"/>
              <a:ext cx="2340864" cy="176458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246380" indent="-246380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Recherche &amp; choix de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l'approche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cinématique</a:t>
              </a:r>
              <a:endParaRPr lang="en-US" sz="1150" b="0" err="1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Import / reconstruction du mannequin (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RoboDK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)</a:t>
              </a:r>
              <a:endParaRPr sz="1150" b="0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>
                <a:spcAft>
                  <a:spcPts val="500"/>
                </a:spcAft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Tableau</a:t>
              </a:r>
              <a:r>
                <a:rPr lang="en-US" sz="1150">
                  <a:solidFill>
                    <a:srgbClr val="222A35"/>
                  </a:solidFill>
                  <a:latin typeface="Source Sans Pro"/>
                </a:rPr>
                <a:t> 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DDL + formulation</a:t>
              </a:r>
              <a:endParaRPr sz="1150" b="0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Animations : marches &amp; manipulation</a:t>
              </a:r>
              <a:endParaRPr sz="1150" b="0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Démonstration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technique</a:t>
              </a:r>
              <a:endParaRPr sz="1150" b="0">
                <a:solidFill>
                  <a:srgbClr val="222A35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10" name="Rounded Rectangle 8"/>
            <p:cNvSpPr/>
            <p:nvPr/>
          </p:nvSpPr>
          <p:spPr>
            <a:xfrm>
              <a:off x="3264408" y="1338478"/>
              <a:ext cx="2615184" cy="2697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10712" y="1996846"/>
              <a:ext cx="2340864" cy="1965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46888" indent="-246888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Interactions homme-robot</a:t>
              </a:r>
            </a:p>
            <a:p>
              <a:pPr marL="246888" indent="-246888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Normes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&amp; distances de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sécurité</a:t>
              </a:r>
              <a:endParaRPr sz="1150" b="0">
                <a:solidFill>
                  <a:srgbClr val="222A35"/>
                </a:solidFill>
                <a:latin typeface="Source Sans Pro"/>
              </a:endParaRPr>
            </a:p>
            <a:p>
              <a:pPr marL="246888" indent="-246888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Règles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de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ralentissement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/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arrêt</a:t>
              </a:r>
              <a:endParaRPr sz="1150" b="0">
                <a:solidFill>
                  <a:srgbClr val="222A35"/>
                </a:solidFill>
                <a:latin typeface="Source Sans Pro"/>
              </a:endParaRPr>
            </a:p>
            <a:p>
              <a:pPr marL="246888" indent="-246888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Critères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de validation</a:t>
              </a:r>
            </a:p>
            <a:p>
              <a:pPr marL="246888" indent="-246888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Analyse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des </a:t>
              </a:r>
              <a:r>
                <a:rPr sz="1150" b="0" err="1">
                  <a:solidFill>
                    <a:srgbClr val="222A35"/>
                  </a:solidFill>
                  <a:latin typeface="Source Sans Pro"/>
                </a:rPr>
                <a:t>résultats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 (rapport)</a:t>
              </a:r>
            </a:p>
          </p:txBody>
        </p:sp>
        <p:sp>
          <p:nvSpPr>
            <p:cNvPr id="12" name="Rounded Rectangle 12"/>
            <p:cNvSpPr/>
            <p:nvPr/>
          </p:nvSpPr>
          <p:spPr>
            <a:xfrm>
              <a:off x="6044184" y="1338478"/>
              <a:ext cx="2615184" cy="2697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5"/>
            <p:cNvSpPr txBox="1"/>
            <p:nvPr/>
          </p:nvSpPr>
          <p:spPr>
            <a:xfrm>
              <a:off x="6190488" y="1996846"/>
              <a:ext cx="2340864" cy="158761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246380" indent="-246380">
                <a:spcAft>
                  <a:spcPts val="500"/>
                </a:spcAft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</a:t>
              </a:r>
              <a:r>
                <a:rPr lang="en-US" sz="1150" err="1">
                  <a:solidFill>
                    <a:srgbClr val="222A35"/>
                  </a:solidFill>
                  <a:latin typeface="Source Sans Pro"/>
                </a:rPr>
                <a:t>Analyse</a:t>
              </a:r>
              <a:r>
                <a:rPr lang="en-US" sz="1150">
                  <a:solidFill>
                    <a:srgbClr val="222A35"/>
                  </a:solidFill>
                  <a:latin typeface="Source Sans Pro"/>
                </a:rPr>
                <a:t> du </a:t>
              </a:r>
              <a:r>
                <a:rPr lang="en-US" sz="1150" err="1">
                  <a:solidFill>
                    <a:srgbClr val="222A35"/>
                  </a:solidFill>
                  <a:latin typeface="Source Sans Pro"/>
                </a:rPr>
                <a:t>besoin</a:t>
              </a:r>
              <a:endParaRPr lang="en-US" sz="1150" b="0" err="1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>
                <a:spcAft>
                  <a:spcPts val="500"/>
                </a:spcAft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</a:t>
              </a:r>
              <a:r>
                <a:rPr lang="en-US" sz="1150" err="1">
                  <a:solidFill>
                    <a:srgbClr val="222A35"/>
                  </a:solidFill>
                  <a:latin typeface="Source Sans Pro"/>
                </a:rPr>
                <a:t>Contexte</a:t>
              </a:r>
              <a:r>
                <a:rPr lang="en-US" sz="1150">
                  <a:solidFill>
                    <a:srgbClr val="222A35"/>
                  </a:solidFill>
                  <a:latin typeface="Source Sans Pro"/>
                </a:rPr>
                <a:t> et </a:t>
              </a:r>
              <a:r>
                <a:rPr lang="en-US" sz="1150" err="1">
                  <a:solidFill>
                    <a:srgbClr val="222A35"/>
                  </a:solidFill>
                  <a:latin typeface="Source Sans Pro"/>
                </a:rPr>
                <a:t>scénarios</a:t>
              </a:r>
              <a:endParaRPr lang="en-US" sz="1150" b="0" err="1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 algn="l">
                <a:lnSpc>
                  <a:spcPct val="100000"/>
                </a:lnSpc>
                <a:spcAft>
                  <a:spcPts val="500"/>
                </a:spcAft>
                <a:buNone/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sz="1150" b="0">
                  <a:solidFill>
                    <a:srgbClr val="222A35"/>
                  </a:solidFill>
                  <a:latin typeface="Source Sans Pro"/>
                </a:rPr>
                <a:t>Cahier des charges</a:t>
              </a:r>
              <a:endParaRPr lang="en-US" sz="1150" b="0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>
                <a:spcAft>
                  <a:spcPts val="500"/>
                </a:spcAft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lang="en-US" sz="1150" err="1">
                  <a:solidFill>
                    <a:srgbClr val="222A35"/>
                  </a:solidFill>
                  <a:latin typeface="Source Sans Pro"/>
                </a:rPr>
                <a:t>Suivi</a:t>
              </a:r>
              <a:r>
                <a:rPr lang="en-US" sz="1150">
                  <a:solidFill>
                    <a:srgbClr val="222A35"/>
                  </a:solidFill>
                  <a:latin typeface="Source Sans Pro"/>
                </a:rPr>
                <a:t> du planning et coordination </a:t>
              </a:r>
              <a:r>
                <a:rPr lang="en-US" sz="1150" err="1">
                  <a:solidFill>
                    <a:srgbClr val="222A35"/>
                  </a:solidFill>
                  <a:latin typeface="Source Sans Pro"/>
                </a:rPr>
                <a:t>projet</a:t>
              </a:r>
              <a:endParaRPr lang="en-US" sz="1150" b="0" err="1">
                <a:solidFill>
                  <a:srgbClr val="222A35"/>
                </a:solidFill>
                <a:latin typeface="Source Sans Pro"/>
                <a:ea typeface="Source Sans Pro"/>
              </a:endParaRPr>
            </a:p>
            <a:p>
              <a:pPr marL="246380" indent="-246380">
                <a:spcAft>
                  <a:spcPts val="500"/>
                </a:spcAft>
              </a:pPr>
              <a:r>
                <a:rPr sz="1150" b="1">
                  <a:solidFill>
                    <a:srgbClr val="F45F0C"/>
                  </a:solidFill>
                  <a:latin typeface="Source Sans Pro"/>
                </a:rPr>
                <a:t>▸  </a:t>
              </a:r>
              <a:r>
                <a:rPr lang="en-US" sz="1150">
                  <a:solidFill>
                    <a:srgbClr val="222A35"/>
                  </a:solidFill>
                  <a:latin typeface="Source Sans Pro"/>
                </a:rPr>
                <a:t>Structuration du rapport et </a:t>
              </a:r>
              <a:r>
                <a:rPr lang="en-US" sz="1150" err="1">
                  <a:solidFill>
                    <a:srgbClr val="222A35"/>
                  </a:solidFill>
                  <a:latin typeface="Source Sans Pro"/>
                </a:rPr>
                <a:t>soutenance</a:t>
              </a:r>
              <a:endParaRPr sz="1150" b="0" err="1">
                <a:solidFill>
                  <a:srgbClr val="222A35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14" name="TextBox 16"/>
            <p:cNvSpPr txBox="1"/>
            <p:nvPr/>
          </p:nvSpPr>
          <p:spPr>
            <a:xfrm>
              <a:off x="484632" y="4200550"/>
              <a:ext cx="8183879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1">
                  <a:solidFill>
                    <a:srgbClr val="F45F0C"/>
                  </a:solidFill>
                  <a:latin typeface="Source Sans Pro"/>
                </a:rPr>
                <a:t>Calendrier : </a:t>
              </a:r>
              <a:r>
                <a:rPr sz="1200" b="0">
                  <a:solidFill>
                    <a:srgbClr val="222A35"/>
                  </a:solidFill>
                  <a:latin typeface="Source Sans Pro"/>
                </a:rPr>
                <a:t>S0 (20 avril) → soutenance (24 juin) · 9 semaines · jalons hebdomadaires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FE8BC9-CA08-6DF5-DAC6-E22023C8C284}"/>
                </a:ext>
              </a:extLst>
            </p:cNvPr>
            <p:cNvSpPr/>
            <p:nvPr/>
          </p:nvSpPr>
          <p:spPr>
            <a:xfrm>
              <a:off x="512953" y="1365557"/>
              <a:ext cx="2558259" cy="5653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6"/>
            <p:cNvSpPr txBox="1"/>
            <p:nvPr/>
          </p:nvSpPr>
          <p:spPr>
            <a:xfrm>
              <a:off x="479192" y="1400291"/>
              <a:ext cx="2604296" cy="49968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2F2F2"/>
                  </a:solidFill>
                  <a:latin typeface="Source Sans Pro"/>
                </a:rPr>
                <a:t>Nikoloz</a:t>
              </a:r>
              <a:endParaRPr sz="1600" b="1">
                <a:solidFill>
                  <a:srgbClr val="F2F2F2"/>
                </a:solidFill>
                <a:latin typeface="Source Sans Pro"/>
              </a:endParaRPr>
            </a:p>
            <a:p>
              <a:pPr algn="ctr">
                <a:lnSpc>
                  <a:spcPct val="104000"/>
                </a:lnSpc>
                <a:spcAft>
                  <a:spcPts val="0"/>
                </a:spcAft>
              </a:pPr>
              <a:r>
                <a:rPr sz="1050" b="1">
                  <a:solidFill>
                    <a:srgbClr val="F2F2F2"/>
                  </a:solidFill>
                  <a:latin typeface="Source Sans Pro"/>
                </a:rPr>
                <a:t>Développement technique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11EA12-E9A6-BED5-C552-A263CBE769EC}"/>
                </a:ext>
              </a:extLst>
            </p:cNvPr>
            <p:cNvSpPr/>
            <p:nvPr/>
          </p:nvSpPr>
          <p:spPr>
            <a:xfrm>
              <a:off x="3294253" y="1365557"/>
              <a:ext cx="2558259" cy="5653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C9E5E5-AEDF-A1A7-304F-E7B14546CB4A}"/>
                </a:ext>
              </a:extLst>
            </p:cNvPr>
            <p:cNvSpPr/>
            <p:nvPr/>
          </p:nvSpPr>
          <p:spPr>
            <a:xfrm>
              <a:off x="6075552" y="1365556"/>
              <a:ext cx="2558259" cy="5653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0"/>
            <p:cNvSpPr txBox="1"/>
            <p:nvPr/>
          </p:nvSpPr>
          <p:spPr>
            <a:xfrm>
              <a:off x="3275293" y="1385939"/>
              <a:ext cx="2615184" cy="5120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Source Sans Pro"/>
                </a:rPr>
                <a:t>Luc</a:t>
              </a:r>
            </a:p>
            <a:p>
              <a:pPr algn="ctr">
                <a:lnSpc>
                  <a:spcPct val="104000"/>
                </a:lnSpc>
                <a:spcAft>
                  <a:spcPts val="0"/>
                </a:spcAft>
              </a:pPr>
              <a:r>
                <a:rPr sz="1050" b="1">
                  <a:solidFill>
                    <a:srgbClr val="F2F2F2"/>
                  </a:solidFill>
                  <a:latin typeface="Source Sans Pro"/>
                </a:rPr>
                <a:t>Sécurité &amp; normes</a:t>
              </a:r>
            </a:p>
          </p:txBody>
        </p:sp>
        <p:sp>
          <p:nvSpPr>
            <p:cNvPr id="20" name="TextBox 14"/>
            <p:cNvSpPr txBox="1"/>
            <p:nvPr/>
          </p:nvSpPr>
          <p:spPr>
            <a:xfrm>
              <a:off x="6044183" y="1391382"/>
              <a:ext cx="2615184" cy="51206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pPr algn="ctr"/>
              <a:r>
                <a:rPr lang="fr-FR" sz="1600" b="1">
                  <a:solidFill>
                    <a:srgbClr val="F2F2F2"/>
                  </a:solidFill>
                  <a:latin typeface="Source Sans Pro"/>
                </a:rPr>
                <a:t>Alexandre</a:t>
              </a:r>
              <a:endParaRPr sz="1600" b="1">
                <a:solidFill>
                  <a:srgbClr val="F2F2F2"/>
                </a:solidFill>
                <a:latin typeface="Source Sans Pro"/>
              </a:endParaRPr>
            </a:p>
            <a:p>
              <a:pPr algn="ctr">
                <a:lnSpc>
                  <a:spcPct val="104000"/>
                </a:lnSpc>
                <a:spcAft>
                  <a:spcPts val="0"/>
                </a:spcAft>
              </a:pPr>
              <a:r>
                <a:rPr sz="1050" b="1" err="1">
                  <a:solidFill>
                    <a:srgbClr val="F2F2F2"/>
                  </a:solidFill>
                  <a:latin typeface="Source Sans Pro"/>
                </a:rPr>
                <a:t>Cadrage</a:t>
              </a:r>
              <a:r>
                <a:rPr sz="1050" b="1">
                  <a:solidFill>
                    <a:srgbClr val="F2F2F2"/>
                  </a:solidFill>
                  <a:latin typeface="Source Sans Pro"/>
                </a:rPr>
                <a:t> &amp; </a:t>
              </a:r>
              <a:r>
                <a:rPr sz="1050" b="1" err="1">
                  <a:solidFill>
                    <a:srgbClr val="F2F2F2"/>
                  </a:solidFill>
                  <a:latin typeface="Source Sans Pro"/>
                </a:rPr>
                <a:t>livrables</a:t>
              </a:r>
              <a:endParaRPr sz="1050" b="1" err="1">
                <a:solidFill>
                  <a:srgbClr val="F2F2F2"/>
                </a:solidFill>
                <a:latin typeface="Source Sans Pro"/>
                <a:ea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7947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457200" y="502920"/>
            <a:ext cx="36576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0" b="1">
                <a:solidFill>
                  <a:schemeClr val="bg2"/>
                </a:solidFill>
                <a:latin typeface="Source Sans Pro"/>
              </a:rPr>
              <a:t>02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2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/>
          <p:cNvSpPr txBox="1"/>
          <p:nvPr/>
        </p:nvSpPr>
        <p:spPr>
          <a:xfrm>
            <a:off x="777240" y="2560320"/>
            <a:ext cx="7680960" cy="8782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Cahier des charges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500" b="0" err="1">
                <a:solidFill>
                  <a:srgbClr val="ADB4BD"/>
                </a:solidFill>
                <a:latin typeface="Source Sans Pro"/>
              </a:rPr>
              <a:t>Scénarios</a:t>
            </a:r>
            <a:r>
              <a:rPr sz="1500" b="0">
                <a:solidFill>
                  <a:srgbClr val="ADB4BD"/>
                </a:solidFill>
                <a:latin typeface="Source Sans Pro"/>
              </a:rPr>
              <a:t>, exigences, </a:t>
            </a:r>
            <a:r>
              <a:rPr sz="1500" b="0" err="1">
                <a:solidFill>
                  <a:srgbClr val="ADB4BD"/>
                </a:solidFill>
                <a:latin typeface="Source Sans Pro"/>
              </a:rPr>
              <a:t>périmètre</a:t>
            </a:r>
            <a:endParaRPr sz="1500" b="0" err="1">
              <a:solidFill>
                <a:srgbClr val="ADB4BD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72629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Scénario 1 - Coexistence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8</a:t>
            </a:fld>
            <a:endParaRPr lang="fr-FR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8297291C-E3D1-1703-F4BB-3F2A5EC8F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9" y="746002"/>
            <a:ext cx="9007929" cy="384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1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Scénario 2 – Synchronisation / échange de pièces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21C7B70B-B62B-239F-0C5C-35883A07D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36" y="780669"/>
            <a:ext cx="8866415" cy="380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4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>
                <a:ea typeface="Source Sans Pro Black"/>
              </a:rPr>
              <a:t>Cadre du projet</a:t>
            </a:r>
            <a:endParaRPr lang="fr-FR"/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10</a:t>
            </a:fld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3EE09-CCFC-4D4C-46DF-277D30F9A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" y="692027"/>
            <a:ext cx="7957458" cy="393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0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457200" y="502920"/>
            <a:ext cx="36576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0" b="1">
                <a:solidFill>
                  <a:schemeClr val="bg2"/>
                </a:solidFill>
                <a:latin typeface="Source Sans Pro"/>
              </a:rPr>
              <a:t>03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3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/>
          <p:cNvSpPr txBox="1"/>
          <p:nvPr/>
        </p:nvSpPr>
        <p:spPr>
          <a:xfrm>
            <a:off x="777240" y="2560320"/>
            <a:ext cx="7680960" cy="11206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3600" b="1" err="1">
                <a:solidFill>
                  <a:srgbClr val="FFFFFF"/>
                </a:solidFill>
                <a:latin typeface="Source Sans Pro"/>
              </a:rPr>
              <a:t>Modèle</a:t>
            </a:r>
            <a:r>
              <a:rPr sz="3600" b="1">
                <a:solidFill>
                  <a:srgbClr val="FFFFFF"/>
                </a:solidFill>
                <a:latin typeface="Source Sans Pro"/>
              </a:rPr>
              <a:t> </a:t>
            </a:r>
            <a:r>
              <a:rPr lang="en-US" sz="3600" b="1" err="1">
                <a:solidFill>
                  <a:srgbClr val="FFFFFF"/>
                </a:solidFill>
                <a:latin typeface="Source Sans Pro"/>
              </a:rPr>
              <a:t>conceptuel</a:t>
            </a:r>
            <a:endParaRPr lang="en-US" sz="3600" b="1" err="1">
              <a:solidFill>
                <a:srgbClr val="FFFFFF"/>
              </a:solidFill>
              <a:latin typeface="Source Sans Pro"/>
              <a:ea typeface="Source Sans Pro"/>
            </a:endParaRPr>
          </a:p>
          <a:p>
            <a:pPr>
              <a:lnSpc>
                <a:spcPct val="105000"/>
              </a:lnSpc>
            </a:pPr>
            <a:r>
              <a:rPr lang="en-US" sz="1500" err="1">
                <a:solidFill>
                  <a:srgbClr val="ADB4BD"/>
                </a:solidFill>
                <a:latin typeface="Source Sans Pro"/>
              </a:rPr>
              <a:t>Modélisation</a:t>
            </a:r>
            <a:r>
              <a:rPr lang="en-US" sz="1500">
                <a:solidFill>
                  <a:srgbClr val="ADB4BD"/>
                </a:solidFill>
                <a:latin typeface="Source Sans Pro"/>
              </a:rPr>
              <a:t> </a:t>
            </a:r>
            <a:r>
              <a:rPr lang="en-US" sz="1500" err="1">
                <a:solidFill>
                  <a:srgbClr val="ADB4BD"/>
                </a:solidFill>
                <a:latin typeface="Source Sans Pro"/>
              </a:rPr>
              <a:t>du</a:t>
            </a:r>
            <a:r>
              <a:rPr lang="en-US" sz="1500">
                <a:solidFill>
                  <a:srgbClr val="ADB4BD"/>
                </a:solidFill>
                <a:latin typeface="Source Sans Pro"/>
              </a:rPr>
              <a:t> mannequin</a:t>
            </a:r>
            <a:endParaRPr lang="en-US" sz="1500">
              <a:solidFill>
                <a:srgbClr val="ADB4BD"/>
              </a:solidFill>
              <a:latin typeface="Source Sans Pro"/>
              <a:ea typeface="Source Sans Pro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endParaRPr sz="1500" b="0">
              <a:solidFill>
                <a:srgbClr val="ADB4BD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792419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Schéma cinématique &amp; degrés de liberté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TextBox 3"/>
          <p:cNvSpPr txBox="1"/>
          <p:nvPr/>
        </p:nvSpPr>
        <p:spPr>
          <a:xfrm>
            <a:off x="468303" y="1059582"/>
            <a:ext cx="4663440" cy="6550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lang="fr-FR"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fr-FR" sz="1500">
                <a:solidFill>
                  <a:srgbClr val="222A35"/>
                </a:solidFill>
                <a:latin typeface="Source Sans Pro"/>
              </a:rPr>
              <a:t> Solides rigides</a:t>
            </a:r>
            <a:r>
              <a:rPr lang="fr-FR" sz="150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fr-FR" sz="1500">
                <a:solidFill>
                  <a:srgbClr val="222A35"/>
                </a:solidFill>
                <a:latin typeface="Source Sans Pro"/>
              </a:rPr>
              <a:t>&amp; </a:t>
            </a:r>
            <a:r>
              <a:rPr lang="fr-FR" sz="1500" b="1">
                <a:solidFill>
                  <a:srgbClr val="222A35"/>
                </a:solidFill>
                <a:latin typeface="Source Sans Pro"/>
              </a:rPr>
              <a:t>liaisons</a:t>
            </a:r>
            <a:r>
              <a:rPr lang="fr-FR" sz="1500" b="0">
                <a:solidFill>
                  <a:srgbClr val="222A35"/>
                </a:solidFill>
                <a:latin typeface="Source Sans Pro"/>
              </a:rPr>
              <a:t>.</a:t>
            </a:r>
            <a:endParaRPr lang="fr-FR"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lang="fr-FR" sz="1500" b="1">
                <a:solidFill>
                  <a:srgbClr val="F45F0C"/>
                </a:solidFill>
                <a:latin typeface="Source Sans Pro"/>
              </a:rPr>
              <a:t>▸ </a:t>
            </a:r>
            <a:r>
              <a:rPr lang="fr-FR" sz="1500">
                <a:solidFill>
                  <a:srgbClr val="F45F0C"/>
                </a:solidFill>
                <a:latin typeface="Source Sans Pro"/>
              </a:rPr>
              <a:t> </a:t>
            </a:r>
            <a:r>
              <a:rPr lang="fr-FR" sz="1500">
                <a:solidFill>
                  <a:srgbClr val="222A35"/>
                </a:solidFill>
                <a:latin typeface="Source Sans Pro"/>
              </a:rPr>
              <a:t>{Tronc + cou + tête} parties</a:t>
            </a:r>
            <a:r>
              <a:rPr lang="fr-FR" sz="1500" b="1">
                <a:solidFill>
                  <a:srgbClr val="222A35"/>
                </a:solidFill>
                <a:latin typeface="Source Sans Pro"/>
              </a:rPr>
              <a:t> fixe</a:t>
            </a:r>
            <a:endParaRPr lang="fr-FR" sz="1500">
              <a:solidFill>
                <a:srgbClr val="222A35"/>
              </a:solidFill>
              <a:latin typeface="Source Sans Pro"/>
              <a:ea typeface="Source Sans Pr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35870" y="1220254"/>
            <a:ext cx="4061676" cy="2747774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5228409" y="3969769"/>
            <a:ext cx="3429000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2: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Schéma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cinématique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normalisé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(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vue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de face)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2AC08BD-7E4E-0F2F-5605-561936C80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6795"/>
              </p:ext>
            </p:extLst>
          </p:nvPr>
        </p:nvGraphicFramePr>
        <p:xfrm>
          <a:off x="484414" y="2027539"/>
          <a:ext cx="4121414" cy="213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644">
                  <a:extLst>
                    <a:ext uri="{9D8B030D-6E8A-4147-A177-3AD203B41FA5}">
                      <a16:colId xmlns:a16="http://schemas.microsoft.com/office/drawing/2014/main" val="3960026717"/>
                    </a:ext>
                  </a:extLst>
                </a:gridCol>
                <a:gridCol w="588138">
                  <a:extLst>
                    <a:ext uri="{9D8B030D-6E8A-4147-A177-3AD203B41FA5}">
                      <a16:colId xmlns:a16="http://schemas.microsoft.com/office/drawing/2014/main" val="1239064805"/>
                    </a:ext>
                  </a:extLst>
                </a:gridCol>
                <a:gridCol w="1164783">
                  <a:extLst>
                    <a:ext uri="{9D8B030D-6E8A-4147-A177-3AD203B41FA5}">
                      <a16:colId xmlns:a16="http://schemas.microsoft.com/office/drawing/2014/main" val="1906830322"/>
                    </a:ext>
                  </a:extLst>
                </a:gridCol>
                <a:gridCol w="646849">
                  <a:extLst>
                    <a:ext uri="{9D8B030D-6E8A-4147-A177-3AD203B41FA5}">
                      <a16:colId xmlns:a16="http://schemas.microsoft.com/office/drawing/2014/main" val="22174701"/>
                    </a:ext>
                  </a:extLst>
                </a:gridCol>
              </a:tblGrid>
              <a:tr h="356250">
                <a:tc>
                  <a:txBody>
                    <a:bodyPr/>
                    <a:lstStyle/>
                    <a:p>
                      <a:pPr algn="ctr"/>
                      <a:r>
                        <a:rPr lang="en-US" sz="1500" i="0"/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i="0"/>
                        <a:t>DDL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i="0"/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i="0"/>
                        <a:t>DDL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637396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0" i="0" u="none" strike="noStrike" baseline="0" noProof="0" err="1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Buste</a:t>
                      </a:r>
                      <a:r>
                        <a:rPr lang="en-US" sz="1500" b="0" i="0" u="none" strike="noStrike" baseline="0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 -&gt; Cuisse (x2)</a:t>
                      </a:r>
                      <a:endParaRPr lang="en-US" sz="1500" i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i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0" i="0" u="none" strike="noStrike" noProof="0" err="1">
                          <a:latin typeface="Source Sans Pro"/>
                          <a:ea typeface="Source Sans Pro"/>
                        </a:rPr>
                        <a:t>Épaule</a:t>
                      </a:r>
                      <a:r>
                        <a:rPr lang="en-US" sz="1500" b="0" i="0" u="none" strike="noStrike" noProof="0">
                          <a:latin typeface="Source Sans Pro"/>
                          <a:ea typeface="Source Sans Pro"/>
                        </a:rPr>
                        <a:t> (x2)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i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24928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0" i="0" u="none" strike="noStrike" noProof="0" err="1">
                          <a:latin typeface="Source Sans Pro"/>
                          <a:ea typeface="Source Sans Pro"/>
                        </a:rPr>
                        <a:t>Genou</a:t>
                      </a:r>
                      <a:r>
                        <a:rPr lang="en-US" sz="1500" b="0" i="0" u="none" strike="noStrike" noProof="0">
                          <a:latin typeface="Source Sans Pro"/>
                          <a:ea typeface="Source Sans Pro"/>
                        </a:rPr>
                        <a:t> (x2)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i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0" i="0" u="none" strike="noStrike" noProof="0" err="1">
                          <a:latin typeface="Source Sans Pro"/>
                          <a:ea typeface="Source Sans Pro"/>
                        </a:rPr>
                        <a:t>Coude</a:t>
                      </a:r>
                      <a:r>
                        <a:rPr lang="en-US" sz="1500" b="0" i="0" u="none" strike="noStrike" noProof="0">
                          <a:latin typeface="Source Sans Pro"/>
                          <a:ea typeface="Source Sans Pro"/>
                        </a:rPr>
                        <a:t> (x2)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i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57148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0" i="0" u="none" strike="noStrike" noProof="0">
                          <a:latin typeface="Source Sans Pro"/>
                          <a:ea typeface="Source Sans Pro"/>
                        </a:rPr>
                        <a:t>Cheville (x2)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i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0" i="0" u="none" strike="noStrike" noProof="0" err="1">
                          <a:latin typeface="Source Sans Pro"/>
                          <a:ea typeface="Source Sans Pro"/>
                        </a:rPr>
                        <a:t>Poignet</a:t>
                      </a:r>
                      <a:r>
                        <a:rPr lang="en-US" sz="1500" b="0" i="0" u="none" strike="noStrike" noProof="0">
                          <a:latin typeface="Source Sans Pro"/>
                          <a:ea typeface="Source Sans Pro"/>
                        </a:rPr>
                        <a:t> (x2)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i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665001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1" i="0" u="none" strike="noStrike" noProof="0">
                          <a:latin typeface="Source Sans Pro"/>
                          <a:ea typeface="Source Sans Pro"/>
                        </a:rPr>
                        <a:t>Total jambes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i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1" i="0" u="none" strike="noStrike" noProof="0"/>
                        <a:t>Total bras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i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620153"/>
                  </a:ext>
                </a:extLst>
              </a:tr>
              <a:tr h="356250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1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Total </a:t>
                      </a:r>
                      <a:r>
                        <a:rPr lang="en-US" sz="1500" b="1" i="0" u="none" strike="noStrike" noProof="0" err="1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retenu</a:t>
                      </a:r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i="0"/>
                        <a:t>20</a:t>
                      </a:r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981943"/>
                  </a:ext>
                </a:extLst>
              </a:tr>
            </a:tbl>
          </a:graphicData>
        </a:graphic>
      </p:graphicFrame>
      <p:pic>
        <p:nvPicPr>
          <p:cNvPr id="11" name="Picture 7">
            <a:extLst>
              <a:ext uri="{FF2B5EF4-FFF2-40B4-BE49-F238E27FC236}">
                <a16:creationId xmlns:a16="http://schemas.microsoft.com/office/drawing/2014/main" id="{B7BE01F3-ADB0-E79E-0EE6-6D84DC86A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677" y="1243768"/>
            <a:ext cx="3961860" cy="269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9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Démarche de développement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13</a:t>
            </a:fld>
            <a:endParaRPr lang="fr-FR"/>
          </a:p>
        </p:txBody>
      </p:sp>
      <p:grpSp>
        <p:nvGrpSpPr>
          <p:cNvPr id="4" name="Groupe 3"/>
          <p:cNvGrpSpPr/>
          <p:nvPr/>
        </p:nvGrpSpPr>
        <p:grpSpPr>
          <a:xfrm>
            <a:off x="611560" y="1059582"/>
            <a:ext cx="8183879" cy="3025026"/>
            <a:chOff x="479344" y="997066"/>
            <a:chExt cx="8183879" cy="3025026"/>
          </a:xfrm>
        </p:grpSpPr>
        <p:sp>
          <p:nvSpPr>
            <p:cNvPr id="7" name="TextBox 3"/>
            <p:cNvSpPr txBox="1"/>
            <p:nvPr/>
          </p:nvSpPr>
          <p:spPr>
            <a:xfrm>
              <a:off x="479344" y="997066"/>
              <a:ext cx="8183879" cy="29488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>
                <a:lnSpc>
                  <a:spcPct val="106000"/>
                </a:lnSpc>
                <a:spcAft>
                  <a:spcPts val="400"/>
                </a:spcAft>
              </a:pPr>
              <a:r>
                <a:rPr sz="1300" b="0">
                  <a:solidFill>
                    <a:srgbClr val="222A35"/>
                  </a:solidFill>
                  <a:latin typeface="Source Sans Pro"/>
                </a:rPr>
                <a:t>Mannequin URDF (Human Model Generator, </a:t>
              </a:r>
              <a:r>
                <a:rPr lang="en-US" sz="1300">
                  <a:solidFill>
                    <a:srgbClr val="222A35"/>
                  </a:solidFill>
                  <a:latin typeface="Source Sans Pro"/>
                </a:rPr>
                <a:t>20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DDL) — </a:t>
              </a:r>
              <a:r>
                <a:rPr sz="1300" b="1" err="1">
                  <a:solidFill>
                    <a:srgbClr val="F45F0C"/>
                  </a:solidFill>
                  <a:latin typeface="Source Sans Pro"/>
                </a:rPr>
                <a:t>mais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 </a:t>
              </a:r>
              <a:r>
                <a:rPr sz="1300" b="1" err="1">
                  <a:solidFill>
                    <a:srgbClr val="F45F0C"/>
                  </a:solidFill>
                  <a:latin typeface="Source Sans Pro"/>
                </a:rPr>
                <a:t>RoboDK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 </a:t>
              </a:r>
              <a:r>
                <a:rPr sz="1300" b="1" err="1">
                  <a:solidFill>
                    <a:srgbClr val="F45F0C"/>
                  </a:solidFill>
                  <a:latin typeface="Source Sans Pro"/>
                </a:rPr>
                <a:t>n'importe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 pas </a:t>
              </a:r>
              <a:r>
                <a:rPr sz="1300" b="1" err="1">
                  <a:solidFill>
                    <a:srgbClr val="F45F0C"/>
                  </a:solidFill>
                  <a:latin typeface="Source Sans Pro"/>
                </a:rPr>
                <a:t>l'URDF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</a:t>
              </a:r>
              <a:endParaRPr lang="en-US" sz="1300" b="0">
                <a:solidFill>
                  <a:srgbClr val="222A35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8" name="TextBox 18"/>
            <p:cNvSpPr txBox="1"/>
            <p:nvPr/>
          </p:nvSpPr>
          <p:spPr>
            <a:xfrm>
              <a:off x="479344" y="3727203"/>
              <a:ext cx="8183879" cy="29488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>
                <a:lnSpc>
                  <a:spcPct val="106000"/>
                </a:lnSpc>
                <a:spcAft>
                  <a:spcPts val="400"/>
                </a:spcAft>
              </a:pPr>
              <a:r>
                <a:rPr sz="1300" b="1">
                  <a:solidFill>
                    <a:srgbClr val="F45F0C"/>
                  </a:solidFill>
                  <a:latin typeface="Source Sans Pro"/>
                </a:rPr>
                <a:t>On </a:t>
              </a:r>
              <a:r>
                <a:rPr sz="1300" b="1" err="1">
                  <a:solidFill>
                    <a:srgbClr val="F45F0C"/>
                  </a:solidFill>
                  <a:latin typeface="Source Sans Pro"/>
                </a:rPr>
                <a:t>reconstruit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 </a:t>
              </a:r>
              <a:r>
                <a:rPr sz="1300" b="1" err="1">
                  <a:solidFill>
                    <a:srgbClr val="F45F0C"/>
                  </a:solidFill>
                  <a:latin typeface="Source Sans Pro"/>
                </a:rPr>
                <a:t>l'articulation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 à la main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(</a:t>
              </a:r>
              <a:r>
                <a:rPr sz="1300" b="0" err="1">
                  <a:solidFill>
                    <a:srgbClr val="222A35"/>
                  </a:solidFill>
                  <a:latin typeface="Source Sans Pro"/>
                </a:rPr>
                <a:t>repères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</a:t>
              </a:r>
              <a:r>
                <a:rPr sz="1300" b="0" err="1">
                  <a:solidFill>
                    <a:srgbClr val="222A35"/>
                  </a:solidFill>
                  <a:latin typeface="Source Sans Pro"/>
                </a:rPr>
                <a:t>imbriqués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+ API Python). L'URDF </a:t>
              </a:r>
              <a:r>
                <a:rPr sz="1300" b="0" err="1">
                  <a:solidFill>
                    <a:srgbClr val="222A35"/>
                  </a:solidFill>
                  <a:latin typeface="Source Sans Pro"/>
                </a:rPr>
                <a:t>devient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</a:t>
              </a:r>
              <a:r>
                <a:rPr sz="1300" b="0" err="1">
                  <a:solidFill>
                    <a:srgbClr val="222A35"/>
                  </a:solidFill>
                  <a:latin typeface="Source Sans Pro"/>
                </a:rPr>
                <a:t>une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</a:t>
              </a:r>
              <a:r>
                <a:rPr sz="1300" b="1">
                  <a:solidFill>
                    <a:srgbClr val="F45F0C"/>
                  </a:solidFill>
                  <a:latin typeface="Source Sans Pro"/>
                </a:rPr>
                <a:t>table de </a:t>
              </a:r>
              <a:r>
                <a:rPr lang="fr-FR" sz="1300" b="1" err="1">
                  <a:solidFill>
                    <a:srgbClr val="F45F0C"/>
                  </a:solidFill>
                  <a:latin typeface="Source Sans Pro"/>
                </a:rPr>
                <a:t>référence</a:t>
              </a:r>
              <a:r>
                <a:rPr sz="1300" b="0">
                  <a:solidFill>
                    <a:srgbClr val="222A35"/>
                  </a:solidFill>
                  <a:latin typeface="Source Sans Pro"/>
                </a:rPr>
                <a:t> </a:t>
              </a:r>
              <a:endParaRPr lang="en-US" sz="1300" b="0">
                <a:solidFill>
                  <a:srgbClr val="222A35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9" name="Rounded Rectangle 21"/>
            <p:cNvSpPr/>
            <p:nvPr/>
          </p:nvSpPr>
          <p:spPr>
            <a:xfrm>
              <a:off x="479344" y="2185786"/>
              <a:ext cx="1195789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/>
            <a:lstStyle/>
            <a:p>
              <a:pPr algn="ctr"/>
              <a:r>
                <a:rPr sz="1100" b="1">
                  <a:solidFill>
                    <a:srgbClr val="222A35"/>
                  </a:solidFill>
                </a:rPr>
                <a:t>URDF (HMG)</a:t>
              </a:r>
            </a:p>
            <a:p>
              <a:pPr algn="ctr"/>
              <a:r>
                <a:rPr lang="en-US" sz="800">
                  <a:solidFill>
                    <a:srgbClr val="5B6675"/>
                  </a:solidFill>
                </a:rPr>
                <a:t>20</a:t>
              </a:r>
              <a:r>
                <a:rPr sz="800">
                  <a:solidFill>
                    <a:srgbClr val="5B6675"/>
                  </a:solidFill>
                </a:rPr>
                <a:t> DDL, butées</a:t>
              </a:r>
            </a:p>
          </p:txBody>
        </p:sp>
        <p:sp>
          <p:nvSpPr>
            <p:cNvPr id="10" name="Right Arrow 22"/>
            <p:cNvSpPr/>
            <p:nvPr/>
          </p:nvSpPr>
          <p:spPr>
            <a:xfrm>
              <a:off x="1688265" y="2620126"/>
              <a:ext cx="173736" cy="182880"/>
            </a:xfrm>
            <a:prstGeom prst="rightArrow">
              <a:avLst/>
            </a:prstGeom>
            <a:solidFill>
              <a:srgbClr val="F68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23"/>
            <p:cNvSpPr/>
            <p:nvPr/>
          </p:nvSpPr>
          <p:spPr>
            <a:xfrm>
              <a:off x="1875133" y="2185786"/>
              <a:ext cx="1195789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222A35"/>
                  </a:solidFill>
                </a:rPr>
                <a:t>Modèle 3D</a:t>
              </a:r>
            </a:p>
            <a:p>
              <a:pPr algn="ctr"/>
              <a:r>
                <a:rPr sz="800">
                  <a:solidFill>
                    <a:srgbClr val="5B6675"/>
                  </a:solidFill>
                </a:rPr>
                <a:t>Manikin_1.STEP</a:t>
              </a:r>
            </a:p>
          </p:txBody>
        </p:sp>
        <p:sp>
          <p:nvSpPr>
            <p:cNvPr id="12" name="Right Arrow 24"/>
            <p:cNvSpPr/>
            <p:nvPr/>
          </p:nvSpPr>
          <p:spPr>
            <a:xfrm>
              <a:off x="3084054" y="2620126"/>
              <a:ext cx="173736" cy="182880"/>
            </a:xfrm>
            <a:prstGeom prst="rightArrow">
              <a:avLst/>
            </a:prstGeom>
            <a:solidFill>
              <a:srgbClr val="F68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25"/>
            <p:cNvSpPr/>
            <p:nvPr/>
          </p:nvSpPr>
          <p:spPr>
            <a:xfrm>
              <a:off x="3270922" y="2185786"/>
              <a:ext cx="1195789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222A35"/>
                  </a:solidFill>
                </a:rPr>
                <a:t>Découpe</a:t>
              </a:r>
            </a:p>
            <a:p>
              <a:pPr algn="ctr"/>
              <a:r>
                <a:rPr sz="800">
                  <a:solidFill>
                    <a:srgbClr val="5B6675"/>
                  </a:solidFill>
                </a:rPr>
                <a:t>15 segments (Split)</a:t>
              </a:r>
            </a:p>
          </p:txBody>
        </p:sp>
        <p:sp>
          <p:nvSpPr>
            <p:cNvPr id="14" name="Right Arrow 26"/>
            <p:cNvSpPr/>
            <p:nvPr/>
          </p:nvSpPr>
          <p:spPr>
            <a:xfrm>
              <a:off x="4479843" y="2620126"/>
              <a:ext cx="173736" cy="182880"/>
            </a:xfrm>
            <a:prstGeom prst="rightArrow">
              <a:avLst/>
            </a:prstGeom>
            <a:solidFill>
              <a:srgbClr val="F68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27"/>
            <p:cNvSpPr/>
            <p:nvPr/>
          </p:nvSpPr>
          <p:spPr>
            <a:xfrm>
              <a:off x="4666711" y="2185786"/>
              <a:ext cx="1195789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/>
            <a:lstStyle/>
            <a:p>
              <a:pPr algn="ctr"/>
              <a:r>
                <a:rPr sz="1100" b="1">
                  <a:solidFill>
                    <a:srgbClr val="222A35"/>
                  </a:solidFill>
                </a:rPr>
                <a:t>Rig </a:t>
              </a:r>
              <a:r>
                <a:rPr lang="en-US" sz="1100" b="1">
                  <a:solidFill>
                    <a:srgbClr val="222A35"/>
                  </a:solidFill>
                </a:rPr>
                <a:t>20</a:t>
              </a:r>
              <a:r>
                <a:rPr sz="1100" b="1">
                  <a:solidFill>
                    <a:srgbClr val="222A35"/>
                  </a:solidFill>
                </a:rPr>
                <a:t> DDL</a:t>
              </a:r>
            </a:p>
            <a:p>
              <a:pPr algn="ctr"/>
              <a:r>
                <a:rPr sz="800" err="1">
                  <a:solidFill>
                    <a:srgbClr val="5B6675"/>
                  </a:solidFill>
                </a:rPr>
                <a:t>repères</a:t>
              </a:r>
              <a:r>
                <a:rPr sz="800">
                  <a:solidFill>
                    <a:srgbClr val="5B6675"/>
                  </a:solidFill>
                </a:rPr>
                <a:t> </a:t>
              </a:r>
              <a:r>
                <a:rPr sz="800" err="1">
                  <a:solidFill>
                    <a:srgbClr val="5B6675"/>
                  </a:solidFill>
                </a:rPr>
                <a:t>imbriqués</a:t>
              </a:r>
              <a:endParaRPr sz="800" err="1">
                <a:solidFill>
                  <a:srgbClr val="5B6675"/>
                </a:solidFill>
                <a:ea typeface="Source Sans Pro"/>
              </a:endParaRPr>
            </a:p>
          </p:txBody>
        </p:sp>
        <p:sp>
          <p:nvSpPr>
            <p:cNvPr id="16" name="Right Arrow 28"/>
            <p:cNvSpPr/>
            <p:nvPr/>
          </p:nvSpPr>
          <p:spPr>
            <a:xfrm>
              <a:off x="5875632" y="2620126"/>
              <a:ext cx="173736" cy="182880"/>
            </a:xfrm>
            <a:prstGeom prst="rightArrow">
              <a:avLst/>
            </a:prstGeom>
            <a:solidFill>
              <a:srgbClr val="F68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29"/>
            <p:cNvSpPr/>
            <p:nvPr/>
          </p:nvSpPr>
          <p:spPr>
            <a:xfrm>
              <a:off x="6062500" y="2185786"/>
              <a:ext cx="1195789" cy="10515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94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100" b="1">
                  <a:solidFill>
                    <a:srgbClr val="222A35"/>
                  </a:solidFill>
                </a:rPr>
                <a:t>Génération</a:t>
              </a:r>
            </a:p>
            <a:p>
              <a:pPr algn="ctr"/>
              <a:r>
                <a:rPr sz="800">
                  <a:solidFill>
                    <a:srgbClr val="5B6675"/>
                  </a:solidFill>
                </a:rPr>
                <a:t>marches, manip.</a:t>
              </a:r>
            </a:p>
          </p:txBody>
        </p:sp>
        <p:sp>
          <p:nvSpPr>
            <p:cNvPr id="18" name="Right Arrow 30"/>
            <p:cNvSpPr/>
            <p:nvPr/>
          </p:nvSpPr>
          <p:spPr>
            <a:xfrm>
              <a:off x="7271421" y="2620126"/>
              <a:ext cx="173736" cy="182880"/>
            </a:xfrm>
            <a:prstGeom prst="rightArrow">
              <a:avLst/>
            </a:prstGeom>
            <a:solidFill>
              <a:srgbClr val="F68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EA840552-9E73-A8DA-0EEF-BC07DFFD63C0}"/>
                </a:ext>
              </a:extLst>
            </p:cNvPr>
            <p:cNvSpPr txBox="1"/>
            <p:nvPr/>
          </p:nvSpPr>
          <p:spPr>
            <a:xfrm>
              <a:off x="2686749" y="3363838"/>
              <a:ext cx="3931920" cy="25391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050" i="1">
                  <a:solidFill>
                    <a:srgbClr val="5B6675"/>
                  </a:solidFill>
                  <a:latin typeface="Source Sans Pro"/>
                </a:rPr>
                <a:t>Figure 3 : Démarche de </a:t>
              </a:r>
              <a:r>
                <a:rPr lang="en-US" sz="1050" i="1" err="1">
                  <a:solidFill>
                    <a:srgbClr val="5B6675"/>
                  </a:solidFill>
                  <a:latin typeface="Source Sans Pro"/>
                </a:rPr>
                <a:t>développement</a:t>
              </a:r>
              <a:endParaRPr lang="en-US" sz="1050" err="1">
                <a:solidFill>
                  <a:srgbClr val="5B6675"/>
                </a:solidFill>
                <a:latin typeface="Source Sans Pro"/>
                <a:ea typeface="Source Sans Pro"/>
              </a:endParaRPr>
            </a:p>
          </p:txBody>
        </p:sp>
      </p:grp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A0C7F50C-BD15-C2F0-D8EE-936259CC1C41}"/>
              </a:ext>
            </a:extLst>
          </p:cNvPr>
          <p:cNvSpPr/>
          <p:nvPr/>
        </p:nvSpPr>
        <p:spPr>
          <a:xfrm>
            <a:off x="7588763" y="2274026"/>
            <a:ext cx="119578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222A35"/>
                </a:solidFill>
              </a:rPr>
              <a:t>Trajectoire</a:t>
            </a:r>
          </a:p>
          <a:p>
            <a:pPr algn="ctr"/>
            <a:r>
              <a:rPr sz="800">
                <a:solidFill>
                  <a:srgbClr val="5B6675"/>
                </a:solidFill>
              </a:rPr>
              <a:t>courbe externe</a:t>
            </a:r>
          </a:p>
        </p:txBody>
      </p:sp>
    </p:spTree>
    <p:extLst>
      <p:ext uri="{BB962C8B-B14F-4D97-AF65-F5344CB8AC3E}">
        <p14:creationId xmlns:p14="http://schemas.microsoft.com/office/powerpoint/2010/main" val="537892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Arborescence des repères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TextBox 3"/>
          <p:cNvSpPr txBox="1"/>
          <p:nvPr/>
        </p:nvSpPr>
        <p:spPr>
          <a:xfrm>
            <a:off x="484632" y="1024128"/>
            <a:ext cx="4160520" cy="11411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</a:t>
            </a:r>
            <a:r>
              <a:rPr lang="en-US" sz="1500" b="1">
                <a:solidFill>
                  <a:srgbClr val="F45F0C"/>
                </a:solidFill>
                <a:latin typeface="Source Sans Pro"/>
              </a:rPr>
              <a:t> 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un </a:t>
            </a:r>
            <a:r>
              <a:rPr lang="fr-FR" sz="1500" b="1" err="1">
                <a:solidFill>
                  <a:srgbClr val="222A35"/>
                </a:solidFill>
                <a:latin typeface="Source Sans Pro"/>
              </a:rPr>
              <a:t>repère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 = un </a:t>
            </a:r>
            <a:r>
              <a:rPr lang="fr-FR" sz="1500" b="1" err="1">
                <a:solidFill>
                  <a:srgbClr val="222A35"/>
                </a:solidFill>
                <a:latin typeface="Source Sans Pro"/>
              </a:rPr>
              <a:t>degré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 de liberté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</a:t>
            </a:r>
            <a:endParaRPr lang="en-US"/>
          </a:p>
          <a:p>
            <a:pPr marL="246380" indent="-24638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fr-FR" sz="1500" b="0" err="1">
                <a:solidFill>
                  <a:srgbClr val="222A35"/>
                </a:solidFill>
                <a:latin typeface="Source Sans Pro"/>
              </a:rPr>
              <a:t>Hiérarchie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= </a:t>
            </a:r>
            <a:r>
              <a:rPr lang="fr-FR" sz="1500" b="1" err="1">
                <a:solidFill>
                  <a:srgbClr val="222A35"/>
                </a:solidFill>
                <a:latin typeface="Source Sans Pro"/>
              </a:rPr>
              <a:t>arbre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 </a:t>
            </a:r>
            <a:r>
              <a:rPr lang="fr-FR" sz="1500" b="1" err="1">
                <a:solidFill>
                  <a:srgbClr val="222A35"/>
                </a:solidFill>
                <a:latin typeface="Source Sans Pro"/>
              </a:rPr>
              <a:t>enraciné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 au </a:t>
            </a:r>
            <a:r>
              <a:rPr lang="fr-FR" sz="1500" b="1" err="1">
                <a:solidFill>
                  <a:srgbClr val="222A35"/>
                </a:solidFill>
                <a:latin typeface="Source Sans Pro"/>
              </a:rPr>
              <a:t>bassin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(</a:t>
            </a:r>
            <a:r>
              <a:rPr lang="fr-FR" sz="1500" b="0" err="1">
                <a:solidFill>
                  <a:srgbClr val="222A35"/>
                </a:solidFill>
                <a:latin typeface="Source Sans Pro"/>
              </a:rPr>
              <a:t>Human_Base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) : un </a:t>
            </a:r>
            <a:r>
              <a:rPr lang="fr-FR" sz="1500" b="0" err="1">
                <a:solidFill>
                  <a:srgbClr val="222A35"/>
                </a:solidFill>
                <a:latin typeface="Source Sans Pro"/>
              </a:rPr>
              <a:t>repère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qui </a:t>
            </a:r>
            <a:r>
              <a:rPr lang="fr-FR" sz="1500" b="0" err="1">
                <a:solidFill>
                  <a:srgbClr val="222A35"/>
                </a:solidFill>
                <a:latin typeface="Source Sans Pro"/>
              </a:rPr>
              <a:t>tourne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fr-FR" sz="1500" b="0" err="1">
                <a:solidFill>
                  <a:srgbClr val="222A35"/>
                </a:solidFill>
                <a:latin typeface="Source Sans Pro"/>
              </a:rPr>
              <a:t>entraîne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fr-FR" sz="1500" b="0" err="1">
                <a:solidFill>
                  <a:srgbClr val="222A35"/>
                </a:solidFill>
                <a:latin typeface="Source Sans Pro"/>
              </a:rPr>
              <a:t>tous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fr-FR" sz="1500" b="0" err="1">
                <a:solidFill>
                  <a:srgbClr val="222A35"/>
                </a:solidFill>
                <a:latin typeface="Source Sans Pro"/>
              </a:rPr>
              <a:t>ses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descendants.</a:t>
            </a:r>
            <a:endParaRPr sz="1500" b="0">
              <a:solidFill>
                <a:srgbClr val="222A35"/>
              </a:solidFill>
              <a:latin typeface="Source Sans Pro"/>
              <a:ea typeface="Source Sans Pro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4139F3B4-BF5D-B8EE-65BA-D6D6C339BAC5}"/>
              </a:ext>
            </a:extLst>
          </p:cNvPr>
          <p:cNvSpPr txBox="1"/>
          <p:nvPr/>
        </p:nvSpPr>
        <p:spPr>
          <a:xfrm>
            <a:off x="2926080" y="4078626"/>
            <a:ext cx="3429000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4: Lien parent – enfant des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repères</a:t>
            </a:r>
            <a:endParaRPr lang="en-US" sz="1050" i="1" err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  <p:pic>
        <p:nvPicPr>
          <p:cNvPr id="4" name="Picture 3" descr="A group of rectangular colored rectangles with white text&#10;&#10;AI-generated content may be incorrect.">
            <a:extLst>
              <a:ext uri="{FF2B5EF4-FFF2-40B4-BE49-F238E27FC236}">
                <a16:creationId xmlns:a16="http://schemas.microsoft.com/office/drawing/2014/main" id="{1E8716E9-34EA-EB2E-387B-076E198CF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74" y="2447245"/>
            <a:ext cx="78200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5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457200" y="502920"/>
            <a:ext cx="36576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0" b="1">
                <a:solidFill>
                  <a:schemeClr val="bg2"/>
                </a:solidFill>
                <a:latin typeface="Source Sans Pro"/>
              </a:rPr>
              <a:t>04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4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/>
          <p:cNvSpPr txBox="1"/>
          <p:nvPr/>
        </p:nvSpPr>
        <p:spPr>
          <a:xfrm>
            <a:off x="777240" y="2560320"/>
            <a:ext cx="7680960" cy="8782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Développement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500">
                <a:solidFill>
                  <a:srgbClr val="ADB4BD"/>
                </a:solidFill>
                <a:latin typeface="Source Sans Pro"/>
              </a:rPr>
              <a:t>Locomotion</a:t>
            </a:r>
            <a:r>
              <a:rPr sz="1500" b="0">
                <a:solidFill>
                  <a:srgbClr val="ADB4BD"/>
                </a:solidFill>
                <a:latin typeface="Source Sans Pro"/>
              </a:rPr>
              <a:t> &amp; manipulation</a:t>
            </a:r>
          </a:p>
        </p:txBody>
      </p:sp>
    </p:spTree>
    <p:extLst>
      <p:ext uri="{BB962C8B-B14F-4D97-AF65-F5344CB8AC3E}">
        <p14:creationId xmlns:p14="http://schemas.microsoft.com/office/powerpoint/2010/main" val="1242241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Principe d’animation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7" name="TextBox 3"/>
          <p:cNvSpPr txBox="1"/>
          <p:nvPr/>
        </p:nvSpPr>
        <p:spPr>
          <a:xfrm>
            <a:off x="484632" y="1813342"/>
            <a:ext cx="4572000" cy="13831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lang="en-US" sz="1600" b="1">
                <a:solidFill>
                  <a:srgbClr val="F45F0C"/>
                </a:solidFill>
                <a:latin typeface="Source Sans Pro"/>
              </a:rPr>
              <a:t>▸</a:t>
            </a:r>
            <a:r>
              <a:rPr lang="en-US" sz="1600" b="1">
                <a:solidFill>
                  <a:srgbClr val="222A35"/>
                </a:solidFill>
                <a:latin typeface="Source Sans Pro"/>
              </a:rPr>
              <a:t> Pose de repos</a:t>
            </a:r>
            <a:r>
              <a:rPr lang="en-US" sz="1600" b="0">
                <a:solidFill>
                  <a:srgbClr val="222A35"/>
                </a:solidFill>
                <a:latin typeface="Source Sans Pro"/>
              </a:rPr>
              <a:t> (garde-à-vous) de chaque repère.</a:t>
            </a:r>
            <a:endParaRPr lang="en-US" sz="1600"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lang="en-US" sz="16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en-US" sz="1600" b="1">
                <a:solidFill>
                  <a:srgbClr val="222A35"/>
                </a:solidFill>
                <a:latin typeface="Source Sans Pro"/>
              </a:rPr>
              <a:t>Choisir un DDL</a:t>
            </a:r>
            <a:endParaRPr lang="en-US" sz="1600" b="1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lang="en-US" sz="1600" b="1">
                <a:solidFill>
                  <a:srgbClr val="F45F0C"/>
                </a:solidFill>
                <a:latin typeface="Source Sans Pro"/>
              </a:rPr>
              <a:t>▸ </a:t>
            </a:r>
            <a:r>
              <a:rPr lang="en-US" sz="1600" b="1">
                <a:solidFill>
                  <a:srgbClr val="222A35"/>
                </a:solidFill>
                <a:latin typeface="Source Sans Pro"/>
              </a:rPr>
              <a:t>Appliquer </a:t>
            </a:r>
            <a:r>
              <a:rPr lang="en-US" sz="1600" b="1" err="1">
                <a:solidFill>
                  <a:srgbClr val="222A35"/>
                </a:solidFill>
                <a:latin typeface="Source Sans Pro"/>
              </a:rPr>
              <a:t>une</a:t>
            </a:r>
            <a:r>
              <a:rPr lang="en-US" sz="1600" b="1">
                <a:solidFill>
                  <a:srgbClr val="222A35"/>
                </a:solidFill>
                <a:latin typeface="Source Sans Pro"/>
              </a:rPr>
              <a:t> rotation</a:t>
            </a:r>
            <a:endParaRPr lang="en-US" sz="1600" b="1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lang="en-US" sz="1600" b="1">
                <a:solidFill>
                  <a:srgbClr val="F45F0C"/>
                </a:solidFill>
                <a:latin typeface="Source Sans Pro"/>
                <a:ea typeface="Source Sans Pro"/>
              </a:rPr>
              <a:t>▸</a:t>
            </a:r>
            <a:r>
              <a:rPr lang="en-US" sz="1600" b="1" err="1">
                <a:solidFill>
                  <a:srgbClr val="222A35"/>
                </a:solidFill>
                <a:latin typeface="Source Sans Pro"/>
                <a:ea typeface="Source Sans Pro"/>
              </a:rPr>
              <a:t>Afficher</a:t>
            </a:r>
            <a:r>
              <a:rPr lang="en-US" sz="1600" b="1">
                <a:solidFill>
                  <a:srgbClr val="222A35"/>
                </a:solidFill>
                <a:latin typeface="Source Sans Pro"/>
                <a:ea typeface="Source Sans Pro"/>
              </a:rPr>
              <a:t> </a:t>
            </a:r>
            <a:r>
              <a:rPr lang="en-US" sz="1600" b="1">
                <a:solidFill>
                  <a:srgbClr val="222A35"/>
                </a:solidFill>
                <a:ea typeface="+mn-lt"/>
                <a:cs typeface="+mn-lt"/>
              </a:rPr>
              <a:t>→ image </a:t>
            </a:r>
            <a:r>
              <a:rPr lang="en-US" sz="1600" b="1" err="1">
                <a:solidFill>
                  <a:srgbClr val="222A35"/>
                </a:solidFill>
                <a:ea typeface="+mn-lt"/>
                <a:cs typeface="+mn-lt"/>
              </a:rPr>
              <a:t>suivante</a:t>
            </a:r>
            <a:endParaRPr lang="en-US" sz="1600" b="1" err="1">
              <a:ea typeface="Source Sans Pro"/>
            </a:endParaRPr>
          </a:p>
        </p:txBody>
      </p:sp>
      <p:pic>
        <p:nvPicPr>
          <p:cNvPr id="8" name="Picture 5" descr="gav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799" y="1099080"/>
            <a:ext cx="3313611" cy="1477945"/>
          </a:xfrm>
          <a:prstGeom prst="rect">
            <a:avLst/>
          </a:prstGeom>
        </p:spPr>
      </p:pic>
      <p:pic>
        <p:nvPicPr>
          <p:cNvPr id="9" name="Picture 7" descr="gav_s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774" y="2693837"/>
            <a:ext cx="3313611" cy="1477944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257800" y="4291366"/>
            <a:ext cx="3429000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5 : Pose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de repos 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- 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référence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de </a:t>
            </a:r>
            <a:r>
              <a:rPr sz="1050" i="1" err="1">
                <a:solidFill>
                  <a:srgbClr val="5B6675"/>
                </a:solidFill>
                <a:latin typeface="Source Sans Pro"/>
              </a:rPr>
              <a:t>toutes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les animations</a:t>
            </a:r>
          </a:p>
        </p:txBody>
      </p:sp>
    </p:spTree>
    <p:extLst>
      <p:ext uri="{BB962C8B-B14F-4D97-AF65-F5344CB8AC3E}">
        <p14:creationId xmlns:p14="http://schemas.microsoft.com/office/powerpoint/2010/main" val="2812434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Locomotion – membres inférieurs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TextBox 3"/>
          <p:cNvSpPr txBox="1"/>
          <p:nvPr/>
        </p:nvSpPr>
        <p:spPr>
          <a:xfrm>
            <a:off x="484632" y="914400"/>
            <a:ext cx="818387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0">
                <a:solidFill>
                  <a:srgbClr val="222A35"/>
                </a:solidFill>
                <a:latin typeface="Source Sans Pro"/>
              </a:rPr>
              <a:t>Trois marches, de la plus </a:t>
            </a:r>
            <a:r>
              <a:rPr lang="en-US" sz="1600">
                <a:solidFill>
                  <a:srgbClr val="222A35"/>
                </a:solidFill>
                <a:latin typeface="Source Sans Pro"/>
              </a:rPr>
              <a:t>simple à</a:t>
            </a:r>
            <a:r>
              <a:rPr lang="en-US" sz="1600" b="0">
                <a:solidFill>
                  <a:srgbClr val="222A35"/>
                </a:solidFill>
                <a:latin typeface="Source Sans Pro"/>
              </a:rPr>
              <a:t> la plus libre :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597987"/>
            <a:ext cx="2688336" cy="1238864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5" descr="marche_milit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34563"/>
            <a:ext cx="2615184" cy="1165712"/>
          </a:xfrm>
          <a:prstGeom prst="rect">
            <a:avLst/>
          </a:prstGeom>
        </p:spPr>
      </p:pic>
      <p:sp>
        <p:nvSpPr>
          <p:cNvPr id="10" name="TextBox 6"/>
          <p:cNvSpPr txBox="1"/>
          <p:nvPr/>
        </p:nvSpPr>
        <p:spPr>
          <a:xfrm>
            <a:off x="484632" y="3108960"/>
            <a:ext cx="2615184" cy="1001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>
                <a:solidFill>
                  <a:srgbClr val="F45F0C"/>
                </a:solidFill>
                <a:latin typeface="Source Sans Pro"/>
              </a:rPr>
              <a:t>Marche militaire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lang="en-US" sz="1400" b="0">
                <a:solidFill>
                  <a:srgbClr val="222A35"/>
                </a:solidFill>
                <a:latin typeface="Source Sans Pro"/>
              </a:rPr>
              <a:t>Sur place, cycle sinusoïdal. Jambe d'appui tendue, bras en opposition.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597987"/>
            <a:ext cx="2688336" cy="1238864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9"/>
          <p:cNvSpPr txBox="1"/>
          <p:nvPr/>
        </p:nvSpPr>
        <p:spPr>
          <a:xfrm>
            <a:off x="3264408" y="3108960"/>
            <a:ext cx="2598856" cy="12254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600" b="1">
                <a:solidFill>
                  <a:srgbClr val="F45F0C"/>
                </a:solidFill>
                <a:latin typeface="Source Sans Pro"/>
              </a:rPr>
              <a:t>Marche avant naturelle</a:t>
            </a:r>
          </a:p>
          <a:p>
            <a:pPr>
              <a:lnSpc>
                <a:spcPct val="104000"/>
              </a:lnSpc>
            </a:pPr>
            <a:r>
              <a:rPr lang="en-US" sz="1400" b="0" err="1">
                <a:solidFill>
                  <a:srgbClr val="222A35"/>
                </a:solidFill>
                <a:latin typeface="Source Sans Pro"/>
              </a:rPr>
              <a:t>Balancier</a:t>
            </a:r>
            <a:r>
              <a:rPr lang="en-US" sz="1400" b="0">
                <a:solidFill>
                  <a:srgbClr val="222A35"/>
                </a:solidFill>
                <a:latin typeface="Source Sans Pro"/>
              </a:rPr>
              <a:t> de </a:t>
            </a:r>
            <a:r>
              <a:rPr lang="en-US" sz="1400" b="0" err="1">
                <a:solidFill>
                  <a:srgbClr val="222A35"/>
                </a:solidFill>
                <a:latin typeface="Source Sans Pro"/>
              </a:rPr>
              <a:t>hanche</a:t>
            </a:r>
            <a:r>
              <a:rPr lang="en-US" sz="140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00" b="0" err="1">
                <a:solidFill>
                  <a:srgbClr val="222A35"/>
                </a:solidFill>
                <a:latin typeface="Source Sans Pro"/>
              </a:rPr>
              <a:t>asymétrique</a:t>
            </a:r>
            <a:r>
              <a:rPr lang="en-US" sz="1400" b="0">
                <a:solidFill>
                  <a:srgbClr val="222A35"/>
                </a:solidFill>
                <a:latin typeface="Source Sans Pro"/>
              </a:rPr>
              <a:t>.</a:t>
            </a:r>
            <a:endParaRPr lang="en-US" sz="1400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lang="en-US" sz="1400" b="0">
                <a:solidFill>
                  <a:srgbClr val="222A35"/>
                </a:solidFill>
                <a:latin typeface="Source Sans Pro"/>
              </a:rPr>
              <a:t>Anti-</a:t>
            </a:r>
            <a:r>
              <a:rPr lang="en-US" sz="1400" b="0" err="1">
                <a:solidFill>
                  <a:srgbClr val="222A35"/>
                </a:solidFill>
                <a:latin typeface="Source Sans Pro"/>
              </a:rPr>
              <a:t>glissement</a:t>
            </a:r>
            <a:r>
              <a:rPr lang="en-US" sz="1400" b="0">
                <a:solidFill>
                  <a:srgbClr val="222A35"/>
                </a:solidFill>
                <a:latin typeface="Source Sans Pro"/>
              </a:rPr>
              <a:t> : le corps </a:t>
            </a:r>
            <a:r>
              <a:rPr lang="en-US" sz="1400" b="0" err="1">
                <a:solidFill>
                  <a:srgbClr val="222A35"/>
                </a:solidFill>
                <a:latin typeface="Source Sans Pro"/>
              </a:rPr>
              <a:t>avance</a:t>
            </a:r>
            <a:r>
              <a:rPr lang="en-US" sz="1400" b="0">
                <a:solidFill>
                  <a:srgbClr val="222A35"/>
                </a:solidFill>
                <a:latin typeface="Source Sans Pro"/>
              </a:rPr>
              <a:t> à la </a:t>
            </a:r>
            <a:r>
              <a:rPr lang="en-US" sz="1400" b="0" err="1">
                <a:solidFill>
                  <a:srgbClr val="222A35"/>
                </a:solidFill>
                <a:latin typeface="Source Sans Pro"/>
              </a:rPr>
              <a:t>vitesse</a:t>
            </a:r>
            <a:r>
              <a:rPr lang="en-US" sz="1400" b="0">
                <a:solidFill>
                  <a:srgbClr val="222A35"/>
                </a:solidFill>
                <a:latin typeface="Source Sans Pro"/>
              </a:rPr>
              <a:t> des pas.</a:t>
            </a:r>
            <a:endParaRPr lang="en-US">
              <a:ea typeface="Source Sans Pr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07608" y="1597987"/>
            <a:ext cx="2688336" cy="1238864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2"/>
          <p:cNvSpPr txBox="1"/>
          <p:nvPr/>
        </p:nvSpPr>
        <p:spPr>
          <a:xfrm>
            <a:off x="6044184" y="3108960"/>
            <a:ext cx="2615184" cy="5533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600" b="1" err="1">
                <a:solidFill>
                  <a:srgbClr val="F45F0C"/>
                </a:solidFill>
                <a:latin typeface="Source Sans Pro"/>
              </a:rPr>
              <a:t>Trajectoire</a:t>
            </a:r>
            <a:r>
              <a:rPr lang="en-US" sz="1600" b="1">
                <a:solidFill>
                  <a:srgbClr val="F45F0C"/>
                </a:solidFill>
                <a:latin typeface="Source Sans Pro"/>
              </a:rPr>
              <a:t> externe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lang="en-US" sz="1400" b="0">
                <a:solidFill>
                  <a:srgbClr val="222A35"/>
                </a:solidFill>
                <a:latin typeface="Source Sans Pro"/>
              </a:rPr>
              <a:t>Points dans un </a:t>
            </a:r>
            <a:r>
              <a:rPr lang="en-US" sz="1400" b="0" err="1">
                <a:solidFill>
                  <a:srgbClr val="222A35"/>
                </a:solidFill>
                <a:latin typeface="Source Sans Pro"/>
              </a:rPr>
              <a:t>fichier</a:t>
            </a:r>
            <a:r>
              <a:rPr lang="en-US" sz="1400" b="0">
                <a:solidFill>
                  <a:srgbClr val="222A35"/>
                </a:solidFill>
                <a:latin typeface="Source Sans Pro"/>
              </a:rPr>
              <a:t> JSON </a:t>
            </a:r>
            <a:endParaRPr lang="en-US" sz="1400" b="0">
              <a:solidFill>
                <a:srgbClr val="222A35"/>
              </a:solidFill>
              <a:latin typeface="Source Sans Pro"/>
              <a:ea typeface="Source Sans Pro"/>
            </a:endParaRPr>
          </a:p>
        </p:txBody>
      </p:sp>
      <p:pic>
        <p:nvPicPr>
          <p:cNvPr id="15" name="Picture 16" descr="A white human body with a blue background&#10;&#10;AI-generated content may be incorrect.">
            <a:extLst>
              <a:ext uri="{FF2B5EF4-FFF2-40B4-BE49-F238E27FC236}">
                <a16:creationId xmlns:a16="http://schemas.microsoft.com/office/drawing/2014/main" id="{060E8F4E-5A8E-2459-DBA5-F81A6B6E2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271" y="1622363"/>
            <a:ext cx="2623458" cy="1191205"/>
          </a:xfrm>
          <a:prstGeom prst="rect">
            <a:avLst/>
          </a:prstGeom>
        </p:spPr>
      </p:pic>
      <p:pic>
        <p:nvPicPr>
          <p:cNvPr id="16" name="Picture 8" descr="A 3d model of a person&#10;&#10;AI-generated content may be incorrect.">
            <a:extLst>
              <a:ext uri="{FF2B5EF4-FFF2-40B4-BE49-F238E27FC236}">
                <a16:creationId xmlns:a16="http://schemas.microsoft.com/office/drawing/2014/main" id="{158A9D42-476A-9083-D84A-84B771B4C9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70" t="-235" r="14451" b="17773"/>
          <a:stretch>
            <a:fillRect/>
          </a:stretch>
        </p:blipFill>
        <p:spPr>
          <a:xfrm>
            <a:off x="6027015" y="1623856"/>
            <a:ext cx="2659331" cy="1189653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5AE69955-E4A3-B6E6-438D-B2C57FC7E349}"/>
              </a:ext>
            </a:extLst>
          </p:cNvPr>
          <p:cNvSpPr txBox="1"/>
          <p:nvPr/>
        </p:nvSpPr>
        <p:spPr>
          <a:xfrm>
            <a:off x="941614" y="2854451"/>
            <a:ext cx="1698173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6</a:t>
            </a:r>
            <a:endParaRPr lang="en-US" sz="1050" i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71F38ED9-23B3-A406-CDB4-47A6671AC9A3}"/>
              </a:ext>
            </a:extLst>
          </p:cNvPr>
          <p:cNvSpPr txBox="1"/>
          <p:nvPr/>
        </p:nvSpPr>
        <p:spPr>
          <a:xfrm>
            <a:off x="3722914" y="2854450"/>
            <a:ext cx="1698173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7</a:t>
            </a:r>
            <a:endParaRPr lang="en-US" sz="1050" i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416ECF9-2820-1613-8ACD-EF365D9E72C8}"/>
              </a:ext>
            </a:extLst>
          </p:cNvPr>
          <p:cNvSpPr txBox="1"/>
          <p:nvPr/>
        </p:nvSpPr>
        <p:spPr>
          <a:xfrm>
            <a:off x="6602185" y="2854450"/>
            <a:ext cx="1698173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8</a:t>
            </a:r>
            <a:endParaRPr lang="en-US" sz="1050" i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2125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Manipulation – tâche du bras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7" name="TextBox 3"/>
          <p:cNvSpPr txBox="1"/>
          <p:nvPr/>
        </p:nvSpPr>
        <p:spPr>
          <a:xfrm>
            <a:off x="484632" y="1024128"/>
            <a:ext cx="4526280" cy="30185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46380" indent="-24638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Pick &amp; place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: le bras gauche (6 DDL)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saisit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un cube, le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déplace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et le repose.</a:t>
            </a:r>
            <a:endParaRPr lang="en-US"/>
          </a:p>
          <a:p>
            <a:pPr marL="246380" indent="-24638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Cinématique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 inverse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à 6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contraintes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(position + orientation),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résolue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par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moindres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carrés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amortis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(DLS).</a:t>
            </a:r>
            <a:endParaRPr lang="fr-FR" sz="1450" b="0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Tâche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posturale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secondaire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: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coude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en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 arrière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(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geste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humain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), jamais vers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l'avant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.</a:t>
            </a:r>
            <a:endParaRPr lang="fr-FR" sz="1450" b="0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Trajectoire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précalculée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(IK aux poses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clés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) →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geste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fluide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~7 s.</a:t>
            </a:r>
            <a:endParaRPr lang="fr-FR" sz="1450" b="0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Position de la pièce </a:t>
            </a:r>
            <a:r>
              <a:rPr lang="en-US" sz="1450" b="1" err="1">
                <a:solidFill>
                  <a:srgbClr val="222A35"/>
                </a:solidFill>
                <a:latin typeface="Source Sans Pro"/>
              </a:rPr>
              <a:t>externalisée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: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paramètre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du </a:t>
            </a:r>
            <a:r>
              <a:rPr lang="en-US" sz="1450" b="0" err="1">
                <a:solidFill>
                  <a:srgbClr val="222A35"/>
                </a:solidFill>
                <a:latin typeface="Source Sans Pro"/>
              </a:rPr>
              <a:t>scénario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.</a:t>
            </a:r>
            <a:endParaRPr lang="fr-FR" sz="1450" b="0">
              <a:solidFill>
                <a:srgbClr val="222A35"/>
              </a:solidFill>
              <a:latin typeface="Source Sans Pro"/>
              <a:ea typeface="Source Sans Pro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5098869" y="236198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Approche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00237" y="236198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Saisie</a:t>
            </a:r>
          </a:p>
        </p:txBody>
      </p:sp>
      <p:sp>
        <p:nvSpPr>
          <p:cNvPr id="10" name="TextBox 12"/>
          <p:cNvSpPr txBox="1"/>
          <p:nvPr/>
        </p:nvSpPr>
        <p:spPr>
          <a:xfrm>
            <a:off x="5098869" y="423955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Transit</a:t>
            </a:r>
          </a:p>
        </p:txBody>
      </p:sp>
      <p:sp>
        <p:nvSpPr>
          <p:cNvPr id="11" name="TextBox 15"/>
          <p:cNvSpPr txBox="1"/>
          <p:nvPr/>
        </p:nvSpPr>
        <p:spPr>
          <a:xfrm>
            <a:off x="6900237" y="423955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Dépose</a:t>
            </a:r>
          </a:p>
        </p:txBody>
      </p:sp>
      <p:pic>
        <p:nvPicPr>
          <p:cNvPr id="12" name="Picture 19" descr="A white human figure standing behind a table&#10;&#10;AI-generated content may be incorrect.">
            <a:extLst>
              <a:ext uri="{FF2B5EF4-FFF2-40B4-BE49-F238E27FC236}">
                <a16:creationId xmlns:a16="http://schemas.microsoft.com/office/drawing/2014/main" id="{A3B661B6-FB6D-C500-56CB-B313090CEF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16" t="7018" r="34658" b="15359"/>
          <a:stretch>
            <a:fillRect/>
          </a:stretch>
        </p:blipFill>
        <p:spPr>
          <a:xfrm>
            <a:off x="5366658" y="972910"/>
            <a:ext cx="1161453" cy="1355234"/>
          </a:xfrm>
          <a:prstGeom prst="rect">
            <a:avLst/>
          </a:prstGeom>
        </p:spPr>
      </p:pic>
      <p:pic>
        <p:nvPicPr>
          <p:cNvPr id="13" name="Picture 20" descr="A white human with a mouse on a table&#10;&#10;AI-generated content may be incorrect.">
            <a:extLst>
              <a:ext uri="{FF2B5EF4-FFF2-40B4-BE49-F238E27FC236}">
                <a16:creationId xmlns:a16="http://schemas.microsoft.com/office/drawing/2014/main" id="{50B43650-749C-3DAD-A4AE-05F5E79CF5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39" t="6256" r="37315" b="12023"/>
          <a:stretch>
            <a:fillRect/>
          </a:stretch>
        </p:blipFill>
        <p:spPr>
          <a:xfrm>
            <a:off x="7249885" y="849191"/>
            <a:ext cx="1021767" cy="1528181"/>
          </a:xfrm>
          <a:prstGeom prst="rect">
            <a:avLst/>
          </a:prstGeom>
        </p:spPr>
      </p:pic>
      <p:pic>
        <p:nvPicPr>
          <p:cNvPr id="14" name="Picture 22" descr="A white human figure sitting at a table&#10;&#10;AI-generated content may be incorrect.">
            <a:extLst>
              <a:ext uri="{FF2B5EF4-FFF2-40B4-BE49-F238E27FC236}">
                <a16:creationId xmlns:a16="http://schemas.microsoft.com/office/drawing/2014/main" id="{6C8F8E63-1A6F-3522-470C-55D2378F09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522" t="1365" r="34819" b="1244"/>
          <a:stretch>
            <a:fillRect/>
          </a:stretch>
        </p:blipFill>
        <p:spPr>
          <a:xfrm>
            <a:off x="5426529" y="2635625"/>
            <a:ext cx="1032363" cy="1586389"/>
          </a:xfrm>
          <a:prstGeom prst="rect">
            <a:avLst/>
          </a:prstGeom>
        </p:spPr>
      </p:pic>
      <p:pic>
        <p:nvPicPr>
          <p:cNvPr id="15" name="Picture 23" descr="A white human figure standing at a table&#10;&#10;AI-generated content may be incorrect.">
            <a:extLst>
              <a:ext uri="{FF2B5EF4-FFF2-40B4-BE49-F238E27FC236}">
                <a16:creationId xmlns:a16="http://schemas.microsoft.com/office/drawing/2014/main" id="{906F5947-94E5-8993-38E7-C6A7FB9ADD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033" r="35676" b="1062"/>
          <a:stretch>
            <a:fillRect/>
          </a:stretch>
        </p:blipFill>
        <p:spPr>
          <a:xfrm>
            <a:off x="7249886" y="2623297"/>
            <a:ext cx="1041139" cy="1606110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BFA24936-A7B8-8F0D-F482-88BFCE88D4D4}"/>
              </a:ext>
            </a:extLst>
          </p:cNvPr>
          <p:cNvSpPr txBox="1"/>
          <p:nvPr/>
        </p:nvSpPr>
        <p:spPr>
          <a:xfrm>
            <a:off x="5769429" y="4405665"/>
            <a:ext cx="2100943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9: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Scénario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Tâche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 Bras</a:t>
            </a:r>
            <a:endParaRPr lang="en-US" sz="1050" i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814733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457200" y="502920"/>
            <a:ext cx="36576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0" b="1">
                <a:solidFill>
                  <a:schemeClr val="bg2"/>
                </a:solidFill>
                <a:latin typeface="Source Sans Pro"/>
              </a:rPr>
              <a:t>05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5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/>
          <p:cNvSpPr txBox="1"/>
          <p:nvPr/>
        </p:nvSpPr>
        <p:spPr>
          <a:xfrm>
            <a:off x="777240" y="2560320"/>
            <a:ext cx="7680960" cy="11206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Tests &amp; </a:t>
            </a:r>
            <a:r>
              <a:rPr sz="3600" b="1" err="1">
                <a:solidFill>
                  <a:srgbClr val="FFFFFF"/>
                </a:solidFill>
                <a:latin typeface="Source Sans Pro"/>
              </a:rPr>
              <a:t>résultats</a:t>
            </a:r>
            <a:endParaRPr lang="en-US" sz="3600" b="1" err="1">
              <a:solidFill>
                <a:srgbClr val="FFFFFF"/>
              </a:solidFill>
              <a:latin typeface="Source Sans Pro"/>
              <a:ea typeface="Source Sans Pro"/>
            </a:endParaRPr>
          </a:p>
          <a:p>
            <a:pPr>
              <a:lnSpc>
                <a:spcPct val="105000"/>
              </a:lnSpc>
            </a:pPr>
            <a:r>
              <a:rPr lang="en-US" sz="1500" err="1">
                <a:solidFill>
                  <a:srgbClr val="ADB4BD"/>
                </a:solidFill>
                <a:latin typeface="Source Sans Pro"/>
              </a:rPr>
              <a:t>Problèmes</a:t>
            </a:r>
            <a:r>
              <a:rPr lang="en-US" sz="1500">
                <a:solidFill>
                  <a:srgbClr val="ADB4BD"/>
                </a:solidFill>
                <a:latin typeface="Source Sans Pro"/>
              </a:rPr>
              <a:t>, </a:t>
            </a:r>
            <a:r>
              <a:rPr lang="en-US" sz="1500" err="1">
                <a:solidFill>
                  <a:srgbClr val="ADB4BD"/>
                </a:solidFill>
                <a:latin typeface="Source Sans Pro"/>
              </a:rPr>
              <a:t>synthèses</a:t>
            </a:r>
            <a:r>
              <a:rPr lang="en-US" sz="1500">
                <a:solidFill>
                  <a:srgbClr val="ADB4BD"/>
                </a:solidFill>
                <a:latin typeface="Source Sans Pro"/>
              </a:rPr>
              <a:t> et solutions</a:t>
            </a:r>
            <a:endParaRPr lang="en-US" sz="1500">
              <a:solidFill>
                <a:srgbClr val="ADB4BD"/>
              </a:solidFill>
              <a:latin typeface="Source Sans Pro"/>
              <a:ea typeface="Source Sans Pro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endParaRPr sz="1500" b="0">
              <a:solidFill>
                <a:srgbClr val="ADB4BD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347595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Problèmes rencontrés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TextBox 3"/>
          <p:cNvSpPr txBox="1"/>
          <p:nvPr/>
        </p:nvSpPr>
        <p:spPr>
          <a:xfrm>
            <a:off x="484632" y="1584742"/>
            <a:ext cx="5074920" cy="22756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Mannequin « 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éclaté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 » à la 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réouverture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solution</a:t>
            </a:r>
            <a:r>
              <a:rPr lang="en-US" sz="13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script python </a:t>
            </a:r>
            <a:r>
              <a:rPr lang="en-US" sz="1350" i="1" err="1">
                <a:solidFill>
                  <a:srgbClr val="222A35"/>
                </a:solidFill>
                <a:latin typeface="Source Sans Pro"/>
              </a:rPr>
              <a:t>reattachement</a:t>
            </a:r>
            <a:r>
              <a:rPr sz="1350" i="1">
                <a:solidFill>
                  <a:srgbClr val="222A35"/>
                </a:solidFill>
                <a:latin typeface="Source Sans Pro"/>
              </a:rPr>
              <a:t> (~2 s</a:t>
            </a:r>
            <a:r>
              <a:rPr lang="en-US" sz="1350" i="1">
                <a:solidFill>
                  <a:srgbClr val="222A35"/>
                </a:solidFill>
                <a:latin typeface="Source Sans Pro"/>
              </a:rPr>
              <a:t>)</a:t>
            </a:r>
            <a:endParaRPr lang="en-US" sz="1350" i="1"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</a:t>
            </a:r>
            <a:r>
              <a:rPr lang="en-US" sz="1350" b="1" err="1">
                <a:solidFill>
                  <a:srgbClr val="222A35"/>
                </a:solidFill>
                <a:latin typeface="Source Sans Pro"/>
              </a:rPr>
              <a:t>Cohérence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350" b="1" err="1">
                <a:solidFill>
                  <a:srgbClr val="222A35"/>
                </a:solidFill>
                <a:latin typeface="Source Sans Pro"/>
              </a:rPr>
              <a:t>antropomethrique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: </a:t>
            </a:r>
            <a:r>
              <a:rPr lang="en-US" sz="1350" err="1">
                <a:solidFill>
                  <a:srgbClr val="222A35"/>
                </a:solidFill>
                <a:latin typeface="Source Sans Pro"/>
              </a:rPr>
              <a:t>butées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 pour les </a:t>
            </a:r>
            <a:r>
              <a:rPr lang="en-US" sz="1350" err="1">
                <a:solidFill>
                  <a:srgbClr val="222A35"/>
                </a:solidFill>
                <a:latin typeface="Source Sans Pro"/>
              </a:rPr>
              <a:t>membres</a:t>
            </a:r>
            <a:endParaRPr lang="en-US" sz="1350" err="1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Collision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 (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tâche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 bras)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Le </a:t>
            </a:r>
            <a:r>
              <a:rPr lang="en-US" sz="1350" err="1">
                <a:solidFill>
                  <a:srgbClr val="222A35"/>
                </a:solidFill>
                <a:latin typeface="Source Sans Pro"/>
              </a:rPr>
              <a:t>coude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350" err="1">
                <a:solidFill>
                  <a:srgbClr val="222A35"/>
                </a:solidFill>
                <a:latin typeface="Source Sans Pro"/>
              </a:rPr>
              <a:t>en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 collision avec le corps</a:t>
            </a:r>
            <a:endParaRPr lang="en-US" sz="1350" b="0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lang="en-US" sz="1400" b="1">
                <a:solidFill>
                  <a:srgbClr val="F45F0C"/>
                </a:solidFill>
                <a:latin typeface="Source Sans Pro"/>
                <a:ea typeface="Source Sans Pro"/>
              </a:rPr>
              <a:t>▸ </a:t>
            </a:r>
            <a:r>
              <a:rPr lang="en-US" sz="1400" b="1">
                <a:solidFill>
                  <a:srgbClr val="222A35"/>
                </a:solidFill>
                <a:latin typeface="Source Sans Pro"/>
                <a:ea typeface="Source Sans Pro"/>
              </a:rPr>
              <a:t>Manque de DDL pour le </a:t>
            </a:r>
            <a:r>
              <a:rPr lang="en-US" sz="1400" b="1" err="1">
                <a:solidFill>
                  <a:srgbClr val="222A35"/>
                </a:solidFill>
                <a:latin typeface="Source Sans Pro"/>
                <a:ea typeface="Source Sans Pro"/>
              </a:rPr>
              <a:t>poignet</a:t>
            </a:r>
            <a:endParaRPr lang="en-US" err="1">
              <a:ea typeface="Source Sans Pro"/>
            </a:endParaRPr>
          </a:p>
          <a:p>
            <a:pPr marL="246380" indent="-246380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Reproductibilité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remise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 à</a:t>
            </a:r>
            <a:r>
              <a:rPr lang="en-US" sz="13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la position </a:t>
            </a:r>
            <a:r>
              <a:rPr lang="en-US" sz="1350" err="1">
                <a:solidFill>
                  <a:srgbClr val="222A35"/>
                </a:solidFill>
                <a:latin typeface="Source Sans Pro"/>
              </a:rPr>
              <a:t>initialé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350" b="0">
                <a:solidFill>
                  <a:srgbClr val="222A35"/>
                </a:solidFill>
                <a:latin typeface="Source Sans Pro"/>
              </a:rPr>
              <a:t>avant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350" b="0">
                <a:solidFill>
                  <a:srgbClr val="222A35"/>
                </a:solidFill>
                <a:latin typeface="Source Sans Pro"/>
              </a:rPr>
              <a:t>chaque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</a:t>
            </a:r>
            <a:r>
              <a:rPr lang="en-US" sz="1350" b="0">
                <a:solidFill>
                  <a:srgbClr val="222A35"/>
                </a:solidFill>
                <a:latin typeface="Source Sans Pro"/>
              </a:rPr>
              <a:t>scénario</a:t>
            </a:r>
            <a:r>
              <a:rPr lang="en-US" sz="1350">
                <a:solidFill>
                  <a:srgbClr val="222A35"/>
                </a:solidFill>
                <a:latin typeface="Source Sans Pro"/>
              </a:rPr>
              <a:t>  (script position_0)</a:t>
            </a:r>
            <a:endParaRPr sz="1350" b="0">
              <a:solidFill>
                <a:srgbClr val="222A35"/>
              </a:solidFill>
              <a:latin typeface="Source Sans Pro"/>
              <a:ea typeface="Source Sans Pro"/>
            </a:endParaRPr>
          </a:p>
          <a:p>
            <a:pPr marL="246380" indent="-24638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Position de pièce </a:t>
            </a:r>
            <a:r>
              <a:rPr lang="en-US" sz="1350" b="1">
                <a:solidFill>
                  <a:srgbClr val="222A35"/>
                </a:solidFill>
                <a:latin typeface="Source Sans Pro"/>
              </a:rPr>
              <a:t>externalisée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</a:t>
            </a:r>
            <a:endParaRPr sz="1350" b="0">
              <a:solidFill>
                <a:srgbClr val="222A35"/>
              </a:solidFill>
              <a:latin typeface="Source Sans Pro"/>
              <a:ea typeface="Source Sans Pro"/>
            </a:endParaRPr>
          </a:p>
        </p:txBody>
      </p:sp>
      <p:pic>
        <p:nvPicPr>
          <p:cNvPr id="8" name="Picture 7" descr="knee_branche_B.png"/>
          <p:cNvPicPr>
            <a:picLocks noChangeAspect="1"/>
          </p:cNvPicPr>
          <p:nvPr/>
        </p:nvPicPr>
        <p:blipFill>
          <a:blip r:embed="rId3"/>
          <a:srcRect l="21642" t="632" r="31343" b="633"/>
          <a:stretch>
            <a:fillRect/>
          </a:stretch>
        </p:blipFill>
        <p:spPr>
          <a:xfrm>
            <a:off x="5473336" y="2604350"/>
            <a:ext cx="1601233" cy="15893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00850" y="4197749"/>
            <a:ext cx="2969622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>
                <a:solidFill>
                  <a:srgbClr val="5B6675"/>
                </a:solidFill>
                <a:latin typeface="Source Sans Pro"/>
              </a:rPr>
              <a:t>Figure 10 :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Problèmes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rencontrés</a:t>
            </a:r>
            <a:endParaRPr lang="en-US" sz="1050" i="1" err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  <p:pic>
        <p:nvPicPr>
          <p:cNvPr id="10" name="Picture 4" descr="A screenshot of a computer generated image of a human body&#10;&#10;AI-generated content may be incorrect.">
            <a:extLst>
              <a:ext uri="{FF2B5EF4-FFF2-40B4-BE49-F238E27FC236}">
                <a16:creationId xmlns:a16="http://schemas.microsoft.com/office/drawing/2014/main" id="{8907E568-3291-D820-B455-051B01EC2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399" y="2607126"/>
            <a:ext cx="1602918" cy="1583874"/>
          </a:xfrm>
          <a:prstGeom prst="rect">
            <a:avLst/>
          </a:prstGeom>
        </p:spPr>
      </p:pic>
      <p:pic>
        <p:nvPicPr>
          <p:cNvPr id="11" name="Picture 5" descr="A white human figure standing at a table&#10;&#10;AI-generated content may be incorrect.">
            <a:extLst>
              <a:ext uri="{FF2B5EF4-FFF2-40B4-BE49-F238E27FC236}">
                <a16:creationId xmlns:a16="http://schemas.microsoft.com/office/drawing/2014/main" id="{EB02FF15-E812-D342-7B2C-E15E6EADF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269" y="925287"/>
            <a:ext cx="1636275" cy="162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18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Synthèse des statuts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21</a:t>
            </a:fld>
            <a:endParaRPr lang="fr-FR"/>
          </a:p>
        </p:txBody>
      </p:sp>
      <p:graphicFrame>
        <p:nvGraphicFramePr>
          <p:cNvPr id="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513873"/>
              </p:ext>
            </p:extLst>
          </p:nvPr>
        </p:nvGraphicFramePr>
        <p:xfrm>
          <a:off x="1097280" y="771550"/>
          <a:ext cx="6949440" cy="3657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2F2"/>
                          </a:solidFill>
                          <a:latin typeface="Source Sans Pro"/>
                        </a:rPr>
                        <a:t>Point technique</a:t>
                      </a:r>
                    </a:p>
                  </a:txBody>
                  <a:tcPr marL="127000" marT="25400" marB="25400" anchor="ctr">
                    <a:solidFill>
                      <a:srgbClr val="F45F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err="1">
                          <a:solidFill>
                            <a:srgbClr val="F2F2F2"/>
                          </a:solidFill>
                          <a:latin typeface="Source Sans Pro"/>
                        </a:rPr>
                        <a:t>Statut</a:t>
                      </a:r>
                    </a:p>
                  </a:txBody>
                  <a:tcPr marL="127000" marT="25400" marB="25400" anchor="ctr">
                    <a:solidFill>
                      <a:srgbClr val="F45F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1300" err="1">
                          <a:solidFill>
                            <a:srgbClr val="222A35"/>
                          </a:solidFill>
                          <a:latin typeface="Source Sans Pro"/>
                        </a:rPr>
                        <a:t>Persistance</a:t>
                      </a:r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 du </a:t>
                      </a:r>
                      <a:r>
                        <a:rPr sz="1300" err="1">
                          <a:solidFill>
                            <a:srgbClr val="222A35"/>
                          </a:solidFill>
                          <a:latin typeface="Source Sans Pro"/>
                        </a:rPr>
                        <a:t>fichier</a:t>
                      </a:r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 .</a:t>
                      </a:r>
                      <a:r>
                        <a:rPr sz="1300" err="1">
                          <a:solidFill>
                            <a:srgbClr val="222A35"/>
                          </a:solidFill>
                          <a:latin typeface="Source Sans Pro"/>
                        </a:rPr>
                        <a:t>rdk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err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lang="en-US" sz="1300" err="1">
                          <a:solidFill>
                            <a:srgbClr val="222A35"/>
                          </a:solidFill>
                          <a:latin typeface="Source Sans Pro"/>
                        </a:rPr>
                        <a:t>Mauvaise</a:t>
                      </a:r>
                      <a:r>
                        <a:rPr lang="en-US" sz="1300">
                          <a:solidFill>
                            <a:srgbClr val="222A35"/>
                          </a:solidFill>
                          <a:latin typeface="Source Sans Pro"/>
                        </a:rPr>
                        <a:t> </a:t>
                      </a:r>
                      <a:r>
                        <a:rPr lang="en-US" sz="1300" err="1">
                          <a:solidFill>
                            <a:srgbClr val="222A35"/>
                          </a:solidFill>
                          <a:latin typeface="Source Sans Pro"/>
                        </a:rPr>
                        <a:t>pliure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err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222A35"/>
                          </a:solidFill>
                          <a:latin typeface="Source Sans Pro"/>
                        </a:rPr>
                        <a:t>Non-collision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err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Position de pièce </a:t>
                      </a:r>
                      <a:r>
                        <a:rPr sz="1300" err="1">
                          <a:solidFill>
                            <a:srgbClr val="222A35"/>
                          </a:solidFill>
                          <a:latin typeface="Source Sans Pro"/>
                        </a:rPr>
                        <a:t>externalisée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err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300">
                          <a:solidFill>
                            <a:srgbClr val="222A35"/>
                          </a:solidFill>
                          <a:latin typeface="Source Sans Pro"/>
                        </a:rPr>
                        <a:t>Marche sur place, avant</a:t>
                      </a:r>
                      <a:endParaRPr sz="1300">
                        <a:solidFill>
                          <a:srgbClr val="222A35"/>
                        </a:solidFill>
                        <a:latin typeface="Source Sans Pro"/>
                      </a:endParaRP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 b="1" i="0" u="none" strike="noStrike" noProof="0" err="1">
                          <a:solidFill>
                            <a:srgbClr val="1E9E57"/>
                          </a:solidFill>
                          <a:latin typeface="Source Sans Pro"/>
                          <a:ea typeface="Source Sans Pro"/>
                        </a:rPr>
                        <a:t>Résolu</a:t>
                      </a:r>
                      <a:endParaRPr err="1"/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84004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300">
                          <a:solidFill>
                            <a:srgbClr val="222A35"/>
                          </a:solidFill>
                          <a:latin typeface="Source Sans Pro"/>
                        </a:rPr>
                        <a:t>Suivit de trajectoire</a:t>
                      </a:r>
                      <a:endParaRPr sz="1300">
                        <a:solidFill>
                          <a:srgbClr val="222A35"/>
                        </a:solidFill>
                        <a:latin typeface="Source Sans Pro"/>
                      </a:endParaRP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 b="1" i="0" u="none" strike="noStrike" noProof="0" err="1">
                          <a:solidFill>
                            <a:srgbClr val="1E9E57"/>
                          </a:solidFill>
                          <a:latin typeface="Source Sans Pro"/>
                          <a:ea typeface="Source Sans Pro"/>
                        </a:rPr>
                        <a:t>Résolu</a:t>
                      </a:r>
                      <a:endParaRPr err="1"/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12998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Exécution hors-ligne</a:t>
                      </a:r>
                      <a:endParaRPr lang="en-US"/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 b="1" i="0" u="none" strike="noStrike" noProof="0">
                          <a:solidFill>
                            <a:srgbClr val="F68140"/>
                          </a:solidFill>
                          <a:latin typeface="Source Sans Pro"/>
                          <a:ea typeface="Source Sans Pro"/>
                        </a:rPr>
                        <a:t>À vérifier</a:t>
                      </a:r>
                      <a:endParaRPr lang="fr-FR" sz="1300" b="0" i="0" u="none" strike="noStrike" noProof="0">
                        <a:solidFill>
                          <a:srgbClr val="222A35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603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lang="en-US" sz="13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Intégration </a:t>
                      </a:r>
                      <a:r>
                        <a:rPr lang="en-US" sz="1300" b="0" i="0" u="none" strike="noStrike" noProof="0" err="1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ligne</a:t>
                      </a:r>
                      <a:r>
                        <a:rPr lang="en-US" sz="13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 ALIX</a:t>
                      </a:r>
                      <a:endParaRPr sz="1300" err="1">
                        <a:solidFill>
                          <a:srgbClr val="222A35"/>
                        </a:solidFill>
                        <a:latin typeface="Source Sans Pro"/>
                      </a:endParaRP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 b="1" i="0" u="none" strike="noStrike" noProof="0">
                          <a:solidFill>
                            <a:srgbClr val="F68140"/>
                          </a:solidFill>
                          <a:latin typeface="Source Sans Pro"/>
                          <a:ea typeface="Source Sans Pro"/>
                        </a:rPr>
                        <a:t>Perspective</a:t>
                      </a:r>
                      <a:endParaRPr/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lang="fr-FR" sz="13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DDL du poignet (pronation)</a:t>
                      </a:r>
                      <a:endParaRPr sz="1300" err="1">
                        <a:solidFill>
                          <a:srgbClr val="222A35"/>
                        </a:solidFill>
                        <a:latin typeface="Source Sans Pro"/>
                      </a:endParaRP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300" b="1" i="0" u="none" strike="noStrike" noProof="0">
                          <a:solidFill>
                            <a:srgbClr val="F68140"/>
                          </a:solidFill>
                          <a:latin typeface="Source Sans Pro"/>
                          <a:ea typeface="Source Sans Pro"/>
                        </a:rPr>
                        <a:t>Perspective</a:t>
                      </a:r>
                      <a:endParaRPr/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Collision arrière du coude</a:t>
                      </a:r>
                      <a:endParaRPr/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noProof="0">
                          <a:solidFill>
                            <a:srgbClr val="F68140"/>
                          </a:solidFill>
                          <a:latin typeface="Source Sans Pro"/>
                          <a:ea typeface="Source Sans Pro"/>
                        </a:rPr>
                        <a:t>À surveiller</a:t>
                      </a:r>
                      <a:endParaRPr sz="1300" b="1">
                        <a:solidFill>
                          <a:srgbClr val="F68140"/>
                        </a:solidFill>
                        <a:latin typeface="Source Sans Pro"/>
                      </a:endParaRP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030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Démonstration – Marche avant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>
                <a:ea typeface="Source Sans Pro"/>
              </a:rPr>
              <a:t>22</a:t>
            </a:r>
          </a:p>
        </p:txBody>
      </p:sp>
      <p:pic>
        <p:nvPicPr>
          <p:cNvPr id="6" name="eclat_correction_marche_non_lin">
            <a:hlinkClick r:id="" action="ppaction://media"/>
            <a:extLst>
              <a:ext uri="{FF2B5EF4-FFF2-40B4-BE49-F238E27FC236}">
                <a16:creationId xmlns:a16="http://schemas.microsoft.com/office/drawing/2014/main" id="{34BDCA15-0064-0B2B-2DE9-33A2BEACFBE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75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15294" y="977940"/>
            <a:ext cx="5976257" cy="314052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1691679" y="4271476"/>
            <a:ext cx="5799871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Vidéo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 1 : Simulation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de la </a:t>
            </a:r>
            <a:r>
              <a:rPr sz="1050" i="1" err="1">
                <a:solidFill>
                  <a:srgbClr val="5B6675"/>
                </a:solidFill>
                <a:latin typeface="Source Sans Pro"/>
              </a:rPr>
              <a:t>marche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de </a:t>
            </a:r>
            <a:r>
              <a:rPr sz="1050" i="1" err="1">
                <a:solidFill>
                  <a:srgbClr val="5B6675"/>
                </a:solidFill>
                <a:latin typeface="Source Sans Pro"/>
              </a:rPr>
              <a:t>l'opérateur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dans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sz="1050" i="1" err="1">
                <a:solidFill>
                  <a:srgbClr val="5B6675"/>
                </a:solidFill>
                <a:latin typeface="Source Sans Pro"/>
              </a:rPr>
              <a:t>RoboDK</a:t>
            </a:r>
            <a:endParaRPr lang="en-US" sz="1050" i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76561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Démonstration – Tâche bras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/>
              <a:t>23</a:t>
            </a:r>
            <a:endParaRPr lang="en-US"/>
          </a:p>
        </p:txBody>
      </p:sp>
      <p:pic>
        <p:nvPicPr>
          <p:cNvPr id="7" name="tache_bras_v2">
            <a:hlinkClick r:id="" action="ppaction://media"/>
            <a:extLst>
              <a:ext uri="{FF2B5EF4-FFF2-40B4-BE49-F238E27FC236}">
                <a16:creationId xmlns:a16="http://schemas.microsoft.com/office/drawing/2014/main" id="{50EFC0FC-C199-23ED-FCEC-EA8B88312F8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83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43844" y="843558"/>
            <a:ext cx="6477000" cy="3360965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1343844" y="4293588"/>
            <a:ext cx="6477000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50" i="1" err="1">
                <a:solidFill>
                  <a:srgbClr val="5B6675"/>
                </a:solidFill>
                <a:latin typeface="Source Sans Pro"/>
              </a:rPr>
              <a:t>Vidéo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 2 : Simulation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lang="fr-FR" sz="1050" i="1">
                <a:solidFill>
                  <a:srgbClr val="5B6675"/>
                </a:solidFill>
                <a:latin typeface="Source Sans Pro"/>
              </a:rPr>
              <a:t>du bras 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de </a:t>
            </a:r>
            <a:r>
              <a:rPr sz="1050" i="1" err="1">
                <a:solidFill>
                  <a:srgbClr val="5B6675"/>
                </a:solidFill>
                <a:latin typeface="Source Sans Pro"/>
              </a:rPr>
              <a:t>l'opérateur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lang="en-US" sz="1050" i="1">
                <a:solidFill>
                  <a:srgbClr val="5B6675"/>
                </a:solidFill>
                <a:latin typeface="Source Sans Pro"/>
              </a:rPr>
              <a:t>dans</a:t>
            </a:r>
            <a:r>
              <a:rPr sz="1050" i="1">
                <a:solidFill>
                  <a:srgbClr val="5B6675"/>
                </a:solidFill>
                <a:latin typeface="Source Sans Pro"/>
              </a:rPr>
              <a:t> </a:t>
            </a:r>
            <a:r>
              <a:rPr sz="1050" i="1" err="1">
                <a:solidFill>
                  <a:srgbClr val="5B6675"/>
                </a:solidFill>
                <a:latin typeface="Source Sans Pro"/>
              </a:rPr>
              <a:t>RoboDK</a:t>
            </a:r>
            <a:endParaRPr lang="en-US" sz="1050" i="1">
              <a:solidFill>
                <a:srgbClr val="5B6675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98888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457200" y="502920"/>
            <a:ext cx="36576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0" b="1">
                <a:solidFill>
                  <a:schemeClr val="bg2"/>
                </a:solidFill>
                <a:latin typeface="Source Sans Pro"/>
              </a:rPr>
              <a:t>06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6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/>
          <p:cNvSpPr txBox="1"/>
          <p:nvPr/>
        </p:nvSpPr>
        <p:spPr>
          <a:xfrm>
            <a:off x="777240" y="2560320"/>
            <a:ext cx="7680960" cy="11206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Conclusion &amp; perspectives</a:t>
            </a:r>
          </a:p>
          <a:p>
            <a:pPr>
              <a:lnSpc>
                <a:spcPct val="105000"/>
              </a:lnSpc>
            </a:pPr>
            <a:r>
              <a:rPr lang="en-US" sz="1500" err="1">
                <a:solidFill>
                  <a:srgbClr val="ADB4BD"/>
                </a:solidFill>
                <a:latin typeface="Source Sans Pro"/>
              </a:rPr>
              <a:t>Synthèse</a:t>
            </a:r>
            <a:r>
              <a:rPr lang="en-US" sz="1500">
                <a:solidFill>
                  <a:srgbClr val="ADB4BD"/>
                </a:solidFill>
                <a:latin typeface="Source Sans Pro"/>
              </a:rPr>
              <a:t> et des </a:t>
            </a:r>
            <a:r>
              <a:rPr lang="en-US" sz="1500" err="1">
                <a:solidFill>
                  <a:srgbClr val="ADB4BD"/>
                </a:solidFill>
                <a:latin typeface="Source Sans Pro"/>
              </a:rPr>
              <a:t>pistes</a:t>
            </a:r>
            <a:r>
              <a:rPr lang="en-US" sz="1500">
                <a:solidFill>
                  <a:srgbClr val="ADB4BD"/>
                </a:solidFill>
                <a:latin typeface="Source Sans Pro"/>
              </a:rPr>
              <a:t> ouvertes</a:t>
            </a:r>
            <a:endParaRPr lang="en-US" sz="1500">
              <a:solidFill>
                <a:srgbClr val="ADB4BD"/>
              </a:solidFill>
              <a:latin typeface="Source Sans Pro"/>
              <a:ea typeface="Source Sans Pro"/>
            </a:endParaRPr>
          </a:p>
          <a:p>
            <a:pPr>
              <a:lnSpc>
                <a:spcPct val="105000"/>
              </a:lnSpc>
            </a:pPr>
            <a:endParaRPr lang="en-US" sz="1500" b="0">
              <a:solidFill>
                <a:srgbClr val="ADB4BD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705455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Synthèse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9E2E40-7B9F-66E1-EE4A-968E80E0A7E7}"/>
              </a:ext>
            </a:extLst>
          </p:cNvPr>
          <p:cNvSpPr/>
          <p:nvPr/>
        </p:nvSpPr>
        <p:spPr>
          <a:xfrm>
            <a:off x="2092216" y="1063704"/>
            <a:ext cx="4977962" cy="3019845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solidFill>
                  <a:srgbClr val="3C3C3C"/>
                </a:solidFill>
                <a:ea typeface="Source Sans Pro"/>
              </a:rPr>
              <a:t>Définition du besoin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solidFill>
                  <a:srgbClr val="3C3C3C"/>
                </a:solidFill>
                <a:ea typeface="Source Sans Pro"/>
              </a:rPr>
              <a:t>Modélisation du mannequin</a:t>
            </a:r>
            <a:endParaRPr lang="en-US" sz="2800">
              <a:solidFill>
                <a:srgbClr val="F2F2F2"/>
              </a:solidFill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solidFill>
                  <a:srgbClr val="3C3C3C"/>
                </a:solidFill>
                <a:ea typeface="Source Sans Pro"/>
              </a:rPr>
              <a:t>Mise en mouvement</a:t>
            </a:r>
            <a:endParaRPr lang="fr-FR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solidFill>
                  <a:srgbClr val="3C3C3C"/>
                </a:solidFill>
                <a:ea typeface="Source Sans Pro"/>
              </a:rPr>
              <a:t>Création d'une base</a:t>
            </a:r>
          </a:p>
        </p:txBody>
      </p:sp>
    </p:spTree>
    <p:extLst>
      <p:ext uri="{BB962C8B-B14F-4D97-AF65-F5344CB8AC3E}">
        <p14:creationId xmlns:p14="http://schemas.microsoft.com/office/powerpoint/2010/main" val="1513195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Objectifs atteints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Rectangle : coins arrondis 5">
            <a:extLst>
              <a:ext uri="{FF2B5EF4-FFF2-40B4-BE49-F238E27FC236}">
                <a16:creationId xmlns:a16="http://schemas.microsoft.com/office/drawing/2014/main" id="{0D79F472-A13C-B6F6-B54D-EA4905FEEA6B}"/>
              </a:ext>
            </a:extLst>
          </p:cNvPr>
          <p:cNvSpPr/>
          <p:nvPr/>
        </p:nvSpPr>
        <p:spPr>
          <a:xfrm>
            <a:off x="4626811" y="1897217"/>
            <a:ext cx="4006955" cy="702313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>
                <a:solidFill>
                  <a:srgbClr val="222A35"/>
                </a:solidFill>
                <a:ea typeface="Source Sans Pro"/>
              </a:rPr>
              <a:t>Réalisation du cahier des charges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Définition des contraintes de sécurité</a:t>
            </a:r>
          </a:p>
        </p:txBody>
      </p:sp>
      <p:sp>
        <p:nvSpPr>
          <p:cNvPr id="8" name="Rectangle : coins arrondis 6">
            <a:extLst>
              <a:ext uri="{FF2B5EF4-FFF2-40B4-BE49-F238E27FC236}">
                <a16:creationId xmlns:a16="http://schemas.microsoft.com/office/drawing/2014/main" id="{5909430B-87B0-AD25-F115-D535941288E1}"/>
              </a:ext>
            </a:extLst>
          </p:cNvPr>
          <p:cNvSpPr/>
          <p:nvPr/>
        </p:nvSpPr>
        <p:spPr>
          <a:xfrm>
            <a:off x="468097" y="1450995"/>
            <a:ext cx="3987121" cy="885710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>
                <a:solidFill>
                  <a:srgbClr val="222A35"/>
                </a:solidFill>
                <a:ea typeface="Source Sans Pro"/>
              </a:rPr>
              <a:t>Utilisation de </a:t>
            </a:r>
            <a:r>
              <a:rPr lang="fr-FR" err="1">
                <a:solidFill>
                  <a:srgbClr val="222A35"/>
                </a:solidFill>
                <a:ea typeface="Source Sans Pro"/>
              </a:rPr>
              <a:t>RoboDK</a:t>
            </a:r>
            <a:r>
              <a:rPr lang="fr-FR">
                <a:solidFill>
                  <a:srgbClr val="222A35"/>
                </a:solidFill>
                <a:ea typeface="Source Sans Pro"/>
              </a:rPr>
              <a:t>.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Simplification du modèle cinématique </a:t>
            </a:r>
            <a:endParaRPr lang="fr-FR"/>
          </a:p>
        </p:txBody>
      </p:sp>
      <p:sp>
        <p:nvSpPr>
          <p:cNvPr id="9" name="Rectangle : coins arrondis 7">
            <a:extLst>
              <a:ext uri="{FF2B5EF4-FFF2-40B4-BE49-F238E27FC236}">
                <a16:creationId xmlns:a16="http://schemas.microsoft.com/office/drawing/2014/main" id="{B1F12EF5-DB38-944F-F353-D69DB7572278}"/>
              </a:ext>
            </a:extLst>
          </p:cNvPr>
          <p:cNvSpPr/>
          <p:nvPr/>
        </p:nvSpPr>
        <p:spPr>
          <a:xfrm>
            <a:off x="468743" y="2927302"/>
            <a:ext cx="4008617" cy="1246230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>
                <a:solidFill>
                  <a:srgbClr val="222A35"/>
                </a:solidFill>
                <a:ea typeface="Source Sans Pro"/>
              </a:rPr>
              <a:t>Utilisation de Python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Mise en mouvement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Absence de collision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Réalisation d'un déplacement d'objet</a:t>
            </a:r>
            <a:endParaRPr lang="fr-FR">
              <a:solidFill>
                <a:srgbClr val="222A35"/>
              </a:solidFill>
            </a:endParaRPr>
          </a:p>
        </p:txBody>
      </p:sp>
      <p:sp>
        <p:nvSpPr>
          <p:cNvPr id="10" name="Rectangle : coins arrondis 8">
            <a:extLst>
              <a:ext uri="{FF2B5EF4-FFF2-40B4-BE49-F238E27FC236}">
                <a16:creationId xmlns:a16="http://schemas.microsoft.com/office/drawing/2014/main" id="{50B70415-AFCB-ED37-9B13-C28A170A8294}"/>
              </a:ext>
            </a:extLst>
          </p:cNvPr>
          <p:cNvSpPr/>
          <p:nvPr/>
        </p:nvSpPr>
        <p:spPr>
          <a:xfrm>
            <a:off x="4626165" y="3301570"/>
            <a:ext cx="4007138" cy="1166613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>
                <a:solidFill>
                  <a:srgbClr val="222A35"/>
                </a:solidFill>
                <a:ea typeface="Source Sans Pro"/>
              </a:rPr>
              <a:t>Intégration de la partie humaine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Cahier des charges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Rapport</a:t>
            </a:r>
          </a:p>
          <a:p>
            <a:r>
              <a:rPr lang="fr-FR">
                <a:solidFill>
                  <a:srgbClr val="222A35"/>
                </a:solidFill>
                <a:ea typeface="Source Sans Pro"/>
              </a:rPr>
              <a:t>Poster</a:t>
            </a:r>
          </a:p>
        </p:txBody>
      </p:sp>
      <p:sp>
        <p:nvSpPr>
          <p:cNvPr id="11" name="ZoneTexte 12">
            <a:extLst>
              <a:ext uri="{FF2B5EF4-FFF2-40B4-BE49-F238E27FC236}">
                <a16:creationId xmlns:a16="http://schemas.microsoft.com/office/drawing/2014/main" id="{086664E9-BE16-6997-F289-8CFDA0E2B9AF}"/>
              </a:ext>
            </a:extLst>
          </p:cNvPr>
          <p:cNvSpPr txBox="1"/>
          <p:nvPr/>
        </p:nvSpPr>
        <p:spPr>
          <a:xfrm>
            <a:off x="467544" y="1078852"/>
            <a:ext cx="185582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>
                <a:ea typeface="Source Sans Pro"/>
              </a:rPr>
              <a:t>Modélisation :</a:t>
            </a:r>
          </a:p>
        </p:txBody>
      </p:sp>
      <p:sp>
        <p:nvSpPr>
          <p:cNvPr id="12" name="ZoneTexte 13">
            <a:extLst>
              <a:ext uri="{FF2B5EF4-FFF2-40B4-BE49-F238E27FC236}">
                <a16:creationId xmlns:a16="http://schemas.microsoft.com/office/drawing/2014/main" id="{5E9C9BDA-428D-1F00-40C2-312AF4F6B06B}"/>
              </a:ext>
            </a:extLst>
          </p:cNvPr>
          <p:cNvSpPr txBox="1"/>
          <p:nvPr/>
        </p:nvSpPr>
        <p:spPr>
          <a:xfrm>
            <a:off x="467544" y="2559308"/>
            <a:ext cx="185582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>
                <a:ea typeface="Source Sans Pro"/>
              </a:rPr>
              <a:t>Mouvement :</a:t>
            </a:r>
          </a:p>
        </p:txBody>
      </p:sp>
      <p:sp>
        <p:nvSpPr>
          <p:cNvPr id="13" name="ZoneTexte 14">
            <a:extLst>
              <a:ext uri="{FF2B5EF4-FFF2-40B4-BE49-F238E27FC236}">
                <a16:creationId xmlns:a16="http://schemas.microsoft.com/office/drawing/2014/main" id="{C87D8556-5996-D459-FCF3-8BAC455E2867}"/>
              </a:ext>
            </a:extLst>
          </p:cNvPr>
          <p:cNvSpPr txBox="1"/>
          <p:nvPr/>
        </p:nvSpPr>
        <p:spPr>
          <a:xfrm>
            <a:off x="4625887" y="1525165"/>
            <a:ext cx="204632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>
                <a:ea typeface="Source Sans Pro"/>
              </a:rPr>
              <a:t>Documentation :</a:t>
            </a:r>
          </a:p>
        </p:txBody>
      </p:sp>
      <p:sp>
        <p:nvSpPr>
          <p:cNvPr id="14" name="ZoneTexte 15">
            <a:extLst>
              <a:ext uri="{FF2B5EF4-FFF2-40B4-BE49-F238E27FC236}">
                <a16:creationId xmlns:a16="http://schemas.microsoft.com/office/drawing/2014/main" id="{0E1517AC-EA4C-900A-7450-DD2D5525F754}"/>
              </a:ext>
            </a:extLst>
          </p:cNvPr>
          <p:cNvSpPr txBox="1"/>
          <p:nvPr/>
        </p:nvSpPr>
        <p:spPr>
          <a:xfrm>
            <a:off x="4658544" y="2929422"/>
            <a:ext cx="204632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>
                <a:ea typeface="Source Sans Pro"/>
              </a:rPr>
              <a:t>Fichier rendu:</a:t>
            </a:r>
          </a:p>
        </p:txBody>
      </p:sp>
    </p:spTree>
    <p:extLst>
      <p:ext uri="{BB962C8B-B14F-4D97-AF65-F5344CB8AC3E}">
        <p14:creationId xmlns:p14="http://schemas.microsoft.com/office/powerpoint/2010/main" val="2992721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Perspectives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27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62D86AC-AFEB-2F59-DDBE-0B72E6902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274885"/>
              </p:ext>
            </p:extLst>
          </p:nvPr>
        </p:nvGraphicFramePr>
        <p:xfrm>
          <a:off x="1532387" y="915566"/>
          <a:ext cx="6099913" cy="3341044"/>
        </p:xfrm>
        <a:graphic>
          <a:graphicData uri="http://schemas.openxmlformats.org/drawingml/2006/table">
            <a:tbl>
              <a:tblPr firstCol="1" bandRow="1">
                <a:tableStyleId>{6E25E649-3F16-4E02-A733-19D2CDBF48F0}</a:tableStyleId>
              </a:tblPr>
              <a:tblGrid>
                <a:gridCol w="1632478">
                  <a:extLst>
                    <a:ext uri="{9D8B030D-6E8A-4147-A177-3AD203B41FA5}">
                      <a16:colId xmlns:a16="http://schemas.microsoft.com/office/drawing/2014/main" val="1174360045"/>
                    </a:ext>
                  </a:extLst>
                </a:gridCol>
                <a:gridCol w="4467435">
                  <a:extLst>
                    <a:ext uri="{9D8B030D-6E8A-4147-A177-3AD203B41FA5}">
                      <a16:colId xmlns:a16="http://schemas.microsoft.com/office/drawing/2014/main" val="2079784977"/>
                    </a:ext>
                  </a:extLst>
                </a:gridCol>
              </a:tblGrid>
              <a:tr h="375072">
                <a:tc rowSpan="4">
                  <a:txBody>
                    <a:bodyPr/>
                    <a:lstStyle/>
                    <a:p>
                      <a:pPr algn="ctr"/>
                      <a:r>
                        <a:rPr lang="fr-FR" b="0" noProof="0"/>
                        <a:t>Court Termes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Pronation du poignet</a:t>
                      </a:r>
                      <a:endParaRPr lang="fr-FR" noProof="0"/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888842"/>
                  </a:ext>
                </a:extLst>
              </a:tr>
              <a:tr h="3750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Surveiller la collision arrière du coude</a:t>
                      </a:r>
                      <a:endParaRPr lang="fr-FR" noProof="0"/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470515"/>
                  </a:ext>
                </a:extLst>
              </a:tr>
              <a:tr h="3750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Lier ligne et trajectoire</a:t>
                      </a:r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771941"/>
                  </a:ext>
                </a:extLst>
              </a:tr>
              <a:tr h="34046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28575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Disponibilité hors-ligne</a:t>
                      </a:r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285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1125"/>
                  </a:ext>
                </a:extLst>
              </a:tr>
              <a:tr h="375072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b="0" noProof="0"/>
                        <a:t>Moyen Terme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Finir les scénarios</a:t>
                      </a:r>
                      <a:endParaRPr lang="fr-FR" noProof="0"/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313325"/>
                  </a:ext>
                </a:extLst>
              </a:tr>
              <a:tr h="3750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Intégrer l'humain dans ligne ALIX</a:t>
                      </a:r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285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209344"/>
                  </a:ext>
                </a:extLst>
              </a:tr>
              <a:tr h="375072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b="0" noProof="0"/>
                        <a:t>Long Terme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Développer d'autres scénarios</a:t>
                      </a:r>
                      <a:endParaRPr lang="fr-FR" b="0" noProof="0"/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314576"/>
                  </a:ext>
                </a:extLst>
              </a:tr>
              <a:tr h="3750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Capture des mouvements</a:t>
                      </a:r>
                      <a:endParaRPr lang="fr-FR" noProof="0"/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232930"/>
                  </a:ext>
                </a:extLst>
              </a:tr>
              <a:tr h="3750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222A35"/>
                          </a:solidFill>
                          <a:latin typeface="Source Sans Pro"/>
                          <a:ea typeface="Source Sans Pro"/>
                        </a:rPr>
                        <a:t>Morphologie </a:t>
                      </a:r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285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2873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412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EA7E-AD57-17D1-F091-98B6A5B2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98C1B453-0672-9C31-DCAE-BBF1E2EEFAB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Apports Personnels</a:t>
            </a:r>
            <a:endParaRPr lang="en-US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596F5CBC-47C8-5A12-38E9-05485A2C31EB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FC98249-263C-F5E2-4DB4-7DB1CC9571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7C0B35-3ACC-DD1D-9563-1B46E0D47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E6A490-E92B-6D49-BB4F-302B453FD64D}"/>
              </a:ext>
            </a:extLst>
          </p:cNvPr>
          <p:cNvSpPr/>
          <p:nvPr/>
        </p:nvSpPr>
        <p:spPr>
          <a:xfrm>
            <a:off x="2211957" y="1248762"/>
            <a:ext cx="4743918" cy="2644287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fr-FR" sz="2400">
                <a:solidFill>
                  <a:srgbClr val="3C3C3C"/>
                </a:solidFill>
                <a:ea typeface="Source Sans Pro"/>
              </a:rPr>
              <a:t>Cahier des charges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2400">
                <a:solidFill>
                  <a:srgbClr val="3C3C3C"/>
                </a:solidFill>
                <a:ea typeface="Source Sans Pro"/>
              </a:rPr>
              <a:t>Importance des réunions</a:t>
            </a:r>
          </a:p>
          <a:p>
            <a:pPr marL="285750" indent="-285750">
              <a:buFont typeface="Arial"/>
              <a:buChar char="•"/>
            </a:pPr>
            <a:r>
              <a:rPr lang="fr-FR" sz="2400">
                <a:solidFill>
                  <a:srgbClr val="3C3C3C"/>
                </a:solidFill>
                <a:ea typeface="Source Sans Pro"/>
              </a:rPr>
              <a:t>Compte rendu</a:t>
            </a:r>
          </a:p>
        </p:txBody>
      </p:sp>
    </p:spTree>
    <p:extLst>
      <p:ext uri="{BB962C8B-B14F-4D97-AF65-F5344CB8AC3E}">
        <p14:creationId xmlns:p14="http://schemas.microsoft.com/office/powerpoint/2010/main" val="1515487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16"/>
          <p:cNvCxnSpPr/>
          <p:nvPr/>
        </p:nvCxnSpPr>
        <p:spPr>
          <a:xfrm flipV="1">
            <a:off x="2699792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2932657" y="2945725"/>
            <a:ext cx="322351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/>
              <a:t>ISAE-</a:t>
            </a:r>
            <a:r>
              <a:rPr lang="fr-FR" sz="1200" b="1" err="1"/>
              <a:t>Supméca</a:t>
            </a:r>
            <a:r>
              <a:rPr lang="fr-FR" sz="1200" b="1"/>
              <a:t> </a:t>
            </a:r>
          </a:p>
          <a:p>
            <a:pPr algn="ctr"/>
            <a:r>
              <a:rPr lang="fr-FR" sz="1200"/>
              <a:t>Institut supérieur de mécanique de Paris</a:t>
            </a:r>
          </a:p>
          <a:p>
            <a:pPr algn="ctr"/>
            <a:r>
              <a:rPr lang="fr-FR" sz="1200"/>
              <a:t>3 rue Fernand Hainaut 93407 Saint-Ouen Cedex  </a:t>
            </a:r>
          </a:p>
          <a:p>
            <a:pPr algn="ctr">
              <a:spcAft>
                <a:spcPts val="1200"/>
              </a:spcAft>
            </a:pPr>
            <a:r>
              <a:rPr lang="fr-FR" sz="1200"/>
              <a:t>Tél. 01 49 45 29 00  –  </a:t>
            </a:r>
            <a:r>
              <a:rPr lang="fr-FR" sz="1200" b="1"/>
              <a:t>www.isae-supmeca.fr</a:t>
            </a:r>
          </a:p>
          <a:p>
            <a:pPr algn="ctr"/>
            <a: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  <a:t>Ministère de l'Enseignement supérieur</a:t>
            </a:r>
            <a:b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  <a:t>et de la Recherche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3003798"/>
            <a:ext cx="1656183" cy="124213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344115"/>
            <a:ext cx="1728192" cy="641096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V="1">
            <a:off x="6372200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0" y="1203598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ource Sans Pro"/>
              </a:rPr>
              <a:t>Merci de </a:t>
            </a:r>
            <a:r>
              <a:rPr sz="3600" b="1" err="1">
                <a:solidFill>
                  <a:srgbClr val="FFFFFF"/>
                </a:solidFill>
                <a:latin typeface="Source Sans Pro"/>
              </a:rPr>
              <a:t>votre</a:t>
            </a:r>
            <a:r>
              <a:rPr sz="3600" b="1">
                <a:solidFill>
                  <a:srgbClr val="FFFFFF"/>
                </a:solidFill>
                <a:latin typeface="Source Sans Pro"/>
              </a:rPr>
              <a:t> attention</a:t>
            </a:r>
            <a:endParaRPr sz="2000" b="1">
              <a:solidFill>
                <a:srgbClr val="F45F0C"/>
              </a:solidFill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869127026"/>
      </p:ext>
    </p:extLst>
  </p:cSld>
  <p:clrMapOvr>
    <a:masterClrMapping/>
  </p:clrMapOvr>
</p:sld>
</file>

<file path=ppt/theme/theme1.xml><?xml version="1.0" encoding="utf-8"?>
<a:theme xmlns:a="http://schemas.openxmlformats.org/drawingml/2006/main" name="2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27CB75B1AB454C82BE1D96A54BA687" ma:contentTypeVersion="0" ma:contentTypeDescription="Crée un document." ma:contentTypeScope="" ma:versionID="3f788c1826e4564daa0199459ca8fc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393404-06F0-4FBF-9945-5C8B82874DD6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4A54269-AC35-4CB2-A61C-EFA2C60BFFBC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B439AAA-E8AF-4024-9FFF-D94C9BF651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1367</Words>
  <Application>Microsoft Office PowerPoint</Application>
  <PresentationFormat>Affichage à l'écran (16:9)</PresentationFormat>
  <Paragraphs>312</Paragraphs>
  <Slides>29</Slides>
  <Notes>23</Notes>
  <HiddenSlides>0</HiddenSlides>
  <MMClips>2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Arial</vt:lpstr>
      <vt:lpstr>Calibri</vt:lpstr>
      <vt:lpstr>Source Sans Pro Black</vt:lpstr>
      <vt:lpstr>Source Sans Pro</vt:lpstr>
      <vt:lpstr>2_Conception personnalisée</vt:lpstr>
      <vt:lpstr>3_Conception personnalisée</vt:lpstr>
      <vt:lpstr>1_Conception personnalisée</vt:lpstr>
      <vt:lpstr>Présentation PowerPoint</vt:lpstr>
      <vt:lpstr>Sommaire</vt:lpstr>
      <vt:lpstr>Présentation PowerPoint</vt:lpstr>
      <vt:lpstr> Contexte du projet</vt:lpstr>
      <vt:lpstr>Objectifs</vt:lpstr>
      <vt:lpstr>Travail collaboratif</vt:lpstr>
      <vt:lpstr>Présentation PowerPoint</vt:lpstr>
      <vt:lpstr>Scénario 1 - Coexistence</vt:lpstr>
      <vt:lpstr>Scénario 2 – Synchronisation / échange de pièces</vt:lpstr>
      <vt:lpstr>Cadre du projet</vt:lpstr>
      <vt:lpstr>Présentation PowerPoint</vt:lpstr>
      <vt:lpstr>Schéma cinématique &amp; degrés de liberté</vt:lpstr>
      <vt:lpstr>Démarche de développement</vt:lpstr>
      <vt:lpstr>Arborescence des repères</vt:lpstr>
      <vt:lpstr>Présentation PowerPoint</vt:lpstr>
      <vt:lpstr>Principe d’animation</vt:lpstr>
      <vt:lpstr>Locomotion – membres inférieurs</vt:lpstr>
      <vt:lpstr>Manipulation – tâche du bras</vt:lpstr>
      <vt:lpstr>Présentation PowerPoint</vt:lpstr>
      <vt:lpstr>Problèmes rencontrés</vt:lpstr>
      <vt:lpstr>Synthèse des statuts</vt:lpstr>
      <vt:lpstr>Démonstration – Marche avant</vt:lpstr>
      <vt:lpstr>Démonstration – Tâche bras</vt:lpstr>
      <vt:lpstr>Présentation PowerPoint</vt:lpstr>
      <vt:lpstr>Synthèse</vt:lpstr>
      <vt:lpstr>Objectifs atteints</vt:lpstr>
      <vt:lpstr>Perspectives</vt:lpstr>
      <vt:lpstr>Apports Personnels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LECHARTIER Antoine</dc:creator>
  <cp:lastModifiedBy>nika xachidze</cp:lastModifiedBy>
  <cp:revision>3</cp:revision>
  <dcterms:created xsi:type="dcterms:W3CDTF">2018-06-29T13:21:24Z</dcterms:created>
  <dcterms:modified xsi:type="dcterms:W3CDTF">2026-06-30T10:53:31Z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0x010100D827CB75B1AB454C82BE1D96A54BA687</vt:lpwstr>
  </property>
</Properties>
</file>