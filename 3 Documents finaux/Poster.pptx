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21286788" cy="3026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3246"/>
    <a:srgbClr val="EB7B52"/>
    <a:srgbClr val="E1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025805-94C6-41A1-9E4F-7D06D4630E0B}" v="3" dt="2026-06-11T09:40:44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" d="100"/>
          <a:sy n="20" d="100"/>
        </p:scale>
        <p:origin x="24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509" y="4953466"/>
            <a:ext cx="18093770" cy="10537496"/>
          </a:xfrm>
        </p:spPr>
        <p:txBody>
          <a:bodyPr anchor="b"/>
          <a:lstStyle>
            <a:lvl1pPr algn="ctr">
              <a:defRPr sz="13968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0849" y="15897328"/>
            <a:ext cx="15965091" cy="7307583"/>
          </a:xfrm>
        </p:spPr>
        <p:txBody>
          <a:bodyPr/>
          <a:lstStyle>
            <a:lvl1pPr marL="0" indent="0" algn="ctr">
              <a:buNone/>
              <a:defRPr sz="5587"/>
            </a:lvl1pPr>
            <a:lvl2pPr marL="1064362" indent="0" algn="ctr">
              <a:buNone/>
              <a:defRPr sz="4656"/>
            </a:lvl2pPr>
            <a:lvl3pPr marL="2128723" indent="0" algn="ctr">
              <a:buNone/>
              <a:defRPr sz="4190"/>
            </a:lvl3pPr>
            <a:lvl4pPr marL="3193085" indent="0" algn="ctr">
              <a:buNone/>
              <a:defRPr sz="3725"/>
            </a:lvl4pPr>
            <a:lvl5pPr marL="4257446" indent="0" algn="ctr">
              <a:buNone/>
              <a:defRPr sz="3725"/>
            </a:lvl5pPr>
            <a:lvl6pPr marL="5321808" indent="0" algn="ctr">
              <a:buNone/>
              <a:defRPr sz="3725"/>
            </a:lvl6pPr>
            <a:lvl7pPr marL="6386170" indent="0" algn="ctr">
              <a:buNone/>
              <a:defRPr sz="3725"/>
            </a:lvl7pPr>
            <a:lvl8pPr marL="7450531" indent="0" algn="ctr">
              <a:buNone/>
              <a:defRPr sz="3725"/>
            </a:lvl8pPr>
            <a:lvl9pPr marL="8514893" indent="0" algn="ctr">
              <a:buNone/>
              <a:defRPr sz="3725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960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3" userDrawn="1">
          <p15:clr>
            <a:srgbClr val="FBAE40"/>
          </p15:clr>
        </p15:guide>
        <p15:guide id="2" pos="67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551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2381" y="7545809"/>
            <a:ext cx="18359855" cy="12590343"/>
          </a:xfrm>
        </p:spPr>
        <p:txBody>
          <a:bodyPr anchor="b"/>
          <a:lstStyle>
            <a:lvl1pPr>
              <a:defRPr sz="13968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2381" y="20255262"/>
            <a:ext cx="18359855" cy="6620964"/>
          </a:xfrm>
        </p:spPr>
        <p:txBody>
          <a:bodyPr/>
          <a:lstStyle>
            <a:lvl1pPr marL="0" indent="0">
              <a:buNone/>
              <a:defRPr sz="5587">
                <a:solidFill>
                  <a:schemeClr val="tx1">
                    <a:tint val="82000"/>
                  </a:schemeClr>
                </a:solidFill>
              </a:defRPr>
            </a:lvl1pPr>
            <a:lvl2pPr marL="1064362" indent="0">
              <a:buNone/>
              <a:defRPr sz="4656">
                <a:solidFill>
                  <a:schemeClr val="tx1">
                    <a:tint val="82000"/>
                  </a:schemeClr>
                </a:solidFill>
              </a:defRPr>
            </a:lvl2pPr>
            <a:lvl3pPr marL="2128723" indent="0">
              <a:buNone/>
              <a:defRPr sz="4190">
                <a:solidFill>
                  <a:schemeClr val="tx1">
                    <a:tint val="82000"/>
                  </a:schemeClr>
                </a:solidFill>
              </a:defRPr>
            </a:lvl3pPr>
            <a:lvl4pPr marL="3193085" indent="0">
              <a:buNone/>
              <a:defRPr sz="3725">
                <a:solidFill>
                  <a:schemeClr val="tx1">
                    <a:tint val="82000"/>
                  </a:schemeClr>
                </a:solidFill>
              </a:defRPr>
            </a:lvl4pPr>
            <a:lvl5pPr marL="4257446" indent="0">
              <a:buNone/>
              <a:defRPr sz="3725">
                <a:solidFill>
                  <a:schemeClr val="tx1">
                    <a:tint val="82000"/>
                  </a:schemeClr>
                </a:solidFill>
              </a:defRPr>
            </a:lvl5pPr>
            <a:lvl6pPr marL="5321808" indent="0">
              <a:buNone/>
              <a:defRPr sz="3725">
                <a:solidFill>
                  <a:schemeClr val="tx1">
                    <a:tint val="82000"/>
                  </a:schemeClr>
                </a:solidFill>
              </a:defRPr>
            </a:lvl6pPr>
            <a:lvl7pPr marL="6386170" indent="0">
              <a:buNone/>
              <a:defRPr sz="3725">
                <a:solidFill>
                  <a:schemeClr val="tx1">
                    <a:tint val="82000"/>
                  </a:schemeClr>
                </a:solidFill>
              </a:defRPr>
            </a:lvl7pPr>
            <a:lvl8pPr marL="7450531" indent="0">
              <a:buNone/>
              <a:defRPr sz="3725">
                <a:solidFill>
                  <a:schemeClr val="tx1">
                    <a:tint val="82000"/>
                  </a:schemeClr>
                </a:solidFill>
              </a:defRPr>
            </a:lvl8pPr>
            <a:lvl9pPr marL="8514893" indent="0">
              <a:buNone/>
              <a:defRPr sz="372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7970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63467" y="8057261"/>
            <a:ext cx="9046885" cy="1920430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76436" y="8057261"/>
            <a:ext cx="9046885" cy="1920430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046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6239" y="1611459"/>
            <a:ext cx="18359855" cy="585027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6241" y="7419688"/>
            <a:ext cx="9005308" cy="3636275"/>
          </a:xfrm>
        </p:spPr>
        <p:txBody>
          <a:bodyPr anchor="b"/>
          <a:lstStyle>
            <a:lvl1pPr marL="0" indent="0">
              <a:buNone/>
              <a:defRPr sz="5587" b="1"/>
            </a:lvl1pPr>
            <a:lvl2pPr marL="1064362" indent="0">
              <a:buNone/>
              <a:defRPr sz="4656" b="1"/>
            </a:lvl2pPr>
            <a:lvl3pPr marL="2128723" indent="0">
              <a:buNone/>
              <a:defRPr sz="4190" b="1"/>
            </a:lvl3pPr>
            <a:lvl4pPr marL="3193085" indent="0">
              <a:buNone/>
              <a:defRPr sz="3725" b="1"/>
            </a:lvl4pPr>
            <a:lvl5pPr marL="4257446" indent="0">
              <a:buNone/>
              <a:defRPr sz="3725" b="1"/>
            </a:lvl5pPr>
            <a:lvl6pPr marL="5321808" indent="0">
              <a:buNone/>
              <a:defRPr sz="3725" b="1"/>
            </a:lvl6pPr>
            <a:lvl7pPr marL="6386170" indent="0">
              <a:buNone/>
              <a:defRPr sz="3725" b="1"/>
            </a:lvl7pPr>
            <a:lvl8pPr marL="7450531" indent="0">
              <a:buNone/>
              <a:defRPr sz="3725" b="1"/>
            </a:lvl8pPr>
            <a:lvl9pPr marL="8514893" indent="0">
              <a:buNone/>
              <a:defRPr sz="372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6241" y="11055963"/>
            <a:ext cx="9005308" cy="1626165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776438" y="7419688"/>
            <a:ext cx="9049657" cy="3636275"/>
          </a:xfrm>
        </p:spPr>
        <p:txBody>
          <a:bodyPr anchor="b"/>
          <a:lstStyle>
            <a:lvl1pPr marL="0" indent="0">
              <a:buNone/>
              <a:defRPr sz="5587" b="1"/>
            </a:lvl1pPr>
            <a:lvl2pPr marL="1064362" indent="0">
              <a:buNone/>
              <a:defRPr sz="4656" b="1"/>
            </a:lvl2pPr>
            <a:lvl3pPr marL="2128723" indent="0">
              <a:buNone/>
              <a:defRPr sz="4190" b="1"/>
            </a:lvl3pPr>
            <a:lvl4pPr marL="3193085" indent="0">
              <a:buNone/>
              <a:defRPr sz="3725" b="1"/>
            </a:lvl4pPr>
            <a:lvl5pPr marL="4257446" indent="0">
              <a:buNone/>
              <a:defRPr sz="3725" b="1"/>
            </a:lvl5pPr>
            <a:lvl6pPr marL="5321808" indent="0">
              <a:buNone/>
              <a:defRPr sz="3725" b="1"/>
            </a:lvl6pPr>
            <a:lvl7pPr marL="6386170" indent="0">
              <a:buNone/>
              <a:defRPr sz="3725" b="1"/>
            </a:lvl7pPr>
            <a:lvl8pPr marL="7450531" indent="0">
              <a:buNone/>
              <a:defRPr sz="3725" b="1"/>
            </a:lvl8pPr>
            <a:lvl9pPr marL="8514893" indent="0">
              <a:buNone/>
              <a:defRPr sz="372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776438" y="11055963"/>
            <a:ext cx="9049657" cy="1626165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93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82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698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6239" y="2017818"/>
            <a:ext cx="6865543" cy="7062364"/>
          </a:xfrm>
        </p:spPr>
        <p:txBody>
          <a:bodyPr anchor="b"/>
          <a:lstStyle>
            <a:lvl1pPr>
              <a:defRPr sz="745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9658" y="4357934"/>
            <a:ext cx="10776436" cy="21509383"/>
          </a:xfrm>
        </p:spPr>
        <p:txBody>
          <a:bodyPr/>
          <a:lstStyle>
            <a:lvl1pPr>
              <a:defRPr sz="7450"/>
            </a:lvl1pPr>
            <a:lvl2pPr>
              <a:defRPr sz="6518"/>
            </a:lvl2pPr>
            <a:lvl3pPr>
              <a:defRPr sz="5587"/>
            </a:lvl3pPr>
            <a:lvl4pPr>
              <a:defRPr sz="4656"/>
            </a:lvl4pPr>
            <a:lvl5pPr>
              <a:defRPr sz="4656"/>
            </a:lvl5pPr>
            <a:lvl6pPr>
              <a:defRPr sz="4656"/>
            </a:lvl6pPr>
            <a:lvl7pPr>
              <a:defRPr sz="4656"/>
            </a:lvl7pPr>
            <a:lvl8pPr>
              <a:defRPr sz="4656"/>
            </a:lvl8pPr>
            <a:lvl9pPr>
              <a:defRPr sz="4656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6239" y="9080183"/>
            <a:ext cx="6865543" cy="16822161"/>
          </a:xfrm>
        </p:spPr>
        <p:txBody>
          <a:bodyPr/>
          <a:lstStyle>
            <a:lvl1pPr marL="0" indent="0">
              <a:buNone/>
              <a:defRPr sz="3725"/>
            </a:lvl1pPr>
            <a:lvl2pPr marL="1064362" indent="0">
              <a:buNone/>
              <a:defRPr sz="3259"/>
            </a:lvl2pPr>
            <a:lvl3pPr marL="2128723" indent="0">
              <a:buNone/>
              <a:defRPr sz="2794"/>
            </a:lvl3pPr>
            <a:lvl4pPr marL="3193085" indent="0">
              <a:buNone/>
              <a:defRPr sz="2328"/>
            </a:lvl4pPr>
            <a:lvl5pPr marL="4257446" indent="0">
              <a:buNone/>
              <a:defRPr sz="2328"/>
            </a:lvl5pPr>
            <a:lvl6pPr marL="5321808" indent="0">
              <a:buNone/>
              <a:defRPr sz="2328"/>
            </a:lvl6pPr>
            <a:lvl7pPr marL="6386170" indent="0">
              <a:buNone/>
              <a:defRPr sz="2328"/>
            </a:lvl7pPr>
            <a:lvl8pPr marL="7450531" indent="0">
              <a:buNone/>
              <a:defRPr sz="2328"/>
            </a:lvl8pPr>
            <a:lvl9pPr marL="8514893" indent="0">
              <a:buNone/>
              <a:defRPr sz="232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959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6239" y="2017818"/>
            <a:ext cx="6865543" cy="7062364"/>
          </a:xfrm>
        </p:spPr>
        <p:txBody>
          <a:bodyPr anchor="b"/>
          <a:lstStyle>
            <a:lvl1pPr>
              <a:defRPr sz="745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49658" y="4357934"/>
            <a:ext cx="10776436" cy="21509383"/>
          </a:xfrm>
        </p:spPr>
        <p:txBody>
          <a:bodyPr anchor="t"/>
          <a:lstStyle>
            <a:lvl1pPr marL="0" indent="0">
              <a:buNone/>
              <a:defRPr sz="7450"/>
            </a:lvl1pPr>
            <a:lvl2pPr marL="1064362" indent="0">
              <a:buNone/>
              <a:defRPr sz="6518"/>
            </a:lvl2pPr>
            <a:lvl3pPr marL="2128723" indent="0">
              <a:buNone/>
              <a:defRPr sz="5587"/>
            </a:lvl3pPr>
            <a:lvl4pPr marL="3193085" indent="0">
              <a:buNone/>
              <a:defRPr sz="4656"/>
            </a:lvl4pPr>
            <a:lvl5pPr marL="4257446" indent="0">
              <a:buNone/>
              <a:defRPr sz="4656"/>
            </a:lvl5pPr>
            <a:lvl6pPr marL="5321808" indent="0">
              <a:buNone/>
              <a:defRPr sz="4656"/>
            </a:lvl6pPr>
            <a:lvl7pPr marL="6386170" indent="0">
              <a:buNone/>
              <a:defRPr sz="4656"/>
            </a:lvl7pPr>
            <a:lvl8pPr marL="7450531" indent="0">
              <a:buNone/>
              <a:defRPr sz="4656"/>
            </a:lvl8pPr>
            <a:lvl9pPr marL="8514893" indent="0">
              <a:buNone/>
              <a:defRPr sz="4656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6239" y="9080183"/>
            <a:ext cx="6865543" cy="16822161"/>
          </a:xfrm>
        </p:spPr>
        <p:txBody>
          <a:bodyPr/>
          <a:lstStyle>
            <a:lvl1pPr marL="0" indent="0">
              <a:buNone/>
              <a:defRPr sz="3725"/>
            </a:lvl1pPr>
            <a:lvl2pPr marL="1064362" indent="0">
              <a:buNone/>
              <a:defRPr sz="3259"/>
            </a:lvl2pPr>
            <a:lvl3pPr marL="2128723" indent="0">
              <a:buNone/>
              <a:defRPr sz="2794"/>
            </a:lvl3pPr>
            <a:lvl4pPr marL="3193085" indent="0">
              <a:buNone/>
              <a:defRPr sz="2328"/>
            </a:lvl4pPr>
            <a:lvl5pPr marL="4257446" indent="0">
              <a:buNone/>
              <a:defRPr sz="2328"/>
            </a:lvl5pPr>
            <a:lvl6pPr marL="5321808" indent="0">
              <a:buNone/>
              <a:defRPr sz="2328"/>
            </a:lvl6pPr>
            <a:lvl7pPr marL="6386170" indent="0">
              <a:buNone/>
              <a:defRPr sz="2328"/>
            </a:lvl7pPr>
            <a:lvl8pPr marL="7450531" indent="0">
              <a:buNone/>
              <a:defRPr sz="2328"/>
            </a:lvl8pPr>
            <a:lvl9pPr marL="8514893" indent="0">
              <a:buNone/>
              <a:defRPr sz="232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590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019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33359" y="1611452"/>
            <a:ext cx="4589964" cy="256501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63468" y="1611452"/>
            <a:ext cx="13503806" cy="256501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61DC-1B4B-4196-967E-E62789546BA2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F6C-F4F7-48AE-9232-FDB483C20336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5048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467" y="1611459"/>
            <a:ext cx="18359855" cy="585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467" y="8057261"/>
            <a:ext cx="18359855" cy="192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3467" y="28053287"/>
            <a:ext cx="4789527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F61DC-1B4B-4196-967E-E62789546BA2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51249" y="28053287"/>
            <a:ext cx="7184291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033794" y="28053287"/>
            <a:ext cx="4789527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ABCF6C-F4F7-48AE-9232-FDB483C20336}" type="slidenum">
              <a:rPr lang="fr-FR" smtClean="0"/>
              <a:t>‹N›</a:t>
            </a:fld>
            <a:endParaRPr lang="fr-FR"/>
          </a:p>
        </p:txBody>
      </p:sp>
      <p:pic>
        <p:nvPicPr>
          <p:cNvPr id="18" name="Image 5">
            <a:extLst>
              <a:ext uri="{FF2B5EF4-FFF2-40B4-BE49-F238E27FC236}">
                <a16:creationId xmlns:a16="http://schemas.microsoft.com/office/drawing/2014/main" id="{B6C4C3C4-2460-92B2-CFE7-95041932879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9" t="4215" b="65093"/>
          <a:stretch>
            <a:fillRect/>
          </a:stretch>
        </p:blipFill>
        <p:spPr>
          <a:xfrm flipH="1">
            <a:off x="-1048672" y="0"/>
            <a:ext cx="7094061" cy="3276586"/>
          </a:xfrm>
          <a:prstGeom prst="rect">
            <a:avLst/>
          </a:prstGeom>
        </p:spPr>
      </p:pic>
      <p:sp>
        <p:nvSpPr>
          <p:cNvPr id="20" name="Rectangle 6">
            <a:extLst>
              <a:ext uri="{FF2B5EF4-FFF2-40B4-BE49-F238E27FC236}">
                <a16:creationId xmlns:a16="http://schemas.microsoft.com/office/drawing/2014/main" id="{A1ACDC76-3FEE-7161-1B92-71C85595822A}"/>
              </a:ext>
            </a:extLst>
          </p:cNvPr>
          <p:cNvSpPr/>
          <p:nvPr userDrawn="1"/>
        </p:nvSpPr>
        <p:spPr>
          <a:xfrm rot="10800000" flipV="1">
            <a:off x="3620052" y="2"/>
            <a:ext cx="17666736" cy="3276584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fr-FR" sz="4800" b="1" noProof="0" dirty="0"/>
          </a:p>
        </p:txBody>
      </p: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2E47F034-58A6-1A76-D59A-3939DCF0B880}"/>
              </a:ext>
            </a:extLst>
          </p:cNvPr>
          <p:cNvGrpSpPr/>
          <p:nvPr userDrawn="1"/>
        </p:nvGrpSpPr>
        <p:grpSpPr>
          <a:xfrm>
            <a:off x="14482607" y="122780"/>
            <a:ext cx="6406867" cy="2977357"/>
            <a:chOff x="1721643" y="1562100"/>
            <a:chExt cx="6406867" cy="2977357"/>
          </a:xfrm>
        </p:grpSpPr>
        <p:grpSp>
          <p:nvGrpSpPr>
            <p:cNvPr id="26" name="Gruppo 25">
              <a:extLst>
                <a:ext uri="{FF2B5EF4-FFF2-40B4-BE49-F238E27FC236}">
                  <a16:creationId xmlns:a16="http://schemas.microsoft.com/office/drawing/2014/main" id="{7BCB96CD-D231-8787-A8A4-B33B672CDDC2}"/>
                </a:ext>
              </a:extLst>
            </p:cNvPr>
            <p:cNvGrpSpPr/>
            <p:nvPr/>
          </p:nvGrpSpPr>
          <p:grpSpPr>
            <a:xfrm>
              <a:off x="1721643" y="1562100"/>
              <a:ext cx="6406867" cy="2977357"/>
              <a:chOff x="1721643" y="1562100"/>
              <a:chExt cx="6406867" cy="2977357"/>
            </a:xfrm>
          </p:grpSpPr>
          <p:grpSp>
            <p:nvGrpSpPr>
              <p:cNvPr id="28" name="Gruppo 27">
                <a:extLst>
                  <a:ext uri="{FF2B5EF4-FFF2-40B4-BE49-F238E27FC236}">
                    <a16:creationId xmlns:a16="http://schemas.microsoft.com/office/drawing/2014/main" id="{9A65BCF4-A41B-5E86-C836-652A5346FBE8}"/>
                  </a:ext>
                </a:extLst>
              </p:cNvPr>
              <p:cNvGrpSpPr/>
              <p:nvPr/>
            </p:nvGrpSpPr>
            <p:grpSpPr>
              <a:xfrm>
                <a:off x="1721643" y="1562100"/>
                <a:ext cx="2977357" cy="2977357"/>
                <a:chOff x="1721643" y="1562100"/>
                <a:chExt cx="2977357" cy="2977357"/>
              </a:xfrm>
            </p:grpSpPr>
            <p:pic>
              <p:nvPicPr>
                <p:cNvPr id="33" name="Elemento grafico 32" descr="Singolo ingranaggio con riempimento a tinta unita">
                  <a:extLst>
                    <a:ext uri="{FF2B5EF4-FFF2-40B4-BE49-F238E27FC236}">
                      <a16:creationId xmlns:a16="http://schemas.microsoft.com/office/drawing/2014/main" id="{119456A6-2D86-4D30-D65A-147841DE3E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1643" y="1562100"/>
                  <a:ext cx="2977357" cy="2977357"/>
                </a:xfrm>
                <a:prstGeom prst="rect">
                  <a:avLst/>
                </a:prstGeom>
              </p:spPr>
            </p:pic>
            <p:sp>
              <p:nvSpPr>
                <p:cNvPr id="34" name="Ovale 33">
                  <a:extLst>
                    <a:ext uri="{FF2B5EF4-FFF2-40B4-BE49-F238E27FC236}">
                      <a16:creationId xmlns:a16="http://schemas.microsoft.com/office/drawing/2014/main" id="{79148BBD-208F-028D-F6CC-43B12A3F99D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250143" y="1873254"/>
                  <a:ext cx="724308" cy="724308"/>
                </a:xfrm>
                <a:prstGeom prst="ellipse">
                  <a:avLst/>
                </a:prstGeom>
                <a:solidFill>
                  <a:srgbClr val="23243A"/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5" name="Ovale 34">
                  <a:extLst>
                    <a:ext uri="{FF2B5EF4-FFF2-40B4-BE49-F238E27FC236}">
                      <a16:creationId xmlns:a16="http://schemas.microsoft.com/office/drawing/2014/main" id="{2B5E090B-3046-8CE2-0FBC-C08071007D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00313" y="2328862"/>
                  <a:ext cx="1443040" cy="1443038"/>
                </a:xfrm>
                <a:prstGeom prst="ellipse">
                  <a:avLst/>
                </a:prstGeom>
                <a:solidFill>
                  <a:srgbClr val="23243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Figura a mano libera: forma 35">
                  <a:extLst>
                    <a:ext uri="{FF2B5EF4-FFF2-40B4-BE49-F238E27FC236}">
                      <a16:creationId xmlns:a16="http://schemas.microsoft.com/office/drawing/2014/main" id="{2F50F2B0-EF6A-D60D-EE2A-2FCBCCB192F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909828" y="3482707"/>
                  <a:ext cx="744584" cy="207511"/>
                </a:xfrm>
                <a:custGeom>
                  <a:avLst/>
                  <a:gdLst>
                    <a:gd name="csX0" fmla="*/ 232181 w 744584"/>
                    <a:gd name="csY0" fmla="*/ 0 h 207511"/>
                    <a:gd name="csX1" fmla="*/ 613922 w 744584"/>
                    <a:gd name="csY1" fmla="*/ 0 h 207511"/>
                    <a:gd name="csX2" fmla="*/ 723179 w 744584"/>
                    <a:gd name="csY2" fmla="*/ 22058 h 207511"/>
                    <a:gd name="csX3" fmla="*/ 744584 w 744584"/>
                    <a:gd name="csY3" fmla="*/ 36489 h 207511"/>
                    <a:gd name="csX4" fmla="*/ 669744 w 744584"/>
                    <a:gd name="csY4" fmla="*/ 98237 h 207511"/>
                    <a:gd name="csX5" fmla="*/ 312005 w 744584"/>
                    <a:gd name="csY5" fmla="*/ 207511 h 207511"/>
                    <a:gd name="csX6" fmla="*/ 62952 w 744584"/>
                    <a:gd name="csY6" fmla="*/ 157230 h 207511"/>
                    <a:gd name="csX7" fmla="*/ 0 w 744584"/>
                    <a:gd name="csY7" fmla="*/ 123061 h 207511"/>
                    <a:gd name="csX8" fmla="*/ 33703 w 744584"/>
                    <a:gd name="csY8" fmla="*/ 82212 h 207511"/>
                    <a:gd name="csX9" fmla="*/ 232181 w 744584"/>
                    <a:gd name="csY9" fmla="*/ 0 h 2075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744584" h="207511">
                      <a:moveTo>
                        <a:pt x="232181" y="0"/>
                      </a:moveTo>
                      <a:lnTo>
                        <a:pt x="613922" y="0"/>
                      </a:lnTo>
                      <a:cubicBezTo>
                        <a:pt x="652677" y="0"/>
                        <a:pt x="689598" y="7854"/>
                        <a:pt x="723179" y="22058"/>
                      </a:cubicBezTo>
                      <a:lnTo>
                        <a:pt x="744584" y="36489"/>
                      </a:lnTo>
                      <a:lnTo>
                        <a:pt x="669744" y="98237"/>
                      </a:lnTo>
                      <a:cubicBezTo>
                        <a:pt x="567625" y="167227"/>
                        <a:pt x="444520" y="207511"/>
                        <a:pt x="312005" y="207511"/>
                      </a:cubicBezTo>
                      <a:cubicBezTo>
                        <a:pt x="223662" y="207511"/>
                        <a:pt x="139501" y="189607"/>
                        <a:pt x="62952" y="157230"/>
                      </a:cubicBezTo>
                      <a:lnTo>
                        <a:pt x="0" y="123061"/>
                      </a:lnTo>
                      <a:lnTo>
                        <a:pt x="33703" y="82212"/>
                      </a:lnTo>
                      <a:cubicBezTo>
                        <a:pt x="84498" y="31417"/>
                        <a:pt x="154671" y="0"/>
                        <a:pt x="232181" y="0"/>
                      </a:cubicBezTo>
                      <a:close/>
                    </a:path>
                  </a:pathLst>
                </a:custGeom>
                <a:solidFill>
                  <a:srgbClr val="EC6D4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7" name="Rettangolo 28">
                  <a:extLst>
                    <a:ext uri="{FF2B5EF4-FFF2-40B4-BE49-F238E27FC236}">
                      <a16:creationId xmlns:a16="http://schemas.microsoft.com/office/drawing/2014/main" id="{901560A6-D8CC-E29B-1D5C-2C24560F87DB}"/>
                    </a:ext>
                  </a:extLst>
                </p:cNvPr>
                <p:cNvSpPr/>
                <p:nvPr/>
              </p:nvSpPr>
              <p:spPr>
                <a:xfrm>
                  <a:off x="3110736" y="2743179"/>
                  <a:ext cx="504001" cy="679687"/>
                </a:xfrm>
                <a:custGeom>
                  <a:avLst/>
                  <a:gdLst>
                    <a:gd name="csX0" fmla="*/ 0 w 456030"/>
                    <a:gd name="csY0" fmla="*/ 0 h 459580"/>
                    <a:gd name="csX1" fmla="*/ 456030 w 456030"/>
                    <a:gd name="csY1" fmla="*/ 0 h 459580"/>
                    <a:gd name="csX2" fmla="*/ 456030 w 456030"/>
                    <a:gd name="csY2" fmla="*/ 459580 h 459580"/>
                    <a:gd name="csX3" fmla="*/ 0 w 456030"/>
                    <a:gd name="csY3" fmla="*/ 459580 h 459580"/>
                    <a:gd name="csX4" fmla="*/ 0 w 456030"/>
                    <a:gd name="csY4" fmla="*/ 0 h 459580"/>
                    <a:gd name="csX0" fmla="*/ 1 w 456031"/>
                    <a:gd name="csY0" fmla="*/ 0 h 459580"/>
                    <a:gd name="csX1" fmla="*/ 456031 w 456031"/>
                    <a:gd name="csY1" fmla="*/ 0 h 459580"/>
                    <a:gd name="csX2" fmla="*/ 456031 w 456031"/>
                    <a:gd name="csY2" fmla="*/ 459580 h 459580"/>
                    <a:gd name="csX3" fmla="*/ 1 w 456031"/>
                    <a:gd name="csY3" fmla="*/ 459580 h 459580"/>
                    <a:gd name="csX4" fmla="*/ 129438 w 456031"/>
                    <a:gd name="csY4" fmla="*/ 257131 h 459580"/>
                    <a:gd name="csX5" fmla="*/ 1 w 456031"/>
                    <a:gd name="csY5" fmla="*/ 0 h 459580"/>
                    <a:gd name="csX0" fmla="*/ 2 w 456032"/>
                    <a:gd name="csY0" fmla="*/ 0 h 459580"/>
                    <a:gd name="csX1" fmla="*/ 456032 w 456032"/>
                    <a:gd name="csY1" fmla="*/ 0 h 459580"/>
                    <a:gd name="csX2" fmla="*/ 456032 w 456032"/>
                    <a:gd name="csY2" fmla="*/ 459580 h 459580"/>
                    <a:gd name="csX3" fmla="*/ 2 w 456032"/>
                    <a:gd name="csY3" fmla="*/ 459580 h 459580"/>
                    <a:gd name="csX4" fmla="*/ 93720 w 456032"/>
                    <a:gd name="csY4" fmla="*/ 159500 h 459580"/>
                    <a:gd name="csX5" fmla="*/ 2 w 456032"/>
                    <a:gd name="csY5" fmla="*/ 0 h 459580"/>
                    <a:gd name="csX0" fmla="*/ 2 w 456032"/>
                    <a:gd name="csY0" fmla="*/ 0 h 459580"/>
                    <a:gd name="csX1" fmla="*/ 456032 w 456032"/>
                    <a:gd name="csY1" fmla="*/ 0 h 459580"/>
                    <a:gd name="csX2" fmla="*/ 456032 w 456032"/>
                    <a:gd name="csY2" fmla="*/ 459580 h 459580"/>
                    <a:gd name="csX3" fmla="*/ 2 w 456032"/>
                    <a:gd name="csY3" fmla="*/ 459580 h 459580"/>
                    <a:gd name="csX4" fmla="*/ 108007 w 456032"/>
                    <a:gd name="csY4" fmla="*/ 159500 h 459580"/>
                    <a:gd name="csX5" fmla="*/ 2 w 456032"/>
                    <a:gd name="csY5" fmla="*/ 0 h 459580"/>
                    <a:gd name="csX0" fmla="*/ 16671 w 456032"/>
                    <a:gd name="csY0" fmla="*/ 85725 h 459580"/>
                    <a:gd name="csX1" fmla="*/ 456032 w 456032"/>
                    <a:gd name="csY1" fmla="*/ 0 h 459580"/>
                    <a:gd name="csX2" fmla="*/ 456032 w 456032"/>
                    <a:gd name="csY2" fmla="*/ 459580 h 459580"/>
                    <a:gd name="csX3" fmla="*/ 2 w 456032"/>
                    <a:gd name="csY3" fmla="*/ 459580 h 459580"/>
                    <a:gd name="csX4" fmla="*/ 108007 w 456032"/>
                    <a:gd name="csY4" fmla="*/ 159500 h 459580"/>
                    <a:gd name="csX5" fmla="*/ 16671 w 456032"/>
                    <a:gd name="csY5" fmla="*/ 85725 h 459580"/>
                    <a:gd name="csX0" fmla="*/ 16671 w 456032"/>
                    <a:gd name="csY0" fmla="*/ 135732 h 509587"/>
                    <a:gd name="csX1" fmla="*/ 170282 w 456032"/>
                    <a:gd name="csY1" fmla="*/ 0 h 509587"/>
                    <a:gd name="csX2" fmla="*/ 456032 w 456032"/>
                    <a:gd name="csY2" fmla="*/ 509587 h 509587"/>
                    <a:gd name="csX3" fmla="*/ 2 w 456032"/>
                    <a:gd name="csY3" fmla="*/ 509587 h 509587"/>
                    <a:gd name="csX4" fmla="*/ 108007 w 456032"/>
                    <a:gd name="csY4" fmla="*/ 209507 h 509587"/>
                    <a:gd name="csX5" fmla="*/ 16671 w 456032"/>
                    <a:gd name="csY5" fmla="*/ 135732 h 509587"/>
                    <a:gd name="csX0" fmla="*/ 16671 w 456032"/>
                    <a:gd name="csY0" fmla="*/ 135732 h 509587"/>
                    <a:gd name="csX1" fmla="*/ 170282 w 456032"/>
                    <a:gd name="csY1" fmla="*/ 0 h 509587"/>
                    <a:gd name="csX2" fmla="*/ 456032 w 456032"/>
                    <a:gd name="csY2" fmla="*/ 509587 h 509587"/>
                    <a:gd name="csX3" fmla="*/ 2 w 456032"/>
                    <a:gd name="csY3" fmla="*/ 509587 h 509587"/>
                    <a:gd name="csX4" fmla="*/ 108007 w 456032"/>
                    <a:gd name="csY4" fmla="*/ 209507 h 509587"/>
                    <a:gd name="csX5" fmla="*/ 16671 w 456032"/>
                    <a:gd name="csY5" fmla="*/ 135732 h 509587"/>
                    <a:gd name="csX0" fmla="*/ 16671 w 453651"/>
                    <a:gd name="csY0" fmla="*/ 135732 h 511968"/>
                    <a:gd name="csX1" fmla="*/ 170282 w 453651"/>
                    <a:gd name="csY1" fmla="*/ 0 h 511968"/>
                    <a:gd name="csX2" fmla="*/ 453651 w 453651"/>
                    <a:gd name="csY2" fmla="*/ 511968 h 511968"/>
                    <a:gd name="csX3" fmla="*/ 2 w 453651"/>
                    <a:gd name="csY3" fmla="*/ 509587 h 511968"/>
                    <a:gd name="csX4" fmla="*/ 108007 w 453651"/>
                    <a:gd name="csY4" fmla="*/ 209507 h 511968"/>
                    <a:gd name="csX5" fmla="*/ 16671 w 453651"/>
                    <a:gd name="csY5" fmla="*/ 135732 h 511968"/>
                    <a:gd name="csX0" fmla="*/ 16671 w 453651"/>
                    <a:gd name="csY0" fmla="*/ 135732 h 511968"/>
                    <a:gd name="csX1" fmla="*/ 170282 w 453651"/>
                    <a:gd name="csY1" fmla="*/ 0 h 511968"/>
                    <a:gd name="csX2" fmla="*/ 453651 w 453651"/>
                    <a:gd name="csY2" fmla="*/ 511968 h 511968"/>
                    <a:gd name="csX3" fmla="*/ 2 w 453651"/>
                    <a:gd name="csY3" fmla="*/ 509587 h 511968"/>
                    <a:gd name="csX4" fmla="*/ 108007 w 453651"/>
                    <a:gd name="csY4" fmla="*/ 209507 h 511968"/>
                    <a:gd name="csX5" fmla="*/ 16671 w 453651"/>
                    <a:gd name="csY5" fmla="*/ 135732 h 511968"/>
                    <a:gd name="csX0" fmla="*/ 16671 w 460146"/>
                    <a:gd name="csY0" fmla="*/ 237157 h 613393"/>
                    <a:gd name="csX1" fmla="*/ 245891 w 460146"/>
                    <a:gd name="csY1" fmla="*/ 0 h 613393"/>
                    <a:gd name="csX2" fmla="*/ 453651 w 460146"/>
                    <a:gd name="csY2" fmla="*/ 613393 h 613393"/>
                    <a:gd name="csX3" fmla="*/ 2 w 460146"/>
                    <a:gd name="csY3" fmla="*/ 611012 h 613393"/>
                    <a:gd name="csX4" fmla="*/ 108007 w 460146"/>
                    <a:gd name="csY4" fmla="*/ 310932 h 613393"/>
                    <a:gd name="csX5" fmla="*/ 16671 w 460146"/>
                    <a:gd name="csY5" fmla="*/ 237157 h 613393"/>
                    <a:gd name="csX0" fmla="*/ 4857 w 460146"/>
                    <a:gd name="csY0" fmla="*/ 175060 h 613393"/>
                    <a:gd name="csX1" fmla="*/ 245891 w 460146"/>
                    <a:gd name="csY1" fmla="*/ 0 h 613393"/>
                    <a:gd name="csX2" fmla="*/ 453651 w 460146"/>
                    <a:gd name="csY2" fmla="*/ 613393 h 613393"/>
                    <a:gd name="csX3" fmla="*/ 2 w 460146"/>
                    <a:gd name="csY3" fmla="*/ 611012 h 613393"/>
                    <a:gd name="csX4" fmla="*/ 108007 w 460146"/>
                    <a:gd name="csY4" fmla="*/ 310932 h 613393"/>
                    <a:gd name="csX5" fmla="*/ 4857 w 460146"/>
                    <a:gd name="csY5" fmla="*/ 175060 h 613393"/>
                    <a:gd name="csX0" fmla="*/ 4857 w 460146"/>
                    <a:gd name="csY0" fmla="*/ 175060 h 613393"/>
                    <a:gd name="csX1" fmla="*/ 245891 w 460146"/>
                    <a:gd name="csY1" fmla="*/ 0 h 613393"/>
                    <a:gd name="csX2" fmla="*/ 453651 w 460146"/>
                    <a:gd name="csY2" fmla="*/ 613393 h 613393"/>
                    <a:gd name="csX3" fmla="*/ 2 w 460146"/>
                    <a:gd name="csY3" fmla="*/ 611012 h 613393"/>
                    <a:gd name="csX4" fmla="*/ 145812 w 460146"/>
                    <a:gd name="csY4" fmla="*/ 286093 h 613393"/>
                    <a:gd name="csX5" fmla="*/ 4857 w 460146"/>
                    <a:gd name="csY5" fmla="*/ 175060 h 613393"/>
                    <a:gd name="csX0" fmla="*/ 4857 w 476419"/>
                    <a:gd name="csY0" fmla="*/ 175060 h 613393"/>
                    <a:gd name="csX1" fmla="*/ 245891 w 476419"/>
                    <a:gd name="csY1" fmla="*/ 0 h 613393"/>
                    <a:gd name="csX2" fmla="*/ 453651 w 476419"/>
                    <a:gd name="csY2" fmla="*/ 613393 h 613393"/>
                    <a:gd name="csX3" fmla="*/ 2 w 476419"/>
                    <a:gd name="csY3" fmla="*/ 611012 h 613393"/>
                    <a:gd name="csX4" fmla="*/ 145812 w 476419"/>
                    <a:gd name="csY4" fmla="*/ 286093 h 613393"/>
                    <a:gd name="csX5" fmla="*/ 4857 w 476419"/>
                    <a:gd name="csY5" fmla="*/ 175060 h 613393"/>
                    <a:gd name="csX0" fmla="*/ 4855 w 476417"/>
                    <a:gd name="csY0" fmla="*/ 175060 h 613393"/>
                    <a:gd name="csX1" fmla="*/ 245889 w 476417"/>
                    <a:gd name="csY1" fmla="*/ 0 h 613393"/>
                    <a:gd name="csX2" fmla="*/ 453649 w 476417"/>
                    <a:gd name="csY2" fmla="*/ 613393 h 613393"/>
                    <a:gd name="csX3" fmla="*/ 0 w 476417"/>
                    <a:gd name="csY3" fmla="*/ 611012 h 613393"/>
                    <a:gd name="csX4" fmla="*/ 145810 w 476417"/>
                    <a:gd name="csY4" fmla="*/ 286093 h 613393"/>
                    <a:gd name="csX5" fmla="*/ 4855 w 476417"/>
                    <a:gd name="csY5" fmla="*/ 175060 h 613393"/>
                    <a:gd name="csX0" fmla="*/ 4855 w 476417"/>
                    <a:gd name="csY0" fmla="*/ 175060 h 613393"/>
                    <a:gd name="csX1" fmla="*/ 245889 w 476417"/>
                    <a:gd name="csY1" fmla="*/ 0 h 613393"/>
                    <a:gd name="csX2" fmla="*/ 453649 w 476417"/>
                    <a:gd name="csY2" fmla="*/ 613393 h 613393"/>
                    <a:gd name="csX3" fmla="*/ 0 w 476417"/>
                    <a:gd name="csY3" fmla="*/ 611012 h 613393"/>
                    <a:gd name="csX4" fmla="*/ 145810 w 476417"/>
                    <a:gd name="csY4" fmla="*/ 286093 h 613393"/>
                    <a:gd name="csX5" fmla="*/ 4855 w 476417"/>
                    <a:gd name="csY5" fmla="*/ 175060 h 613393"/>
                    <a:gd name="csX0" fmla="*/ 4855 w 504792"/>
                    <a:gd name="csY0" fmla="*/ 175060 h 613393"/>
                    <a:gd name="csX1" fmla="*/ 245889 w 504792"/>
                    <a:gd name="csY1" fmla="*/ 0 h 613393"/>
                    <a:gd name="csX2" fmla="*/ 472634 w 504792"/>
                    <a:gd name="csY2" fmla="*/ 196659 h 613393"/>
                    <a:gd name="csX3" fmla="*/ 453649 w 504792"/>
                    <a:gd name="csY3" fmla="*/ 613393 h 613393"/>
                    <a:gd name="csX4" fmla="*/ 0 w 504792"/>
                    <a:gd name="csY4" fmla="*/ 611012 h 613393"/>
                    <a:gd name="csX5" fmla="*/ 145810 w 504792"/>
                    <a:gd name="csY5" fmla="*/ 286093 h 613393"/>
                    <a:gd name="csX6" fmla="*/ 4855 w 504792"/>
                    <a:gd name="csY6" fmla="*/ 175060 h 613393"/>
                    <a:gd name="csX0" fmla="*/ 4855 w 505667"/>
                    <a:gd name="csY0" fmla="*/ 175060 h 613393"/>
                    <a:gd name="csX1" fmla="*/ 245889 w 505667"/>
                    <a:gd name="csY1" fmla="*/ 0 h 613393"/>
                    <a:gd name="csX2" fmla="*/ 472634 w 505667"/>
                    <a:gd name="csY2" fmla="*/ 196659 h 613393"/>
                    <a:gd name="csX3" fmla="*/ 453649 w 505667"/>
                    <a:gd name="csY3" fmla="*/ 613393 h 613393"/>
                    <a:gd name="csX4" fmla="*/ 0 w 505667"/>
                    <a:gd name="csY4" fmla="*/ 611012 h 613393"/>
                    <a:gd name="csX5" fmla="*/ 145810 w 505667"/>
                    <a:gd name="csY5" fmla="*/ 286093 h 613393"/>
                    <a:gd name="csX6" fmla="*/ 4855 w 505667"/>
                    <a:gd name="csY6" fmla="*/ 175060 h 613393"/>
                    <a:gd name="csX0" fmla="*/ 4855 w 489075"/>
                    <a:gd name="csY0" fmla="*/ 175060 h 613393"/>
                    <a:gd name="csX1" fmla="*/ 245889 w 489075"/>
                    <a:gd name="csY1" fmla="*/ 0 h 613393"/>
                    <a:gd name="csX2" fmla="*/ 472634 w 489075"/>
                    <a:gd name="csY2" fmla="*/ 196659 h 613393"/>
                    <a:gd name="csX3" fmla="*/ 453649 w 489075"/>
                    <a:gd name="csY3" fmla="*/ 613393 h 613393"/>
                    <a:gd name="csX4" fmla="*/ 0 w 489075"/>
                    <a:gd name="csY4" fmla="*/ 611012 h 613393"/>
                    <a:gd name="csX5" fmla="*/ 145810 w 489075"/>
                    <a:gd name="csY5" fmla="*/ 286093 h 613393"/>
                    <a:gd name="csX6" fmla="*/ 4855 w 489075"/>
                    <a:gd name="csY6" fmla="*/ 175060 h 613393"/>
                    <a:gd name="csX0" fmla="*/ 4855 w 472634"/>
                    <a:gd name="csY0" fmla="*/ 175060 h 613393"/>
                    <a:gd name="csX1" fmla="*/ 245889 w 472634"/>
                    <a:gd name="csY1" fmla="*/ 0 h 613393"/>
                    <a:gd name="csX2" fmla="*/ 472634 w 472634"/>
                    <a:gd name="csY2" fmla="*/ 196659 h 613393"/>
                    <a:gd name="csX3" fmla="*/ 453649 w 472634"/>
                    <a:gd name="csY3" fmla="*/ 613393 h 613393"/>
                    <a:gd name="csX4" fmla="*/ 0 w 472634"/>
                    <a:gd name="csY4" fmla="*/ 611012 h 613393"/>
                    <a:gd name="csX5" fmla="*/ 145810 w 472634"/>
                    <a:gd name="csY5" fmla="*/ 286093 h 613393"/>
                    <a:gd name="csX6" fmla="*/ 4855 w 472634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45810 w 508075"/>
                    <a:gd name="csY5" fmla="*/ 286093 h 613393"/>
                    <a:gd name="csX6" fmla="*/ 4855 w 508075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45810 w 508075"/>
                    <a:gd name="csY5" fmla="*/ 286093 h 613393"/>
                    <a:gd name="csX6" fmla="*/ 4855 w 508075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45810 w 508075"/>
                    <a:gd name="csY5" fmla="*/ 286093 h 613393"/>
                    <a:gd name="csX6" fmla="*/ 4855 w 508075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45810 w 508075"/>
                    <a:gd name="csY5" fmla="*/ 286093 h 613393"/>
                    <a:gd name="csX6" fmla="*/ 4855 w 508075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85977 w 508075"/>
                    <a:gd name="csY5" fmla="*/ 314029 h 613393"/>
                    <a:gd name="csX6" fmla="*/ 4855 w 508075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85977 w 508075"/>
                    <a:gd name="csY5" fmla="*/ 314029 h 613393"/>
                    <a:gd name="csX6" fmla="*/ 4855 w 508075"/>
                    <a:gd name="csY6" fmla="*/ 175060 h 613393"/>
                    <a:gd name="csX0" fmla="*/ 4855 w 508075"/>
                    <a:gd name="csY0" fmla="*/ 175060 h 613393"/>
                    <a:gd name="csX1" fmla="*/ 245889 w 508075"/>
                    <a:gd name="csY1" fmla="*/ 0 h 613393"/>
                    <a:gd name="csX2" fmla="*/ 508075 w 508075"/>
                    <a:gd name="csY2" fmla="*/ 283596 h 613393"/>
                    <a:gd name="csX3" fmla="*/ 453649 w 508075"/>
                    <a:gd name="csY3" fmla="*/ 613393 h 613393"/>
                    <a:gd name="csX4" fmla="*/ 0 w 508075"/>
                    <a:gd name="csY4" fmla="*/ 611012 h 613393"/>
                    <a:gd name="csX5" fmla="*/ 185977 w 508075"/>
                    <a:gd name="csY5" fmla="*/ 314029 h 613393"/>
                    <a:gd name="csX6" fmla="*/ 4855 w 508075"/>
                    <a:gd name="csY6" fmla="*/ 175060 h 6133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508075" h="613393">
                      <a:moveTo>
                        <a:pt x="4855" y="175060"/>
                      </a:moveTo>
                      <a:lnTo>
                        <a:pt x="245889" y="0"/>
                      </a:lnTo>
                      <a:cubicBezTo>
                        <a:pt x="392373" y="119169"/>
                        <a:pt x="473448" y="181364"/>
                        <a:pt x="508075" y="283596"/>
                      </a:cubicBezTo>
                      <a:cubicBezTo>
                        <a:pt x="457643" y="611448"/>
                        <a:pt x="511157" y="285251"/>
                        <a:pt x="453649" y="613393"/>
                      </a:cubicBezTo>
                      <a:lnTo>
                        <a:pt x="0" y="611012"/>
                      </a:lnTo>
                      <a:cubicBezTo>
                        <a:pt x="183785" y="319052"/>
                        <a:pt x="-172" y="612594"/>
                        <a:pt x="185977" y="314029"/>
                      </a:cubicBezTo>
                      <a:lnTo>
                        <a:pt x="4855" y="175060"/>
                      </a:lnTo>
                      <a:close/>
                    </a:path>
                  </a:pathLst>
                </a:custGeom>
                <a:solidFill>
                  <a:srgbClr val="EC6D4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8" name="Ovale 37">
                  <a:extLst>
                    <a:ext uri="{FF2B5EF4-FFF2-40B4-BE49-F238E27FC236}">
                      <a16:creationId xmlns:a16="http://schemas.microsoft.com/office/drawing/2014/main" id="{8D2902AE-0502-494A-78B4-FDFC8D9CB4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74028" y="2507538"/>
                  <a:ext cx="504000" cy="504000"/>
                </a:xfrm>
                <a:prstGeom prst="ellipse">
                  <a:avLst/>
                </a:prstGeom>
                <a:solidFill>
                  <a:schemeClr val="bg1"/>
                </a:solidFill>
                <a:ln w="101600">
                  <a:solidFill>
                    <a:srgbClr val="23243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9" name="Ovale 38">
                  <a:extLst>
                    <a:ext uri="{FF2B5EF4-FFF2-40B4-BE49-F238E27FC236}">
                      <a16:creationId xmlns:a16="http://schemas.microsoft.com/office/drawing/2014/main" id="{8D030A36-E6D6-0582-C50F-560D6A02C1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946348" y="2572854"/>
                  <a:ext cx="360000" cy="360000"/>
                </a:xfrm>
                <a:prstGeom prst="ellipse">
                  <a:avLst/>
                </a:prstGeom>
                <a:solidFill>
                  <a:srgbClr val="23243A"/>
                </a:solidFill>
                <a:ln w="101600">
                  <a:solidFill>
                    <a:srgbClr val="EC6D4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0" name="Ovale 39">
                  <a:extLst>
                    <a:ext uri="{FF2B5EF4-FFF2-40B4-BE49-F238E27FC236}">
                      <a16:creationId xmlns:a16="http://schemas.microsoft.com/office/drawing/2014/main" id="{7C723E10-FE0A-1E38-8228-0106F51657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67749" y="2038348"/>
                  <a:ext cx="360000" cy="360000"/>
                </a:xfrm>
                <a:prstGeom prst="ellipse">
                  <a:avLst/>
                </a:prstGeom>
                <a:solidFill>
                  <a:srgbClr val="23243A"/>
                </a:solidFill>
                <a:ln w="101600">
                  <a:solidFill>
                    <a:srgbClr val="EC6D4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Ovale 40">
                  <a:extLst>
                    <a:ext uri="{FF2B5EF4-FFF2-40B4-BE49-F238E27FC236}">
                      <a16:creationId xmlns:a16="http://schemas.microsoft.com/office/drawing/2014/main" id="{A2AE14F6-94C0-EFD1-3EC8-D753A266DDB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379351" y="2989636"/>
                  <a:ext cx="144000" cy="144000"/>
                </a:xfrm>
                <a:prstGeom prst="ellipse">
                  <a:avLst/>
                </a:prstGeom>
                <a:solidFill>
                  <a:srgbClr val="23243A"/>
                </a:solidFill>
                <a:ln w="1016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9" name="Rectangle 15">
                <a:extLst>
                  <a:ext uri="{FF2B5EF4-FFF2-40B4-BE49-F238E27FC236}">
                    <a16:creationId xmlns:a16="http://schemas.microsoft.com/office/drawing/2014/main" id="{CACE006F-36DB-2605-EF3D-F4A1A1B781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1456" y="1636267"/>
                <a:ext cx="3438442" cy="20005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0" b="1" i="0" u="none" strike="noStrike" cap="none" normalizeH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 Bahnschrift Bold"/>
                  </a:rPr>
                  <a:t>ALIX</a:t>
                </a:r>
                <a:endParaRPr kumimoji="0" lang="en-US" altLang="en-US" sz="13000" b="0" i="0" u="none" strike="noStrike" cap="none" normalizeH="0" dirty="0">
                  <a:ln>
                    <a:noFill/>
                  </a:ln>
                  <a:solidFill>
                    <a:schemeClr val="bg1"/>
                  </a:solidFill>
                  <a:effectLst/>
                  <a:latin typeface=" Bahnschrift Bold"/>
                </a:endParaRPr>
              </a:p>
            </p:txBody>
          </p:sp>
          <p:sp>
            <p:nvSpPr>
              <p:cNvPr id="30" name="Rectangle 25">
                <a:extLst>
                  <a:ext uri="{FF2B5EF4-FFF2-40B4-BE49-F238E27FC236}">
                    <a16:creationId xmlns:a16="http://schemas.microsoft.com/office/drawing/2014/main" id="{24589C86-62CE-ACC4-6A5C-F147B87D3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3124" y="3371790"/>
                <a:ext cx="351538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600" b="0" i="0" u="none" strike="noStrike" cap="none" normalizeH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 Bahnschrift Bold"/>
                  </a:rPr>
                  <a:t>ADVANCED PLATFORM </a:t>
                </a:r>
                <a:endParaRPr kumimoji="0" lang="en-US" altLang="en-US" sz="1800" b="0" i="0" u="none" strike="noStrike" cap="none" normalizeH="0" dirty="0">
                  <a:ln>
                    <a:noFill/>
                  </a:ln>
                  <a:solidFill>
                    <a:schemeClr val="bg1"/>
                  </a:solidFill>
                  <a:effectLst/>
                  <a:latin typeface=" Bahnschrift Bold"/>
                </a:endParaRPr>
              </a:p>
            </p:txBody>
          </p:sp>
          <p:sp>
            <p:nvSpPr>
              <p:cNvPr id="31" name="Rectangle 26">
                <a:extLst>
                  <a:ext uri="{FF2B5EF4-FFF2-40B4-BE49-F238E27FC236}">
                    <a16:creationId xmlns:a16="http://schemas.microsoft.com/office/drawing/2014/main" id="{066A7805-E0BC-B7A0-4105-03C8D3CD29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3124" y="3768665"/>
                <a:ext cx="2930289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600" b="0" i="0" u="none" strike="noStrike" cap="none" normalizeH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 Bahnschrift Bold"/>
                  </a:rPr>
                  <a:t>FOR INDUSTRY X.0  </a:t>
                </a:r>
                <a:endParaRPr kumimoji="0" lang="en-US" altLang="en-US" sz="1800" b="0" i="0" u="none" strike="noStrike" cap="none" normalizeH="0" dirty="0">
                  <a:ln>
                    <a:noFill/>
                  </a:ln>
                  <a:solidFill>
                    <a:schemeClr val="bg1"/>
                  </a:solidFill>
                  <a:effectLst/>
                  <a:latin typeface=" Bahnschrift Bold"/>
                </a:endParaRPr>
              </a:p>
            </p:txBody>
          </p:sp>
        </p:grpSp>
        <p:sp>
          <p:nvSpPr>
            <p:cNvPr id="27" name="Rettangolo 26">
              <a:extLst>
                <a:ext uri="{FF2B5EF4-FFF2-40B4-BE49-F238E27FC236}">
                  <a16:creationId xmlns:a16="http://schemas.microsoft.com/office/drawing/2014/main" id="{74092A03-E3ED-982D-FCAA-09BCA18CA33C}"/>
                </a:ext>
              </a:extLst>
            </p:cNvPr>
            <p:cNvSpPr/>
            <p:nvPr/>
          </p:nvSpPr>
          <p:spPr>
            <a:xfrm rot="18883164">
              <a:off x="3154964" y="2348589"/>
              <a:ext cx="462757" cy="255518"/>
            </a:xfrm>
            <a:prstGeom prst="rect">
              <a:avLst/>
            </a:prstGeom>
            <a:solidFill>
              <a:srgbClr val="EC6D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43" name="Image 3">
            <a:extLst>
              <a:ext uri="{FF2B5EF4-FFF2-40B4-BE49-F238E27FC236}">
                <a16:creationId xmlns:a16="http://schemas.microsoft.com/office/drawing/2014/main" id="{E18C8299-D25C-FEE6-C99A-2A00F4CBDD1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9" t="4214" b="67642"/>
          <a:stretch>
            <a:fillRect/>
          </a:stretch>
        </p:blipFill>
        <p:spPr>
          <a:xfrm>
            <a:off x="15292201" y="27262791"/>
            <a:ext cx="7094061" cy="3004484"/>
          </a:xfrm>
          <a:prstGeom prst="rect">
            <a:avLst/>
          </a:prstGeom>
        </p:spPr>
      </p:pic>
      <p:sp>
        <p:nvSpPr>
          <p:cNvPr id="45" name="Rectangle 4">
            <a:extLst>
              <a:ext uri="{FF2B5EF4-FFF2-40B4-BE49-F238E27FC236}">
                <a16:creationId xmlns:a16="http://schemas.microsoft.com/office/drawing/2014/main" id="{F0792452-8B62-60CB-ED47-FE031DE89006}"/>
              </a:ext>
            </a:extLst>
          </p:cNvPr>
          <p:cNvSpPr/>
          <p:nvPr userDrawn="1"/>
        </p:nvSpPr>
        <p:spPr>
          <a:xfrm rot="10800000" flipV="1">
            <a:off x="-1" y="27261569"/>
            <a:ext cx="15292201" cy="3005706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98210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28723" rtl="0" eaLnBrk="1" latinLnBrk="0" hangingPunct="1">
        <a:lnSpc>
          <a:spcPct val="90000"/>
        </a:lnSpc>
        <a:spcBef>
          <a:spcPct val="0"/>
        </a:spcBef>
        <a:buNone/>
        <a:defRPr sz="102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2181" indent="-532181" algn="l" defTabSz="2128723" rtl="0" eaLnBrk="1" latinLnBrk="0" hangingPunct="1">
        <a:lnSpc>
          <a:spcPct val="90000"/>
        </a:lnSpc>
        <a:spcBef>
          <a:spcPts val="2328"/>
        </a:spcBef>
        <a:buFont typeface="Arial" panose="020B0604020202020204" pitchFamily="34" charset="0"/>
        <a:buChar char="•"/>
        <a:defRPr sz="6518" kern="1200">
          <a:solidFill>
            <a:schemeClr val="tx1"/>
          </a:solidFill>
          <a:latin typeface="+mn-lt"/>
          <a:ea typeface="+mn-ea"/>
          <a:cs typeface="+mn-cs"/>
        </a:defRPr>
      </a:lvl1pPr>
      <a:lvl2pPr marL="1596542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5587" kern="1200">
          <a:solidFill>
            <a:schemeClr val="tx1"/>
          </a:solidFill>
          <a:latin typeface="+mn-lt"/>
          <a:ea typeface="+mn-ea"/>
          <a:cs typeface="+mn-cs"/>
        </a:defRPr>
      </a:lvl2pPr>
      <a:lvl3pPr marL="2660904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656" kern="1200">
          <a:solidFill>
            <a:schemeClr val="tx1"/>
          </a:solidFill>
          <a:latin typeface="+mn-lt"/>
          <a:ea typeface="+mn-ea"/>
          <a:cs typeface="+mn-cs"/>
        </a:defRPr>
      </a:lvl3pPr>
      <a:lvl4pPr marL="3725266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190" kern="1200">
          <a:solidFill>
            <a:schemeClr val="tx1"/>
          </a:solidFill>
          <a:latin typeface="+mn-lt"/>
          <a:ea typeface="+mn-ea"/>
          <a:cs typeface="+mn-cs"/>
        </a:defRPr>
      </a:lvl4pPr>
      <a:lvl5pPr marL="4789627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190" kern="1200">
          <a:solidFill>
            <a:schemeClr val="tx1"/>
          </a:solidFill>
          <a:latin typeface="+mn-lt"/>
          <a:ea typeface="+mn-ea"/>
          <a:cs typeface="+mn-cs"/>
        </a:defRPr>
      </a:lvl5pPr>
      <a:lvl6pPr marL="5853989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190" kern="1200">
          <a:solidFill>
            <a:schemeClr val="tx1"/>
          </a:solidFill>
          <a:latin typeface="+mn-lt"/>
          <a:ea typeface="+mn-ea"/>
          <a:cs typeface="+mn-cs"/>
        </a:defRPr>
      </a:lvl6pPr>
      <a:lvl7pPr marL="6918350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190" kern="1200">
          <a:solidFill>
            <a:schemeClr val="tx1"/>
          </a:solidFill>
          <a:latin typeface="+mn-lt"/>
          <a:ea typeface="+mn-ea"/>
          <a:cs typeface="+mn-cs"/>
        </a:defRPr>
      </a:lvl7pPr>
      <a:lvl8pPr marL="7982712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190" kern="1200">
          <a:solidFill>
            <a:schemeClr val="tx1"/>
          </a:solidFill>
          <a:latin typeface="+mn-lt"/>
          <a:ea typeface="+mn-ea"/>
          <a:cs typeface="+mn-cs"/>
        </a:defRPr>
      </a:lvl8pPr>
      <a:lvl9pPr marL="9047074" indent="-532181" algn="l" defTabSz="2128723" rtl="0" eaLnBrk="1" latinLnBrk="0" hangingPunct="1">
        <a:lnSpc>
          <a:spcPct val="90000"/>
        </a:lnSpc>
        <a:spcBef>
          <a:spcPts val="1164"/>
        </a:spcBef>
        <a:buFont typeface="Arial" panose="020B0604020202020204" pitchFamily="34" charset="0"/>
        <a:buChar char="•"/>
        <a:defRPr sz="41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1pPr>
      <a:lvl2pPr marL="1064362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2pPr>
      <a:lvl3pPr marL="2128723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3pPr>
      <a:lvl4pPr marL="3193085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4pPr>
      <a:lvl5pPr marL="4257446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5pPr>
      <a:lvl6pPr marL="5321808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6pPr>
      <a:lvl7pPr marL="6386170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7pPr>
      <a:lvl8pPr marL="7450531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8pPr>
      <a:lvl9pPr marL="8514893" algn="l" defTabSz="2128723" rtl="0" eaLnBrk="1" latinLnBrk="0" hangingPunct="1">
        <a:defRPr sz="41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3" userDrawn="1">
          <p15:clr>
            <a:srgbClr val="F26B43"/>
          </p15:clr>
        </p15:guide>
        <p15:guide id="2" pos="670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FC0736-008A-81B0-774C-ADF6058C1A94}"/>
              </a:ext>
            </a:extLst>
          </p:cNvPr>
          <p:cNvSpPr/>
          <p:nvPr/>
        </p:nvSpPr>
        <p:spPr>
          <a:xfrm rot="10800000" flipV="1">
            <a:off x="0" y="27279600"/>
            <a:ext cx="15481300" cy="2987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fr-FR" sz="2700" b="1" dirty="0"/>
              <a:t>Auteurs — Niko Khachidze · Alexandre Nowak · Luc Fantasia</a:t>
            </a:r>
          </a:p>
          <a:p>
            <a:pPr marL="360000"/>
            <a:r>
              <a:rPr lang="fr-FR" sz="2700" dirty="0"/>
              <a:t>Commanditaires — ISAE-SUPMÉCA (ligne ALIX) · Encadrants : F. Ciampi, T. Diallo · PRBE 2026 (sujet #47)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36CDA48-36B8-0FAE-61DA-DAE4A3A89282}"/>
              </a:ext>
            </a:extLst>
          </p:cNvPr>
          <p:cNvSpPr/>
          <p:nvPr/>
        </p:nvSpPr>
        <p:spPr>
          <a:xfrm rot="10800000" flipV="1">
            <a:off x="3610706" y="0"/>
            <a:ext cx="11133994" cy="3276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7200" b="1" dirty="0"/>
              <a:t>MIROIR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000" y="3366000"/>
            <a:ext cx="19990788" cy="6660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5875">
            <a:solidFill>
              <a:srgbClr val="2B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3366000"/>
            <a:ext cx="19702788" cy="666000"/>
          </a:xfrm>
          <a:prstGeom prst="rect">
            <a:avLst/>
          </a:prstGeom>
          <a:noFill/>
        </p:spPr>
        <p:txBody>
          <a:bodyPr wrap="square" lIns="18000" rIns="18000" tIns="7200" bIns="72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2001A"/>
                </a:solidFill>
                <a:latin typeface="Aptos"/>
              </a:rPr>
              <a:t>M</a:t>
            </a:r>
            <a:r>
              <a:rPr sz="2500" b="1" i="0">
                <a:solidFill>
                  <a:srgbClr val="2B2D44"/>
                </a:solidFill>
                <a:latin typeface="Aptos"/>
              </a:rPr>
              <a:t>ouvement humain et </a:t>
            </a:r>
            <a:r>
              <a:rPr sz="2500" b="1" i="0">
                <a:solidFill>
                  <a:srgbClr val="E2001A"/>
                </a:solidFill>
                <a:latin typeface="Aptos"/>
              </a:rPr>
              <a:t>I</a:t>
            </a:r>
            <a:r>
              <a:rPr sz="2500" b="1" i="0">
                <a:solidFill>
                  <a:srgbClr val="2B2D44"/>
                </a:solidFill>
                <a:latin typeface="Aptos"/>
              </a:rPr>
              <a:t>nteraction homme‑</a:t>
            </a:r>
            <a:r>
              <a:rPr sz="2500" b="1" i="0">
                <a:solidFill>
                  <a:srgbClr val="E2001A"/>
                </a:solidFill>
                <a:latin typeface="Aptos"/>
              </a:rPr>
              <a:t>R</a:t>
            </a:r>
            <a:r>
              <a:rPr sz="2500" b="1" i="0">
                <a:solidFill>
                  <a:srgbClr val="2B2D44"/>
                </a:solidFill>
                <a:latin typeface="Aptos"/>
              </a:rPr>
              <a:t>obot — un </a:t>
            </a:r>
            <a:r>
              <a:rPr sz="2500" b="1" i="0">
                <a:solidFill>
                  <a:srgbClr val="E2001A"/>
                </a:solidFill>
                <a:latin typeface="Aptos"/>
              </a:rPr>
              <a:t>O</a:t>
            </a:r>
            <a:r>
              <a:rPr sz="2500" b="1" i="0">
                <a:solidFill>
                  <a:srgbClr val="2B2D44"/>
                </a:solidFill>
                <a:latin typeface="Aptos"/>
              </a:rPr>
              <a:t>pérateur </a:t>
            </a:r>
            <a:r>
              <a:rPr sz="2500" b="1" i="0">
                <a:solidFill>
                  <a:srgbClr val="E2001A"/>
                </a:solidFill>
                <a:latin typeface="Aptos"/>
              </a:rPr>
              <a:t>I</a:t>
            </a:r>
            <a:r>
              <a:rPr sz="2500" b="1" i="0">
                <a:solidFill>
                  <a:srgbClr val="2B2D44"/>
                </a:solidFill>
                <a:latin typeface="Aptos"/>
              </a:rPr>
              <a:t>ntégré dans </a:t>
            </a:r>
            <a:r>
              <a:rPr sz="2500" b="1" i="0">
                <a:solidFill>
                  <a:srgbClr val="E2001A"/>
                </a:solidFill>
                <a:latin typeface="Aptos"/>
              </a:rPr>
              <a:t>R</a:t>
            </a:r>
            <a:r>
              <a:rPr sz="2500" b="1" i="0">
                <a:solidFill>
                  <a:srgbClr val="2B2D44"/>
                </a:solidFill>
                <a:latin typeface="Aptos"/>
              </a:rPr>
              <a:t>oboDK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000" y="4212000"/>
            <a:ext cx="19990788" cy="576000"/>
          </a:xfrm>
          <a:prstGeom prst="rect">
            <a:avLst/>
          </a:prstGeom>
          <a:solidFill>
            <a:srgbClr val="2B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72000" tIns="7200" bIns="7200"/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1 · Contexte &amp; objectif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" y="4212000"/>
            <a:ext cx="125999" cy="576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8000" y="4896000"/>
            <a:ext cx="19990788" cy="9720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5875">
            <a:solidFill>
              <a:srgbClr val="2B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8000" y="4896000"/>
            <a:ext cx="125999" cy="972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4968000"/>
            <a:ext cx="19594788" cy="828000"/>
          </a:xfrm>
          <a:prstGeom prst="rect">
            <a:avLst/>
          </a:prstGeom>
          <a:noFill/>
        </p:spPr>
        <p:txBody>
          <a:bodyPr wrap="square" lIns="18000" rIns="18000" tIns="7200" bIns="72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2B2D44"/>
                </a:solidFill>
                <a:latin typeface="Aptos"/>
              </a:rPr>
              <a:t>Le verrou :</a:t>
            </a:r>
            <a:r>
              <a:rPr sz="2000" b="1" i="0">
                <a:solidFill>
                  <a:srgbClr val="2B2D44"/>
                </a:solidFill>
                <a:latin typeface="Aptos"/>
              </a:rPr>
              <a:t> RoboDK modélise finement les robots mais n'offre </a:t>
            </a:r>
            <a:r>
              <a:rPr sz="2000" b="1" i="1">
                <a:solidFill>
                  <a:srgbClr val="2B2D44"/>
                </a:solidFill>
                <a:latin typeface="Aptos"/>
              </a:rPr>
              <a:t>aucun modèle humain pilotable</a:t>
            </a:r>
            <a:r>
              <a:rPr sz="2000" b="1" i="0">
                <a:solidFill>
                  <a:srgbClr val="2B2D44"/>
                </a:solidFill>
                <a:latin typeface="Aptos"/>
              </a:rPr>
              <a:t>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222C"/>
                </a:solidFill>
                <a:latin typeface="Aptos"/>
              </a:rPr>
              <a:t>Objectif :</a:t>
            </a:r>
            <a:r>
              <a:rPr sz="1700" b="0" i="0">
                <a:solidFill>
                  <a:srgbClr val="20222C"/>
                </a:solidFill>
                <a:latin typeface="Aptos"/>
              </a:rPr>
              <a:t> reconstruire un </a:t>
            </a:r>
            <a:r>
              <a:rPr sz="1700" b="1" i="0">
                <a:solidFill>
                  <a:srgbClr val="E2001A"/>
                </a:solidFill>
                <a:latin typeface="Aptos"/>
              </a:rPr>
              <a:t>opérateur articulé à 22 degrés de liberté</a:t>
            </a:r>
            <a:r>
              <a:rPr sz="1700" b="0" i="0">
                <a:solidFill>
                  <a:srgbClr val="20222C"/>
                </a:solidFill>
                <a:latin typeface="Aptos"/>
              </a:rPr>
              <a:t>, capable de </a:t>
            </a:r>
            <a:r>
              <a:rPr sz="1700" b="1" i="0">
                <a:solidFill>
                  <a:srgbClr val="20222C"/>
                </a:solidFill>
                <a:latin typeface="Aptos"/>
              </a:rPr>
              <a:t>marcher</a:t>
            </a:r>
            <a:r>
              <a:rPr sz="1700" b="0" i="0">
                <a:solidFill>
                  <a:srgbClr val="20222C"/>
                </a:solidFill>
                <a:latin typeface="Aptos"/>
              </a:rPr>
              <a:t> et de </a:t>
            </a:r>
            <a:r>
              <a:rPr sz="1700" b="1" i="0">
                <a:solidFill>
                  <a:srgbClr val="20222C"/>
                </a:solidFill>
                <a:latin typeface="Aptos"/>
              </a:rPr>
              <a:t>manipuler</a:t>
            </a:r>
            <a:r>
              <a:rPr sz="1700" b="0" i="0">
                <a:solidFill>
                  <a:srgbClr val="20222C"/>
                </a:solidFill>
                <a:latin typeface="Aptos"/>
              </a:rPr>
              <a:t> des pièces, pour simuler l'</a:t>
            </a:r>
            <a:r>
              <a:rPr sz="1700" b="1" i="0">
                <a:solidFill>
                  <a:srgbClr val="20222C"/>
                </a:solidFill>
                <a:latin typeface="Aptos"/>
              </a:rPr>
              <a:t>interaction homme‑robot</a:t>
            </a:r>
            <a:r>
              <a:rPr sz="1700" b="0" i="0">
                <a:solidFill>
                  <a:srgbClr val="20222C"/>
                </a:solidFill>
                <a:latin typeface="Aptos"/>
              </a:rPr>
              <a:t> (sécurité, ergonomie) sur la ligne </a:t>
            </a:r>
            <a:r>
              <a:rPr sz="1700" b="1" i="0">
                <a:solidFill>
                  <a:srgbClr val="20222C"/>
                </a:solidFill>
                <a:latin typeface="Aptos"/>
              </a:rPr>
              <a:t>ALIX</a:t>
            </a:r>
            <a:r>
              <a:rPr sz="1700" b="0" i="0">
                <a:solidFill>
                  <a:srgbClr val="20222C"/>
                </a:solidFill>
                <a:latin typeface="Apto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6030000"/>
            <a:ext cx="9743394" cy="2232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0222C"/>
                </a:solidFill>
                <a:latin typeface="Aptos"/>
              </a:rPr>
              <a:t>Sur la ligne </a:t>
            </a:r>
            <a:r>
              <a:rPr sz="1700" b="1" i="0">
                <a:solidFill>
                  <a:srgbClr val="E2001A"/>
                </a:solidFill>
                <a:latin typeface="Aptos"/>
              </a:rPr>
              <a:t>ALIX</a:t>
            </a:r>
            <a:r>
              <a:rPr sz="1700" b="0" i="0">
                <a:solidFill>
                  <a:srgbClr val="20222C"/>
                </a:solidFill>
                <a:latin typeface="Aptos"/>
              </a:rPr>
              <a:t>, un bras robotisé et un opérateur </a:t>
            </a:r>
            <a:r>
              <a:rPr sz="1700" b="1" i="0">
                <a:solidFill>
                  <a:srgbClr val="20222C"/>
                </a:solidFill>
                <a:latin typeface="Aptos"/>
              </a:rPr>
              <a:t>partagent le même espace</a:t>
            </a:r>
            <a:r>
              <a:rPr sz="1700" b="0" i="0">
                <a:solidFill>
                  <a:srgbClr val="20222C"/>
                </a:solidFill>
                <a:latin typeface="Aptos"/>
              </a:rPr>
              <a:t>. Valider ces interactions est un enjeu de </a:t>
            </a:r>
            <a:r>
              <a:rPr sz="1700" b="1" i="0">
                <a:solidFill>
                  <a:srgbClr val="20222C"/>
                </a:solidFill>
                <a:latin typeface="Aptos"/>
              </a:rPr>
              <a:t>sécurité</a:t>
            </a:r>
            <a:r>
              <a:rPr sz="1700" b="0" i="0">
                <a:solidFill>
                  <a:srgbClr val="20222C"/>
                </a:solidFill>
                <a:latin typeface="Aptos"/>
              </a:rPr>
              <a:t>, d'</a:t>
            </a:r>
            <a:r>
              <a:rPr sz="1700" b="1" i="0">
                <a:solidFill>
                  <a:srgbClr val="20222C"/>
                </a:solidFill>
                <a:latin typeface="Aptos"/>
              </a:rPr>
              <a:t>ergonomie</a:t>
            </a:r>
            <a:r>
              <a:rPr sz="1700" b="0" i="0">
                <a:solidFill>
                  <a:srgbClr val="20222C"/>
                </a:solidFill>
                <a:latin typeface="Aptos"/>
              </a:rPr>
              <a:t> et d'</a:t>
            </a:r>
            <a:r>
              <a:rPr sz="1700" b="1" i="0">
                <a:solidFill>
                  <a:srgbClr val="20222C"/>
                </a:solidFill>
                <a:latin typeface="Aptos"/>
              </a:rPr>
              <a:t>efficacité</a:t>
            </a:r>
            <a:r>
              <a:rPr sz="1700" b="0" i="0">
                <a:solidFill>
                  <a:srgbClr val="20222C"/>
                </a:solidFill>
                <a:latin typeface="Aptos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222C"/>
                </a:solidFill>
                <a:latin typeface="Aptos"/>
              </a:rPr>
              <a:t>Mais RoboDK ne propose </a:t>
            </a:r>
            <a:r>
              <a:rPr sz="1700" b="1" i="0">
                <a:solidFill>
                  <a:srgbClr val="20222C"/>
                </a:solidFill>
                <a:latin typeface="Aptos"/>
              </a:rPr>
              <a:t>aucun modèle humain cinématique pilotable</a:t>
            </a:r>
            <a:r>
              <a:rPr sz="1700" b="0" i="0">
                <a:solidFill>
                  <a:srgbClr val="20222C"/>
                </a:solidFill>
                <a:latin typeface="Aptos"/>
              </a:rPr>
              <a:t> : il faut le </a:t>
            </a:r>
            <a:r>
              <a:rPr sz="1700" b="1" i="0">
                <a:solidFill>
                  <a:srgbClr val="20222C"/>
                </a:solidFill>
                <a:latin typeface="Aptos"/>
              </a:rPr>
              <a:t>construire</a:t>
            </a:r>
            <a:r>
              <a:rPr sz="1700" b="0" i="0">
                <a:solidFill>
                  <a:srgbClr val="20222C"/>
                </a:solidFill>
                <a:latin typeface="Aptos"/>
              </a:rPr>
              <a:t> de toutes pièces.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95394" y="6030000"/>
            <a:ext cx="9743394" cy="378000"/>
          </a:xfrm>
          <a:prstGeom prst="roundRect">
            <a:avLst>
              <a:gd name="adj" fmla="val 12000"/>
            </a:avLst>
          </a:prstGeom>
          <a:solidFill>
            <a:srgbClr val="F1F3F8"/>
          </a:solidFill>
          <a:ln w="12700">
            <a:solidFill>
              <a:srgbClr val="C8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72000" tIns="7200" bIns="7200"/>
          <a:lstStyle/>
          <a:p>
            <a:pPr algn="ctr"/>
            <a:r>
              <a:rPr sz="1800" b="1">
                <a:solidFill>
                  <a:srgbClr val="2B2D44"/>
                </a:solidFill>
                <a:latin typeface="Aptos"/>
              </a:rPr>
              <a:t>Objectifs du projet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95394" y="6030000"/>
            <a:ext cx="79200" cy="37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95394" y="6480000"/>
            <a:ext cx="9743394" cy="1800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2001A"/>
                </a:solidFill>
                <a:latin typeface="Aptos"/>
              </a:rPr>
              <a:t>▸  </a:t>
            </a:r>
            <a:r>
              <a:rPr sz="1700" b="0" i="0">
                <a:solidFill>
                  <a:srgbClr val="20222C"/>
                </a:solidFill>
                <a:latin typeface="Aptos"/>
              </a:rPr>
              <a:t>Modèle cinématique simplifié de l'opérateur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2001A"/>
                </a:solidFill>
                <a:latin typeface="Aptos"/>
              </a:rPr>
              <a:t>▸  </a:t>
            </a:r>
            <a:r>
              <a:rPr sz="1700" b="0" i="0">
                <a:solidFill>
                  <a:srgbClr val="20222C"/>
                </a:solidFill>
                <a:latin typeface="Aptos"/>
              </a:rPr>
              <a:t>Locomotion — membres inférieurs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2001A"/>
                </a:solidFill>
                <a:latin typeface="Aptos"/>
              </a:rPr>
              <a:t>▸  </a:t>
            </a:r>
            <a:r>
              <a:rPr sz="1700" b="0" i="0">
                <a:solidFill>
                  <a:srgbClr val="20222C"/>
                </a:solidFill>
                <a:latin typeface="Aptos"/>
              </a:rPr>
              <a:t>Manipulation — membres supérieurs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2001A"/>
                </a:solidFill>
                <a:latin typeface="Aptos"/>
              </a:rPr>
              <a:t>▸  </a:t>
            </a:r>
            <a:r>
              <a:rPr sz="1700" b="0" i="0">
                <a:solidFill>
                  <a:srgbClr val="20222C"/>
                </a:solidFill>
                <a:latin typeface="Aptos"/>
              </a:rPr>
              <a:t>Scénarios d'interaction homme‑robot (sécurité &amp; ergonomie)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8000" y="8532000"/>
            <a:ext cx="19990788" cy="576000"/>
          </a:xfrm>
          <a:prstGeom prst="rect">
            <a:avLst/>
          </a:prstGeom>
          <a:solidFill>
            <a:srgbClr val="2B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72000" tIns="7200" bIns="7200"/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2 · Modèle conceptuel &amp; développement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" y="8532000"/>
            <a:ext cx="125999" cy="576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8000" y="9234000"/>
            <a:ext cx="9743394" cy="378000"/>
          </a:xfrm>
          <a:prstGeom prst="roundRect">
            <a:avLst>
              <a:gd name="adj" fmla="val 12000"/>
            </a:avLst>
          </a:prstGeom>
          <a:solidFill>
            <a:srgbClr val="F1F3F8"/>
          </a:solidFill>
          <a:ln w="12700">
            <a:solidFill>
              <a:srgbClr val="C8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72000" tIns="7200" bIns="7200"/>
          <a:lstStyle/>
          <a:p>
            <a:pPr algn="ctr"/>
            <a:r>
              <a:rPr sz="1800" b="1">
                <a:solidFill>
                  <a:srgbClr val="2B2D44"/>
                </a:solidFill>
                <a:latin typeface="Aptos"/>
              </a:rPr>
              <a:t>Démarche de modélisation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000" y="9234000"/>
            <a:ext cx="79200" cy="37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000" y="9676800"/>
            <a:ext cx="9743394" cy="1512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0222C"/>
                </a:solidFill>
                <a:latin typeface="Aptos"/>
              </a:rPr>
              <a:t>RoboDK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n'importe pas l'URDF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: son outil </a:t>
            </a:r>
            <a:r>
              <a:rPr sz="1600" b="0" i="1">
                <a:solidFill>
                  <a:srgbClr val="20222C"/>
                </a:solidFill>
                <a:latin typeface="Aptos"/>
              </a:rPr>
              <a:t>générateur de mécanismes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ne gère que des chaînes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série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(≤ 7 axes), or un corps humain est un </a:t>
            </a:r>
            <a:r>
              <a:rPr sz="1600" b="1" i="0">
                <a:solidFill>
                  <a:srgbClr val="E2001A"/>
                </a:solidFill>
                <a:latin typeface="Aptos"/>
              </a:rPr>
              <a:t>arbre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de 5 branches.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22C"/>
                </a:solidFill>
                <a:latin typeface="Aptos"/>
              </a:rPr>
              <a:t>Solution :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importer le 3D (STEP), le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découper</a:t>
            </a:r>
            <a:r>
              <a:rPr sz="1600" b="0" i="0">
                <a:solidFill>
                  <a:srgbClr val="20222C"/>
                </a:solidFill>
                <a:latin typeface="Aptos"/>
              </a:rPr>
              <a:t>, puis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reconstruire l'articulation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à la main avec des repères imbriqués (API Python).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8000" y="11242800"/>
            <a:ext cx="9743394" cy="403200"/>
          </a:xfrm>
          <a:prstGeom prst="roundRect">
            <a:avLst>
              <a:gd name="adj" fmla="val 12000"/>
            </a:avLst>
          </a:prstGeom>
          <a:solidFill>
            <a:srgbClr val="F1F3F8"/>
          </a:solidFill>
          <a:ln w="15875">
            <a:solidFill>
              <a:srgbClr val="2B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200" bIns="7200"/>
          <a:lstStyle/>
          <a:p>
            <a:pPr algn="ctr"/>
            <a:r>
              <a:rPr sz="1300" b="1" i="0">
                <a:solidFill>
                  <a:srgbClr val="2B2D44"/>
                </a:solidFill>
                <a:latin typeface="Aptos"/>
              </a:rPr>
              <a:t>Mannequin URDF</a:t>
            </a:r>
            <a:r>
              <a:rPr sz="1300" b="0" i="0">
                <a:solidFill>
                  <a:srgbClr val="20222C"/>
                </a:solidFill>
                <a:latin typeface="Aptos"/>
              </a:rPr>
              <a:t> — 22 DDL (réf. axes &amp; butées)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411697" y="11653200"/>
            <a:ext cx="216000" cy="140400"/>
          </a:xfrm>
          <a:prstGeom prst="downArrow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8000" y="11804400"/>
            <a:ext cx="9743394" cy="403200"/>
          </a:xfrm>
          <a:prstGeom prst="roundRect">
            <a:avLst>
              <a:gd name="adj" fmla="val 12000"/>
            </a:avLst>
          </a:prstGeom>
          <a:solidFill>
            <a:srgbClr val="F1F3F8"/>
          </a:solidFill>
          <a:ln w="15875">
            <a:solidFill>
              <a:srgbClr val="2B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200" bIns="7200"/>
          <a:lstStyle/>
          <a:p>
            <a:pPr algn="ctr"/>
            <a:r>
              <a:rPr sz="1300" b="1" i="0">
                <a:solidFill>
                  <a:srgbClr val="2B2D44"/>
                </a:solidFill>
                <a:latin typeface="Aptos"/>
              </a:rPr>
              <a:t>Modèle 3D</a:t>
            </a:r>
            <a:r>
              <a:rPr sz="1300" b="0" i="0">
                <a:solidFill>
                  <a:srgbClr val="20222C"/>
                </a:solidFill>
                <a:latin typeface="Aptos"/>
              </a:rPr>
              <a:t> — Manikin_1.STEP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411697" y="12214800"/>
            <a:ext cx="216000" cy="140400"/>
          </a:xfrm>
          <a:prstGeom prst="downArrow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8000" y="12366000"/>
            <a:ext cx="9743394" cy="403200"/>
          </a:xfrm>
          <a:prstGeom prst="roundRect">
            <a:avLst>
              <a:gd name="adj" fmla="val 12000"/>
            </a:avLst>
          </a:prstGeom>
          <a:solidFill>
            <a:srgbClr val="F1F3F8"/>
          </a:solidFill>
          <a:ln w="15875">
            <a:solidFill>
              <a:srgbClr val="2B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200" bIns="7200"/>
          <a:lstStyle/>
          <a:p>
            <a:pPr algn="ctr"/>
            <a:r>
              <a:rPr sz="1300" b="1" i="0">
                <a:solidFill>
                  <a:srgbClr val="2B2D44"/>
                </a:solidFill>
                <a:latin typeface="Aptos"/>
              </a:rPr>
              <a:t>Découpe en segments (Split)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5411697" y="12776400"/>
            <a:ext cx="216000" cy="140400"/>
          </a:xfrm>
          <a:prstGeom prst="downArrow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8000" y="12927600"/>
            <a:ext cx="9743394" cy="403200"/>
          </a:xfrm>
          <a:prstGeom prst="roundRect">
            <a:avLst>
              <a:gd name="adj" fmla="val 12000"/>
            </a:avLst>
          </a:prstGeom>
          <a:solidFill>
            <a:srgbClr val="F1F3F8"/>
          </a:solidFill>
          <a:ln w="15875">
            <a:solidFill>
              <a:srgbClr val="2B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200" bIns="7200"/>
          <a:lstStyle/>
          <a:p>
            <a:pPr algn="ctr"/>
            <a:r>
              <a:rPr sz="1300" b="1" i="0">
                <a:solidFill>
                  <a:srgbClr val="2B2D44"/>
                </a:solidFill>
                <a:latin typeface="Aptos"/>
              </a:rPr>
              <a:t>Rig 22 DDL</a:t>
            </a:r>
            <a:r>
              <a:rPr sz="1300" b="0" i="0">
                <a:solidFill>
                  <a:srgbClr val="20222C"/>
                </a:solidFill>
                <a:latin typeface="Aptos"/>
              </a:rPr>
              <a:t> — repères imbriqués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411697" y="13338000"/>
            <a:ext cx="216000" cy="140400"/>
          </a:xfrm>
          <a:prstGeom prst="downArrow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8000" y="13489200"/>
            <a:ext cx="9743394" cy="403200"/>
          </a:xfrm>
          <a:prstGeom prst="roundRect">
            <a:avLst>
              <a:gd name="adj" fmla="val 12000"/>
            </a:avLst>
          </a:prstGeom>
          <a:solidFill>
            <a:srgbClr val="F1F3F8"/>
          </a:solidFill>
          <a:ln w="15875">
            <a:solidFill>
              <a:srgbClr val="2B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200" bIns="7200"/>
          <a:lstStyle/>
          <a:p>
            <a:pPr algn="ctr"/>
            <a:r>
              <a:rPr sz="1300" b="1" i="0">
                <a:solidFill>
                  <a:srgbClr val="2B2D44"/>
                </a:solidFill>
                <a:latin typeface="Aptos"/>
              </a:rPr>
              <a:t>Génération du mouvement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5411697" y="13899600"/>
            <a:ext cx="216000" cy="140400"/>
          </a:xfrm>
          <a:prstGeom prst="downArrow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8000" y="14050800"/>
            <a:ext cx="9743394" cy="403200"/>
          </a:xfrm>
          <a:prstGeom prst="roundRect">
            <a:avLst>
              <a:gd name="adj" fmla="val 12000"/>
            </a:avLst>
          </a:prstGeom>
          <a:solidFill>
            <a:srgbClr val="F1F3F8"/>
          </a:solidFill>
          <a:ln w="15875">
            <a:solidFill>
              <a:srgbClr val="2B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200" bIns="7200"/>
          <a:lstStyle/>
          <a:p>
            <a:pPr algn="ctr"/>
            <a:r>
              <a:rPr sz="1300" b="1" i="0">
                <a:solidFill>
                  <a:srgbClr val="2B2D44"/>
                </a:solidFill>
                <a:latin typeface="Aptos"/>
              </a:rPr>
              <a:t>Marche sur trajectoire externe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8000" y="14634000"/>
            <a:ext cx="9743394" cy="378000"/>
          </a:xfrm>
          <a:prstGeom prst="roundRect">
            <a:avLst>
              <a:gd name="adj" fmla="val 12000"/>
            </a:avLst>
          </a:prstGeom>
          <a:solidFill>
            <a:srgbClr val="F1F3F8"/>
          </a:solidFill>
          <a:ln w="12700">
            <a:solidFill>
              <a:srgbClr val="C8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72000" tIns="7200" bIns="7200"/>
          <a:lstStyle/>
          <a:p>
            <a:pPr algn="ctr"/>
            <a:r>
              <a:rPr sz="1800" b="1">
                <a:solidFill>
                  <a:srgbClr val="2B2D44"/>
                </a:solidFill>
                <a:latin typeface="Aptos"/>
              </a:rPr>
              <a:t>Modèle cinématique — 22 DDL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8000" y="14634000"/>
            <a:ext cx="79200" cy="37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15076800"/>
            <a:ext cx="9743394" cy="1296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0222C"/>
                </a:solidFill>
                <a:latin typeface="Aptos"/>
              </a:rPr>
              <a:t>Le corps = </a:t>
            </a:r>
            <a:r>
              <a:rPr sz="1600" b="1" i="0">
                <a:solidFill>
                  <a:srgbClr val="E2001A"/>
                </a:solidFill>
                <a:latin typeface="Aptos"/>
              </a:rPr>
              <a:t>arbre de solides rigides</a:t>
            </a:r>
            <a:r>
              <a:rPr sz="1600" b="0" i="0">
                <a:solidFill>
                  <a:srgbClr val="20222C"/>
                </a:solidFill>
                <a:latin typeface="Aptos"/>
              </a:rPr>
              <a:t>. Principe :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1 repère = 1 degré de liberté</a:t>
            </a:r>
            <a:r>
              <a:rPr sz="1600" b="0" i="0">
                <a:solidFill>
                  <a:srgbClr val="20222C"/>
                </a:solidFill>
                <a:latin typeface="Aptos"/>
              </a:rPr>
              <a:t>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222C"/>
                </a:solidFill>
                <a:latin typeface="Aptos"/>
              </a:rPr>
              <a:t>Une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rotule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(épaule, hanche) =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3 repères imbriqués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· coude/genou/cheville =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pivot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(1) · poignet = 2 · tronc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encastré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(0).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8000" y="16426800"/>
            <a:ext cx="9743394" cy="558000"/>
          </a:xfrm>
          <a:prstGeom prst="roundRect">
            <a:avLst>
              <a:gd name="adj" fmla="val 10000"/>
            </a:avLst>
          </a:prstGeom>
          <a:solidFill>
            <a:srgbClr val="2B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2·(3+1+2) bras  +  2·(3+1+1) jambes  =  </a:t>
            </a:r>
            <a:r>
              <a:rPr sz="1900" b="1">
                <a:solidFill>
                  <a:srgbClr val="FFC43D"/>
                </a:solidFill>
                <a:latin typeface="Aptos"/>
              </a:rPr>
              <a:t>22 DDL</a:t>
            </a:r>
          </a:p>
        </p:txBody>
      </p:sp>
      <p:pic>
        <p:nvPicPr>
          <p:cNvPr id="40" name="Picture 39" descr="structure_arboresc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267" y="17092800"/>
            <a:ext cx="6838858" cy="4803370"/>
          </a:xfrm>
          <a:prstGeom prst="rect">
            <a:avLst/>
          </a:prstGeom>
          <a:ln w="9525">
            <a:solidFill>
              <a:srgbClr val="C8CCD6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648000" y="21914170"/>
            <a:ext cx="9743394" cy="324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 i="1">
                <a:solidFill>
                  <a:srgbClr val="5C5F6B"/>
                </a:solidFill>
                <a:latin typeface="Aptos"/>
              </a:rPr>
              <a:t>Arborescence du rig : repères (rouge, 1 DDL) · segments soudés (vert) — une rotule = 3 repères imbriqués (abduction · flexion · rotation)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895394" y="9234000"/>
            <a:ext cx="9743394" cy="378000"/>
          </a:xfrm>
          <a:prstGeom prst="roundRect">
            <a:avLst>
              <a:gd name="adj" fmla="val 12000"/>
            </a:avLst>
          </a:prstGeom>
          <a:solidFill>
            <a:srgbClr val="F1F3F8"/>
          </a:solidFill>
          <a:ln w="12700">
            <a:solidFill>
              <a:srgbClr val="C8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72000" tIns="7200" bIns="7200"/>
          <a:lstStyle/>
          <a:p>
            <a:pPr algn="ctr"/>
            <a:r>
              <a:rPr sz="1800" b="1">
                <a:solidFill>
                  <a:srgbClr val="2B2D44"/>
                </a:solidFill>
                <a:latin typeface="Aptos"/>
              </a:rPr>
              <a:t>Locomotion — membres inférieurs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95394" y="9234000"/>
            <a:ext cx="79200" cy="37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95394" y="9676800"/>
            <a:ext cx="9743394" cy="1728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0222C"/>
                </a:solidFill>
                <a:latin typeface="Aptos"/>
              </a:rPr>
              <a:t>Trois marches, de la plus stylisée à la plus libre 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001A"/>
                </a:solidFill>
                <a:latin typeface="Aptos"/>
              </a:rPr>
              <a:t>▸ 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Marche militaire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(sur place) — cycle sinusoïdal, jambe d'appui tendue, bras en opposition.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001A"/>
                </a:solidFill>
                <a:latin typeface="Aptos"/>
              </a:rPr>
              <a:t>▸ 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Marche avant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naturelle — </a:t>
            </a:r>
            <a:r>
              <a:rPr sz="1600" b="1" i="0">
                <a:solidFill>
                  <a:srgbClr val="E2001A"/>
                </a:solidFill>
                <a:latin typeface="Aptos"/>
              </a:rPr>
              <a:t>anti‑glissement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: le corps avance à la vitesse exacte des pas (L_pas ≈ 560 mm).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2001A"/>
                </a:solidFill>
                <a:latin typeface="Aptos"/>
              </a:rPr>
              <a:t>▸ 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Trajectoire externe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— points dans un fichier, interpolés par une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spline de Catmull‑Rom</a:t>
            </a:r>
            <a:r>
              <a:rPr sz="1600" b="0" i="0">
                <a:solidFill>
                  <a:srgbClr val="20222C"/>
                </a:solidFill>
                <a:latin typeface="Aptos"/>
              </a:rPr>
              <a:t>.</a:t>
            </a:r>
          </a:p>
        </p:txBody>
      </p:sp>
      <p:pic>
        <p:nvPicPr>
          <p:cNvPr id="45" name="Picture 44" descr="marche_ava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5732" y="11476800"/>
            <a:ext cx="2744828" cy="2015999"/>
          </a:xfrm>
          <a:prstGeom prst="rect">
            <a:avLst/>
          </a:prstGeom>
          <a:ln w="9525">
            <a:solidFill>
              <a:srgbClr val="C8CCD6"/>
            </a:solidFill>
          </a:ln>
        </p:spPr>
      </p:pic>
      <p:pic>
        <p:nvPicPr>
          <p:cNvPr id="46" name="Picture 45" descr="traj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7043" y="11476989"/>
            <a:ext cx="4521887" cy="2015621"/>
          </a:xfrm>
          <a:prstGeom prst="rect">
            <a:avLst/>
          </a:prstGeom>
          <a:ln w="9525">
            <a:solidFill>
              <a:srgbClr val="C8CCD6"/>
            </a:solidFill>
          </a:ln>
        </p:spPr>
      </p:pic>
      <p:sp>
        <p:nvSpPr>
          <p:cNvPr id="47" name="TextBox 46"/>
          <p:cNvSpPr txBox="1"/>
          <p:nvPr/>
        </p:nvSpPr>
        <p:spPr>
          <a:xfrm>
            <a:off x="10895394" y="13510800"/>
            <a:ext cx="9743394" cy="324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 i="1">
                <a:solidFill>
                  <a:srgbClr val="5C5F6B"/>
                </a:solidFill>
                <a:latin typeface="Aptos"/>
              </a:rPr>
              <a:t>Marche avant (profil) et marche sur trajectoire externe en S (vue de dessus)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895394" y="13960800"/>
            <a:ext cx="9743394" cy="378000"/>
          </a:xfrm>
          <a:prstGeom prst="roundRect">
            <a:avLst>
              <a:gd name="adj" fmla="val 12000"/>
            </a:avLst>
          </a:prstGeom>
          <a:solidFill>
            <a:srgbClr val="F1F3F8"/>
          </a:solidFill>
          <a:ln w="12700">
            <a:solidFill>
              <a:srgbClr val="C8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72000" tIns="7200" bIns="7200"/>
          <a:lstStyle/>
          <a:p>
            <a:pPr algn="ctr"/>
            <a:r>
              <a:rPr sz="1800" b="1">
                <a:solidFill>
                  <a:srgbClr val="2B2D44"/>
                </a:solidFill>
                <a:latin typeface="Aptos"/>
              </a:rPr>
              <a:t>Manipulation — tâche du bras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895394" y="13960800"/>
            <a:ext cx="79200" cy="37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95394" y="14403600"/>
            <a:ext cx="9743394" cy="1188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22C"/>
                </a:solidFill>
                <a:latin typeface="Aptos"/>
              </a:rPr>
              <a:t>Pick &amp; place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d'un cube avec le bras gauche (6 DDL), corps fixe. Atteindre la pièce (position + orientation) = </a:t>
            </a:r>
            <a:r>
              <a:rPr sz="1600" b="1" i="0">
                <a:solidFill>
                  <a:srgbClr val="20222C"/>
                </a:solidFill>
                <a:latin typeface="Aptos"/>
              </a:rPr>
              <a:t>cinématique inverse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à 6 contraintes, résolue par </a:t>
            </a:r>
            <a:r>
              <a:rPr sz="1600" b="1" i="0">
                <a:solidFill>
                  <a:srgbClr val="E2001A"/>
                </a:solidFill>
                <a:latin typeface="Aptos"/>
              </a:rPr>
              <a:t>moindres carrés amortis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: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895394" y="15634800"/>
            <a:ext cx="9743394" cy="522000"/>
          </a:xfrm>
          <a:prstGeom prst="roundRect">
            <a:avLst>
              <a:gd name="adj" fmla="val 10000"/>
            </a:avLst>
          </a:prstGeom>
          <a:solidFill>
            <a:srgbClr val="2B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Δq  =  Jᵀ ( J Jᵀ + λ² I )⁻¹ 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95394" y="16192799"/>
            <a:ext cx="9743394" cy="468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2001A"/>
                </a:solidFill>
                <a:latin typeface="Aptos"/>
              </a:rPr>
              <a:t>coude toujours en arrière</a:t>
            </a:r>
            <a:r>
              <a:rPr sz="1400" b="0" i="0">
                <a:solidFill>
                  <a:srgbClr val="20222C"/>
                </a:solidFill>
                <a:latin typeface="Aptos"/>
              </a:rPr>
              <a:t> (geste humain) · trajectoire </a:t>
            </a:r>
            <a:r>
              <a:rPr sz="1400" b="1" i="0">
                <a:solidFill>
                  <a:srgbClr val="20222C"/>
                </a:solidFill>
                <a:latin typeface="Aptos"/>
              </a:rPr>
              <a:t>précalculée</a:t>
            </a:r>
            <a:r>
              <a:rPr sz="1400" b="0" i="0">
                <a:solidFill>
                  <a:srgbClr val="20222C"/>
                </a:solidFill>
                <a:latin typeface="Aptos"/>
              </a:rPr>
              <a:t> ≈ 7 s · </a:t>
            </a:r>
            <a:r>
              <a:rPr sz="1400" b="1" i="0">
                <a:solidFill>
                  <a:srgbClr val="20222C"/>
                </a:solidFill>
                <a:latin typeface="Aptos"/>
              </a:rPr>
              <a:t>position de la pièce externalisée</a:t>
            </a:r>
          </a:p>
        </p:txBody>
      </p:sp>
      <p:pic>
        <p:nvPicPr>
          <p:cNvPr id="53" name="Picture 52" descr="bras_se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5394" y="16732999"/>
            <a:ext cx="4763697" cy="2123407"/>
          </a:xfrm>
          <a:prstGeom prst="rect">
            <a:avLst/>
          </a:prstGeom>
          <a:ln w="9525">
            <a:solidFill>
              <a:srgbClr val="C8CCD6"/>
            </a:solidFill>
          </a:ln>
        </p:spPr>
      </p:pic>
      <p:sp>
        <p:nvSpPr>
          <p:cNvPr id="54" name="TextBox 53"/>
          <p:cNvSpPr txBox="1"/>
          <p:nvPr/>
        </p:nvSpPr>
        <p:spPr>
          <a:xfrm>
            <a:off x="10895394" y="18863806"/>
            <a:ext cx="4763697" cy="198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ctr"/>
            <a:r>
              <a:rPr sz="1300" b="1" i="0">
                <a:solidFill>
                  <a:srgbClr val="2B2D44"/>
                </a:solidFill>
                <a:latin typeface="Aptos"/>
              </a:rPr>
              <a:t>Approche</a:t>
            </a:r>
          </a:p>
        </p:txBody>
      </p:sp>
      <p:pic>
        <p:nvPicPr>
          <p:cNvPr id="55" name="Picture 54" descr="bras_seq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91" y="16732999"/>
            <a:ext cx="4763697" cy="2123407"/>
          </a:xfrm>
          <a:prstGeom prst="rect">
            <a:avLst/>
          </a:prstGeom>
          <a:ln w="9525">
            <a:solidFill>
              <a:srgbClr val="C8CCD6"/>
            </a:solidFill>
          </a:ln>
        </p:spPr>
      </p:pic>
      <p:sp>
        <p:nvSpPr>
          <p:cNvPr id="56" name="TextBox 55"/>
          <p:cNvSpPr txBox="1"/>
          <p:nvPr/>
        </p:nvSpPr>
        <p:spPr>
          <a:xfrm>
            <a:off x="15875091" y="18863806"/>
            <a:ext cx="4763697" cy="198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ctr"/>
            <a:r>
              <a:rPr sz="1300" b="1" i="0">
                <a:solidFill>
                  <a:srgbClr val="2B2D44"/>
                </a:solidFill>
                <a:latin typeface="Aptos"/>
              </a:rPr>
              <a:t>Saisie</a:t>
            </a:r>
          </a:p>
        </p:txBody>
      </p:sp>
      <p:pic>
        <p:nvPicPr>
          <p:cNvPr id="57" name="Picture 56" descr="bras_seq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5394" y="19144805"/>
            <a:ext cx="4763697" cy="2123407"/>
          </a:xfrm>
          <a:prstGeom prst="rect">
            <a:avLst/>
          </a:prstGeom>
          <a:ln w="9525">
            <a:solidFill>
              <a:srgbClr val="C8CCD6"/>
            </a:solidFill>
          </a:ln>
        </p:spPr>
      </p:pic>
      <p:sp>
        <p:nvSpPr>
          <p:cNvPr id="58" name="TextBox 57"/>
          <p:cNvSpPr txBox="1"/>
          <p:nvPr/>
        </p:nvSpPr>
        <p:spPr>
          <a:xfrm>
            <a:off x="10895394" y="21275612"/>
            <a:ext cx="4763697" cy="198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ctr"/>
            <a:r>
              <a:rPr sz="1300" b="1" i="0">
                <a:solidFill>
                  <a:srgbClr val="2B2D44"/>
                </a:solidFill>
                <a:latin typeface="Aptos"/>
              </a:rPr>
              <a:t>Transit</a:t>
            </a:r>
          </a:p>
        </p:txBody>
      </p:sp>
      <p:pic>
        <p:nvPicPr>
          <p:cNvPr id="59" name="Picture 58" descr="bras_seq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75091" y="19144805"/>
            <a:ext cx="4763697" cy="2123407"/>
          </a:xfrm>
          <a:prstGeom prst="rect">
            <a:avLst/>
          </a:prstGeom>
          <a:ln w="9525">
            <a:solidFill>
              <a:srgbClr val="C8CCD6"/>
            </a:solidFill>
          </a:ln>
        </p:spPr>
      </p:pic>
      <p:sp>
        <p:nvSpPr>
          <p:cNvPr id="60" name="TextBox 59"/>
          <p:cNvSpPr txBox="1"/>
          <p:nvPr/>
        </p:nvSpPr>
        <p:spPr>
          <a:xfrm>
            <a:off x="15875091" y="21275612"/>
            <a:ext cx="4763697" cy="198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ctr"/>
            <a:r>
              <a:rPr sz="1300" b="1" i="0">
                <a:solidFill>
                  <a:srgbClr val="2B2D44"/>
                </a:solidFill>
                <a:latin typeface="Aptos"/>
              </a:rPr>
              <a:t>Dépose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8000" y="22418170"/>
            <a:ext cx="19990788" cy="576000"/>
          </a:xfrm>
          <a:prstGeom prst="rect">
            <a:avLst/>
          </a:prstGeom>
          <a:solidFill>
            <a:srgbClr val="2B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72000" tIns="7200" bIns="7200"/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3 · Tests &amp; résultats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8000" y="22418170"/>
            <a:ext cx="125999" cy="576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648000" y="23120170"/>
          <a:ext cx="9743393" cy="264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040904"/>
                <a:gridCol w="3702489"/>
              </a:tblGrid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ptos"/>
                        </a:rPr>
                        <a:t>Point technique</a:t>
                      </a:r>
                    </a:p>
                  </a:txBody>
                  <a:tcPr marL="64800" marR="36000" marT="21600" marB="21600" anchor="ctr">
                    <a:solidFill>
                      <a:srgbClr val="2B2D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ptos"/>
                        </a:rPr>
                        <a:t>Statut</a:t>
                      </a:r>
                    </a:p>
                  </a:txBody>
                  <a:tcPr marL="64800" marR="36000" marT="21600" marB="21600" anchor="ctr">
                    <a:solidFill>
                      <a:srgbClr val="2B2D44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 i="0">
                          <a:solidFill>
                            <a:srgbClr val="20222C"/>
                          </a:solidFill>
                          <a:latin typeface="Aptos"/>
                        </a:rPr>
                        <a:t>Persistance du .rdk (« éclaté »)</a:t>
                      </a:r>
                      <a:r>
                        <a:rPr sz="1250" b="0" i="0">
                          <a:solidFill>
                            <a:srgbClr val="20222C"/>
                          </a:solidFill>
                          <a:latin typeface="Aptos"/>
                        </a:rPr>
                        <a:t>  — ré-attachement ≈ 2 s, embarqué</a:t>
                      </a:r>
                    </a:p>
                  </a:txBody>
                  <a:tcPr marL="64800" marR="36000" marT="21600" marB="21600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 i="0">
                          <a:solidFill>
                            <a:srgbClr val="E2001A"/>
                          </a:solidFill>
                          <a:latin typeface="Aptos"/>
                        </a:rPr>
                        <a:t>✔ Résolu</a:t>
                      </a:r>
                    </a:p>
                  </a:txBody>
                  <a:tcPr marL="64800" marR="36000" marT="21600" marB="21600" anchor="ctr">
                    <a:solidFill>
                      <a:srgbClr val="F4F5F9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 i="0">
                          <a:solidFill>
                            <a:srgbClr val="20222C"/>
                          </a:solidFill>
                          <a:latin typeface="Aptos"/>
                        </a:rPr>
                        <a:t>Branche d'IK (genou / coude)</a:t>
                      </a:r>
                      <a:r>
                        <a:rPr sz="1250" b="0" i="0">
                          <a:solidFill>
                            <a:srgbClr val="20222C"/>
                          </a:solidFill>
                          <a:latin typeface="Aptos"/>
                        </a:rPr>
                        <a:t>  — posture anatomique imposée</a:t>
                      </a:r>
                    </a:p>
                  </a:txBody>
                  <a:tcPr marL="648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 i="0">
                          <a:solidFill>
                            <a:srgbClr val="E2001A"/>
                          </a:solidFill>
                          <a:latin typeface="Aptos"/>
                        </a:rPr>
                        <a:t>✔ Résolu</a:t>
                      </a:r>
                    </a:p>
                  </a:txBody>
                  <a:tcPr marL="64800" marR="36000" marT="21600" marB="216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 i="0">
                          <a:solidFill>
                            <a:srgbClr val="20222C"/>
                          </a:solidFill>
                          <a:latin typeface="Aptos"/>
                        </a:rPr>
                        <a:t>Non‑collision (tâche bras)</a:t>
                      </a:r>
                      <a:r>
                        <a:rPr sz="1250" b="0" i="0">
                          <a:solidFill>
                            <a:srgbClr val="20222C"/>
                          </a:solidFill>
                          <a:latin typeface="Aptos"/>
                        </a:rPr>
                        <a:t>  — 0 collision maillage</a:t>
                      </a:r>
                    </a:p>
                  </a:txBody>
                  <a:tcPr marL="64800" marR="36000" marT="21600" marB="21600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 i="0">
                          <a:solidFill>
                            <a:srgbClr val="E2001A"/>
                          </a:solidFill>
                          <a:latin typeface="Aptos"/>
                        </a:rPr>
                        <a:t>✔ Résolu</a:t>
                      </a:r>
                    </a:p>
                  </a:txBody>
                  <a:tcPr marL="64800" marR="36000" marT="21600" marB="21600" anchor="ctr">
                    <a:solidFill>
                      <a:srgbClr val="F4F5F9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 i="0">
                          <a:solidFill>
                            <a:srgbClr val="20222C"/>
                          </a:solidFill>
                          <a:latin typeface="Aptos"/>
                        </a:rPr>
                        <a:t>Position de pièce externalisée</a:t>
                      </a:r>
                      <a:r>
                        <a:rPr sz="1250" b="0" i="0">
                          <a:solidFill>
                            <a:srgbClr val="20222C"/>
                          </a:solidFill>
                          <a:latin typeface="Aptos"/>
                        </a:rPr>
                        <a:t>  — paramètre séparé, testé en direct</a:t>
                      </a:r>
                    </a:p>
                  </a:txBody>
                  <a:tcPr marL="648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 i="0">
                          <a:solidFill>
                            <a:srgbClr val="E2001A"/>
                          </a:solidFill>
                          <a:latin typeface="Aptos"/>
                        </a:rPr>
                        <a:t>✔ Résolu</a:t>
                      </a:r>
                    </a:p>
                  </a:txBody>
                  <a:tcPr marL="64800" marR="36000" marT="21600" marB="216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 i="0">
                          <a:solidFill>
                            <a:srgbClr val="20222C"/>
                          </a:solidFill>
                          <a:latin typeface="Aptos"/>
                        </a:rPr>
                        <a:t>DDL de poignet (pronation)</a:t>
                      </a:r>
                      <a:r>
                        <a:rPr sz="1250" b="0" i="0">
                          <a:solidFill>
                            <a:srgbClr val="20222C"/>
                          </a:solidFill>
                          <a:latin typeface="Aptos"/>
                        </a:rPr>
                        <a:t>  — à ajouter / documenter</a:t>
                      </a:r>
                    </a:p>
                  </a:txBody>
                  <a:tcPr marL="64800" marR="36000" marT="21600" marB="21600" anchor="ctr">
                    <a:solidFill>
                      <a:srgbClr val="F4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 i="0">
                          <a:solidFill>
                            <a:srgbClr val="E97132"/>
                          </a:solidFill>
                          <a:latin typeface="Aptos"/>
                        </a:rPr>
                        <a:t>◐ Perspective</a:t>
                      </a:r>
                    </a:p>
                  </a:txBody>
                  <a:tcPr marL="64800" marR="36000" marT="21600" marB="21600" anchor="ctr">
                    <a:solidFill>
                      <a:srgbClr val="F4F5F9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 i="0">
                          <a:solidFill>
                            <a:srgbClr val="20222C"/>
                          </a:solidFill>
                          <a:latin typeface="Aptos"/>
                        </a:rPr>
                        <a:t>Intégration ligne ALIX</a:t>
                      </a:r>
                      <a:r>
                        <a:rPr sz="1250" b="0" i="0">
                          <a:solidFill>
                            <a:srgbClr val="20222C"/>
                          </a:solidFill>
                          <a:latin typeface="Aptos"/>
                        </a:rPr>
                        <a:t>  — recentrer le human frame</a:t>
                      </a:r>
                    </a:p>
                  </a:txBody>
                  <a:tcPr marL="648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 i="0">
                          <a:solidFill>
                            <a:srgbClr val="E97132"/>
                          </a:solidFill>
                          <a:latin typeface="Aptos"/>
                        </a:rPr>
                        <a:t>◐ Perspective</a:t>
                      </a:r>
                    </a:p>
                  </a:txBody>
                  <a:tcPr marL="64800" marR="36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10895394" y="23120170"/>
            <a:ext cx="9743394" cy="378000"/>
          </a:xfrm>
          <a:prstGeom prst="roundRect">
            <a:avLst>
              <a:gd name="adj" fmla="val 12000"/>
            </a:avLst>
          </a:prstGeom>
          <a:solidFill>
            <a:srgbClr val="F1F3F8"/>
          </a:solidFill>
          <a:ln w="12700">
            <a:solidFill>
              <a:srgbClr val="C8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72000" tIns="7200" bIns="7200"/>
          <a:lstStyle/>
          <a:p>
            <a:pPr algn="ctr"/>
            <a:r>
              <a:rPr sz="1800" b="1">
                <a:solidFill>
                  <a:srgbClr val="2B2D44"/>
                </a:solidFill>
                <a:latin typeface="Aptos"/>
              </a:rPr>
              <a:t>Bilan &amp; perspectives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95394" y="23120170"/>
            <a:ext cx="79200" cy="37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95394" y="23570170"/>
            <a:ext cx="9743394" cy="2214000"/>
          </a:xfrm>
          <a:prstGeom prst="rect">
            <a:avLst/>
          </a:prstGeom>
          <a:noFill/>
        </p:spPr>
        <p:txBody>
          <a:bodyPr wrap="square" lIns="18000" rIns="18000" tIns="7200" bIns="720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20222C"/>
                </a:solidFill>
                <a:latin typeface="Aptos"/>
              </a:rPr>
              <a:t>Le </a:t>
            </a:r>
            <a:r>
              <a:rPr sz="1600" b="1" i="0">
                <a:solidFill>
                  <a:srgbClr val="E2001A"/>
                </a:solidFill>
                <a:latin typeface="Aptos"/>
              </a:rPr>
              <a:t>pont est construit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: un opérateur humain articulé vit dans RoboDK, là où le logiciel n'offrait aucun modèle pilotable.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0222C"/>
                </a:solidFill>
                <a:latin typeface="Aptos"/>
              </a:rPr>
              <a:t>Acquis :</a:t>
            </a:r>
            <a:r>
              <a:rPr sz="1600" b="0" i="0">
                <a:solidFill>
                  <a:srgbClr val="20222C"/>
                </a:solidFill>
                <a:latin typeface="Aptos"/>
              </a:rPr>
              <a:t> modèle 22 DDL · 3 marches (dont trajectoire externe) · pick &amp; place par IK validé sans collision · station reproductible.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2D44"/>
                </a:solidFill>
                <a:latin typeface="Aptos"/>
              </a:rPr>
              <a:t>Perspectives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001A"/>
                </a:solidFill>
                <a:latin typeface="Aptos"/>
              </a:rPr>
              <a:t>▸  </a:t>
            </a:r>
            <a:r>
              <a:rPr sz="1600" b="0" i="0">
                <a:solidFill>
                  <a:srgbClr val="20222C"/>
                </a:solidFill>
                <a:latin typeface="Aptos"/>
              </a:rPr>
              <a:t>Ajouter un DDL de poignet (pronation de l'avant‑bras)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001A"/>
                </a:solidFill>
                <a:latin typeface="Aptos"/>
              </a:rPr>
              <a:t>▸  </a:t>
            </a:r>
            <a:r>
              <a:rPr sz="1600" b="0" i="0">
                <a:solidFill>
                  <a:srgbClr val="20222C"/>
                </a:solidFill>
                <a:latin typeface="Aptos"/>
              </a:rPr>
              <a:t>Intégrer l'opérateur dans la cellule ALIX + test sur robot réel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001A"/>
                </a:solidFill>
                <a:latin typeface="Aptos"/>
              </a:rPr>
              <a:t>▸  </a:t>
            </a:r>
            <a:r>
              <a:rPr sz="1600" b="0" i="0">
                <a:solidFill>
                  <a:srgbClr val="20222C"/>
                </a:solidFill>
                <a:latin typeface="Aptos"/>
              </a:rPr>
              <a:t>Mettre en scène les scénarios d'interaction (sécurité / ergonomie)</a:t>
            </a:r>
          </a:p>
        </p:txBody>
      </p:sp>
    </p:spTree>
    <p:extLst>
      <p:ext uri="{BB962C8B-B14F-4D97-AF65-F5344CB8AC3E}">
        <p14:creationId xmlns:p14="http://schemas.microsoft.com/office/powerpoint/2010/main" val="28331067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DDE441F2C904A860550E5AF71C8FD" ma:contentTypeVersion="17" ma:contentTypeDescription="Create a new document." ma:contentTypeScope="" ma:versionID="0fadda9081c81042fe5b6fc2613ad16f">
  <xsd:schema xmlns:xsd="http://www.w3.org/2001/XMLSchema" xmlns:xs="http://www.w3.org/2001/XMLSchema" xmlns:p="http://schemas.microsoft.com/office/2006/metadata/properties" xmlns:ns3="b861d8ea-fba9-4f7c-a07d-8e49e51a40c5" xmlns:ns4="0b9b44ba-c4fd-4001-bba0-b81615ce797d" targetNamespace="http://schemas.microsoft.com/office/2006/metadata/properties" ma:root="true" ma:fieldsID="0ccf2d63f0bf6c5ca1228a979f9c2cb0" ns3:_="" ns4:_="">
    <xsd:import namespace="b861d8ea-fba9-4f7c-a07d-8e49e51a40c5"/>
    <xsd:import namespace="0b9b44ba-c4fd-4001-bba0-b81615ce797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MediaServiceSearchProperties" minOccurs="0"/>
                <xsd:element ref="ns4:MediaServiceObjectDetectorVersions" minOccurs="0"/>
                <xsd:element ref="ns4:_activity" minOccurs="0"/>
                <xsd:element ref="ns4:MediaServiceSystem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1d8ea-fba9-4f7c-a07d-8e49e51a40c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9b44ba-c4fd-4001-bba0-b81615ce79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b9b44ba-c4fd-4001-bba0-b81615ce797d" xsi:nil="true"/>
  </documentManagement>
</p:properties>
</file>

<file path=customXml/itemProps1.xml><?xml version="1.0" encoding="utf-8"?>
<ds:datastoreItem xmlns:ds="http://schemas.openxmlformats.org/officeDocument/2006/customXml" ds:itemID="{89E3D98E-D96E-47A9-AA7D-B94616FB89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0EE22A-BE47-4A5D-8ED2-FD100614108C}">
  <ds:schemaRefs>
    <ds:schemaRef ds:uri="0b9b44ba-c4fd-4001-bba0-b81615ce797d"/>
    <ds:schemaRef ds:uri="b861d8ea-fba9-4f7c-a07d-8e49e51a40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EFB60AD-2428-4ACE-84FC-08C267161390}">
  <ds:schemaRefs>
    <ds:schemaRef ds:uri="0b9b44ba-c4fd-4001-bba0-b81615ce797d"/>
    <ds:schemaRef ds:uri="b861d8ea-fba9-4f7c-a07d-8e49e51a40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</Words>
  <Application>Microsoft Office PowerPoint</Application>
  <PresentationFormat>Personalizzato</PresentationFormat>
  <Paragraphs>3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 Bahnschrift Bold</vt:lpstr>
      <vt:lpstr>Aptos</vt:lpstr>
      <vt:lpstr>Aptos Display</vt:lpstr>
      <vt:lpstr>Arial</vt:lpstr>
      <vt:lpstr>Thème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CIAMPI Francesco</dc:creator>
  <cp:lastModifiedBy>CIAMPI Francesco</cp:lastModifiedBy>
  <cp:revision>3</cp:revision>
  <dcterms:created xsi:type="dcterms:W3CDTF">2026-06-05T09:09:43Z</dcterms:created>
  <dcterms:modified xsi:type="dcterms:W3CDTF">2026-06-18T13:59:49Z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0x010100186DDE441F2C904A860550E5AF71C8FD</vt:lpwstr>
  </property>
</Properties>
</file>